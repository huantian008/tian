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7"/>
  </p:handoutMasterIdLst>
  <p:sldIdLst>
    <p:sldId id="323" r:id="rId3"/>
    <p:sldId id="361" r:id="rId5"/>
    <p:sldId id="363" r:id="rId6"/>
    <p:sldId id="331" r:id="rId7"/>
    <p:sldId id="504" r:id="rId8"/>
    <p:sldId id="564" r:id="rId9"/>
    <p:sldId id="520" r:id="rId10"/>
    <p:sldId id="565" r:id="rId11"/>
    <p:sldId id="566" r:id="rId12"/>
    <p:sldId id="559" r:id="rId13"/>
    <p:sldId id="523" r:id="rId14"/>
    <p:sldId id="568" r:id="rId15"/>
    <p:sldId id="524" r:id="rId16"/>
    <p:sldId id="561" r:id="rId17"/>
    <p:sldId id="526" r:id="rId18"/>
    <p:sldId id="534" r:id="rId19"/>
    <p:sldId id="535" r:id="rId20"/>
    <p:sldId id="533" r:id="rId21"/>
    <p:sldId id="556" r:id="rId22"/>
    <p:sldId id="610" r:id="rId23"/>
    <p:sldId id="536" r:id="rId24"/>
    <p:sldId id="611" r:id="rId25"/>
    <p:sldId id="537" r:id="rId26"/>
    <p:sldId id="538" r:id="rId27"/>
    <p:sldId id="637" r:id="rId28"/>
    <p:sldId id="638" r:id="rId29"/>
    <p:sldId id="539" r:id="rId30"/>
    <p:sldId id="641" r:id="rId31"/>
    <p:sldId id="562" r:id="rId32"/>
    <p:sldId id="540" r:id="rId33"/>
    <p:sldId id="558" r:id="rId34"/>
    <p:sldId id="543" r:id="rId35"/>
    <p:sldId id="643" r:id="rId36"/>
    <p:sldId id="563" r:id="rId37"/>
    <p:sldId id="547" r:id="rId38"/>
    <p:sldId id="660" r:id="rId39"/>
    <p:sldId id="645" r:id="rId40"/>
    <p:sldId id="551" r:id="rId41"/>
    <p:sldId id="554" r:id="rId42"/>
    <p:sldId id="661" r:id="rId43"/>
    <p:sldId id="555" r:id="rId44"/>
    <p:sldId id="646" r:id="rId45"/>
    <p:sldId id="306" r:id="rId46"/>
  </p:sldIdLst>
  <p:sldSz cx="12192000" cy="6858000"/>
  <p:notesSz cx="6858000" cy="9144000"/>
  <p:custDataLst>
    <p:tags r:id="rId51"/>
  </p:custDataLst>
  <p:defaultTextStyle>
    <a:defPPr>
      <a:defRPr lang="zh-CN"/>
    </a:defPPr>
    <a:lvl1pPr algn="l"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6pPr>
    <a:lvl7pPr marL="27432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7pPr>
    <a:lvl8pPr marL="32004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8pPr>
    <a:lvl9pPr marL="3657600" algn="l" defTabSz="914400" rtl="0" eaLnBrk="1" latinLnBrk="0" hangingPunct="1">
      <a:defRPr kern="1200">
        <a:solidFill>
          <a:schemeClr val="tx1"/>
        </a:solidFill>
        <a:latin typeface="微软雅黑" panose="020B0503020204020204" pitchFamily="34" charset="-122"/>
        <a:ea typeface="微软雅黑" panose="020B0503020204020204" pitchFamily="34" charset="-122"/>
        <a:cs typeface="+mn-cs"/>
      </a:defRPr>
    </a:lvl9pPr>
  </p:defaultTextStyle>
  <p:extLst>
    <p:ext uri="{EFAFB233-063F-42B5-8137-9DF3F51BA10A}">
      <p15:sldGuideLst xmlns:p15="http://schemas.microsoft.com/office/powerpoint/2012/main">
        <p15:guide id="1" orient="horz" pos="2278" userDrawn="1">
          <p15:clr>
            <a:srgbClr val="A4A3A4"/>
          </p15:clr>
        </p15:guide>
        <p15:guide id="2" pos="37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03864"/>
    <a:srgbClr val="8497B0"/>
    <a:srgbClr val="0277BD"/>
    <a:srgbClr val="FFC209"/>
    <a:srgbClr val="1F557C"/>
    <a:srgbClr val="333F50"/>
    <a:srgbClr val="84ADC6"/>
    <a:srgbClr val="3A43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4660"/>
  </p:normalViewPr>
  <p:slideViewPr>
    <p:cSldViewPr snapToGrid="0" showGuides="1">
      <p:cViewPr varScale="1">
        <p:scale>
          <a:sx n="85" d="100"/>
          <a:sy n="85" d="100"/>
        </p:scale>
        <p:origin x="547" y="77"/>
      </p:cViewPr>
      <p:guideLst>
        <p:guide orient="horz" pos="2278"/>
        <p:guide pos="3769"/>
      </p:guideLst>
    </p:cSldViewPr>
  </p:slideViewPr>
  <p:notesTextViewPr>
    <p:cViewPr>
      <p:scale>
        <a:sx n="3" d="2"/>
        <a:sy n="3" d="2"/>
      </p:scale>
      <p:origin x="0" y="0"/>
    </p:cViewPr>
  </p:notesTextViewPr>
  <p:sorterViewPr>
    <p:cViewPr>
      <p:scale>
        <a:sx n="139" d="100"/>
        <a:sy n="139" d="100"/>
      </p:scale>
      <p:origin x="0" y="0"/>
    </p:cViewPr>
  </p:sorterViewPr>
  <p:notesViewPr>
    <p:cSldViewPr snapToGrid="0">
      <p:cViewPr varScale="1">
        <p:scale>
          <a:sx n="52" d="100"/>
          <a:sy n="52" d="100"/>
        </p:scale>
        <p:origin x="2946"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132.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纤黑体" panose="02000000000000000000" charset="-122"/>
                <a:ea typeface="纤黑体" panose="02000000000000000000"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纤黑体" panose="02000000000000000000" charset="-122"/>
                <a:ea typeface="纤黑体" panose="02000000000000000000" charset="-122"/>
              </a:defRPr>
            </a:lvl1pPr>
          </a:lstStyle>
          <a:p>
            <a:pPr>
              <a:defRPr/>
            </a:pPr>
            <a:fld id="{98E5A178-D284-41B5-AF4C-39F57A0730D7}" type="datetimeFigureOut">
              <a:rPr lang="zh-CN" altLang="en-US"/>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dirty="0"/>
              <a:t>单击此处编辑母版文本样式</a:t>
            </a:r>
            <a:endParaRPr lang="zh-CN" altLang="en-US" noProof="0" dirty="0"/>
          </a:p>
          <a:p>
            <a:pPr lvl="1"/>
            <a:r>
              <a:rPr lang="zh-CN" altLang="en-US" noProof="0" dirty="0"/>
              <a:t>二级</a:t>
            </a:r>
            <a:endParaRPr lang="zh-CN" altLang="en-US" noProof="0" dirty="0"/>
          </a:p>
          <a:p>
            <a:pPr lvl="2"/>
            <a:r>
              <a:rPr lang="zh-CN" altLang="en-US" noProof="0" dirty="0"/>
              <a:t>三级</a:t>
            </a:r>
            <a:endParaRPr lang="zh-CN" altLang="en-US" noProof="0" dirty="0"/>
          </a:p>
          <a:p>
            <a:pPr lvl="3"/>
            <a:r>
              <a:rPr lang="zh-CN" altLang="en-US" noProof="0" dirty="0"/>
              <a:t>四级</a:t>
            </a:r>
            <a:endParaRPr lang="zh-CN" altLang="en-US" noProof="0" dirty="0"/>
          </a:p>
          <a:p>
            <a:pPr lvl="4"/>
            <a:r>
              <a:rPr lang="zh-CN" altLang="en-US" noProof="0" dirty="0"/>
              <a:t>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纤黑体" panose="02000000000000000000" charset="-122"/>
                <a:ea typeface="纤黑体" panose="02000000000000000000"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纤黑体" panose="02000000000000000000" charset="-122"/>
                <a:ea typeface="纤黑体" panose="02000000000000000000" charset="-122"/>
              </a:defRPr>
            </a:lvl1pPr>
          </a:lstStyle>
          <a:p>
            <a:pPr>
              <a:defRPr/>
            </a:pPr>
            <a:fld id="{414A881C-D7A9-403D-980C-8213466A0D1D}" type="slidenum">
              <a:rPr lang="zh-CN" altLang="en-US"/>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纤黑体" panose="02000000000000000000" charset="-122"/>
        <a:ea typeface="纤黑体" panose="02000000000000000000" charset="-122"/>
        <a:cs typeface="纤黑体" panose="02000000000000000000" charset="-122"/>
      </a:defRPr>
    </a:lvl1pPr>
    <a:lvl2pPr marL="457200" algn="l" rtl="0" eaLnBrk="0" fontAlgn="base" hangingPunct="0">
      <a:spcBef>
        <a:spcPct val="30000"/>
      </a:spcBef>
      <a:spcAft>
        <a:spcPct val="0"/>
      </a:spcAft>
      <a:defRPr sz="1200" kern="1200">
        <a:solidFill>
          <a:schemeClr val="tx1"/>
        </a:solidFill>
        <a:latin typeface="纤黑体" panose="02000000000000000000" charset="-122"/>
        <a:ea typeface="纤黑体" panose="02000000000000000000" charset="-122"/>
        <a:cs typeface="纤黑体" panose="02000000000000000000" charset="-122"/>
      </a:defRPr>
    </a:lvl2pPr>
    <a:lvl3pPr marL="914400" algn="l" rtl="0" eaLnBrk="0" fontAlgn="base" hangingPunct="0">
      <a:spcBef>
        <a:spcPct val="30000"/>
      </a:spcBef>
      <a:spcAft>
        <a:spcPct val="0"/>
      </a:spcAft>
      <a:defRPr sz="1200" kern="1200">
        <a:solidFill>
          <a:schemeClr val="tx1"/>
        </a:solidFill>
        <a:latin typeface="纤黑体" panose="02000000000000000000" charset="-122"/>
        <a:ea typeface="纤黑体" panose="02000000000000000000" charset="-122"/>
        <a:cs typeface="纤黑体" panose="02000000000000000000" charset="-122"/>
      </a:defRPr>
    </a:lvl3pPr>
    <a:lvl4pPr marL="1371600" algn="l" rtl="0" eaLnBrk="0" fontAlgn="base" hangingPunct="0">
      <a:spcBef>
        <a:spcPct val="30000"/>
      </a:spcBef>
      <a:spcAft>
        <a:spcPct val="0"/>
      </a:spcAft>
      <a:defRPr sz="1200" kern="1200">
        <a:solidFill>
          <a:schemeClr val="tx1"/>
        </a:solidFill>
        <a:latin typeface="纤黑体" panose="02000000000000000000" charset="-122"/>
        <a:ea typeface="纤黑体" panose="02000000000000000000" charset="-122"/>
        <a:cs typeface="纤黑体" panose="02000000000000000000" charset="-122"/>
      </a:defRPr>
    </a:lvl4pPr>
    <a:lvl5pPr marL="1828800" algn="l" rtl="0" eaLnBrk="0" fontAlgn="base" hangingPunct="0">
      <a:spcBef>
        <a:spcPct val="30000"/>
      </a:spcBef>
      <a:spcAft>
        <a:spcPct val="0"/>
      </a:spcAft>
      <a:defRPr sz="1200" kern="1200">
        <a:solidFill>
          <a:schemeClr val="tx1"/>
        </a:solidFill>
        <a:latin typeface="纤黑体" panose="02000000000000000000" charset="-122"/>
        <a:ea typeface="纤黑体" panose="02000000000000000000" charset="-122"/>
        <a:cs typeface="纤黑体" panose="020000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1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348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63C7348F-8801-404C-8C14-273DB25883E7}"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512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F7926C50-E179-419A-9207-28BE23A10CB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512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F7926C50-E179-419A-9207-28BE23A10CB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512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F7926C50-E179-419A-9207-28BE23A10CB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512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F7926C50-E179-419A-9207-28BE23A10CB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512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F7926C50-E179-419A-9207-28BE23A10CB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430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8924A0EE-22AD-4D06-BC23-E97A99E64449}"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782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latin typeface="思源黑体 CN Light"/>
              <a:ea typeface="思源黑体 CN Light"/>
            </a:endParaRPr>
          </a:p>
        </p:txBody>
      </p:sp>
      <p:sp>
        <p:nvSpPr>
          <p:cNvPr id="778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fontAlgn="base">
              <a:spcBef>
                <a:spcPct val="0"/>
              </a:spcBef>
              <a:spcAft>
                <a:spcPct val="0"/>
              </a:spcAft>
            </a:pPr>
            <a:fld id="{6D688BEC-9DFA-450A-9F9E-7BEE8B4DA795}" type="slidenum">
              <a:rPr lang="zh-CN" altLang="en-US" smtClean="0">
                <a:latin typeface="思源黑体 CN Light"/>
                <a:ea typeface="思源黑体 CN Light"/>
                <a:cs typeface="思源黑体 CN Light"/>
              </a:rPr>
            </a:fld>
            <a:endParaRPr lang="zh-CN" altLang="en-US">
              <a:latin typeface="思源黑体 CN Light"/>
              <a:ea typeface="思源黑体 CN Light"/>
              <a:cs typeface="思源黑体 CN 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62470965-4116-4EB5-BBCA-B6B42E257A0D}" type="datetimeFigureOut">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2D17B86-6F62-4EE0-8B8B-4B966319EA7E}" type="slidenum">
              <a:rPr lang="zh-CN" altLang="en-US"/>
            </a:fld>
            <a:endParaRPr lang="zh-CN" altLang="en-US" dirty="0"/>
          </a:p>
        </p:txBody>
      </p:sp>
    </p:spTree>
  </p:cSld>
  <p:clrMapOvr>
    <a:masterClrMapping/>
  </p:clrMapOvr>
  <p:transition spd="slow" advTm="500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F9596F3-CD31-4AE6-892E-71C234280413}" type="datetimeFigureOut">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871F784-1626-4644-B5BD-3950BBC0CC31}" type="slidenum">
              <a:rPr lang="zh-CN" altLang="en-US"/>
            </a:fld>
            <a:endParaRPr lang="zh-CN" altLang="en-US" dirty="0"/>
          </a:p>
        </p:txBody>
      </p:sp>
    </p:spTree>
  </p:cSld>
  <p:clrMapOvr>
    <a:masterClrMapping/>
  </p:clrMapOvr>
  <p:transition spd="slow" advTm="500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9D0B403F-9231-4A1F-BAAD-761AF074ABA6}" type="datetimeFigureOut">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8E122BA-546D-488E-AC52-CA25391B1848}" type="slidenum">
              <a:rPr lang="zh-CN" altLang="en-US"/>
            </a:fld>
            <a:endParaRPr lang="zh-CN" altLang="en-US" dirty="0"/>
          </a:p>
        </p:txBody>
      </p:sp>
    </p:spTree>
  </p:cSld>
  <p:clrMapOvr>
    <a:masterClrMapping/>
  </p:clrMapOvr>
  <p:transition spd="slow" advTm="500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9EDEE285-741D-441C-B535-4A6FA2823DC1}" type="datetimeFigureOut">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2A40001-793C-433C-A672-C17F99D3CB02}" type="slidenum">
              <a:rPr lang="zh-CN" altLang="en-US"/>
            </a:fld>
            <a:endParaRPr lang="zh-CN" altLang="en-US" dirty="0"/>
          </a:p>
        </p:txBody>
      </p:sp>
    </p:spTree>
  </p:cSld>
  <p:clrMapOvr>
    <a:masterClrMapping/>
  </p:clrMapOvr>
  <p:transition spd="slow" advTm="500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6"/>
          <p:cNvSpPr>
            <a:spLocks noChangeArrowheads="1"/>
          </p:cNvSpPr>
          <p:nvPr userDrawn="1"/>
        </p:nvSpPr>
        <p:spPr bwMode="auto">
          <a:xfrm>
            <a:off x="8782050" y="6430963"/>
            <a:ext cx="966788" cy="231775"/>
          </a:xfrm>
          <a:prstGeom prst="rect">
            <a:avLst/>
          </a:prstGeom>
          <a:noFill/>
          <a:ln>
            <a:noFill/>
          </a:ln>
        </p:spPr>
        <p:txBody>
          <a:bodyPr>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fontAlgn="base">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eaLnBrk="1" hangingPunct="1">
              <a:defRPr/>
            </a:pP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模板下载：</a:t>
            </a:r>
            <a:r>
              <a:rPr lang="en-US" altLang="zh-CN" sz="100">
                <a:solidFill>
                  <a:srgbClr val="FFFFFF"/>
                </a:solidFill>
                <a:latin typeface="Calibri" panose="020F0502020204030204" pitchFamily="34" charset="0"/>
                <a:ea typeface="宋体" panose="02010600030101010101" pitchFamily="2" charset="-122"/>
              </a:rPr>
              <a:t>www.1ppt.com/moban/          </a:t>
            </a:r>
            <a:r>
              <a:rPr lang="zh-CN" altLang="en-US" sz="100">
                <a:solidFill>
                  <a:srgbClr val="FFFFFF"/>
                </a:solidFill>
                <a:latin typeface="Calibri" panose="020F0502020204030204" pitchFamily="34" charset="0"/>
                <a:ea typeface="宋体" panose="02010600030101010101" pitchFamily="2" charset="-122"/>
              </a:rPr>
              <a:t>行业</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模板：</a:t>
            </a:r>
            <a:r>
              <a:rPr lang="en-US" altLang="zh-CN" sz="100">
                <a:solidFill>
                  <a:srgbClr val="FFFFFF"/>
                </a:solidFill>
                <a:latin typeface="Calibri" panose="020F0502020204030204" pitchFamily="34" charset="0"/>
                <a:ea typeface="宋体" panose="02010600030101010101" pitchFamily="2" charset="-122"/>
              </a:rPr>
              <a:t>www.1ppt.com/hangye/ </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zh-CN" altLang="en-US" sz="100">
                <a:solidFill>
                  <a:srgbClr val="FFFFFF"/>
                </a:solidFill>
                <a:latin typeface="Calibri" panose="020F0502020204030204" pitchFamily="34" charset="0"/>
                <a:ea typeface="宋体" panose="02010600030101010101" pitchFamily="2" charset="-122"/>
              </a:rPr>
              <a:t>节日</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模板：</a:t>
            </a:r>
            <a:r>
              <a:rPr lang="en-US" altLang="zh-CN" sz="100">
                <a:solidFill>
                  <a:srgbClr val="FFFFFF"/>
                </a:solidFill>
                <a:latin typeface="Calibri" panose="020F0502020204030204" pitchFamily="34" charset="0"/>
                <a:ea typeface="宋体" panose="02010600030101010101" pitchFamily="2" charset="-122"/>
              </a:rPr>
              <a:t>www.1ppt.com/jieri/          PPT</a:t>
            </a:r>
            <a:r>
              <a:rPr lang="zh-CN" altLang="en-US" sz="100">
                <a:solidFill>
                  <a:srgbClr val="FFFFFF"/>
                </a:solidFill>
                <a:latin typeface="Calibri" panose="020F0502020204030204" pitchFamily="34" charset="0"/>
                <a:ea typeface="宋体" panose="02010600030101010101" pitchFamily="2" charset="-122"/>
              </a:rPr>
              <a:t>素材：</a:t>
            </a:r>
            <a:r>
              <a:rPr lang="en-US" altLang="zh-CN" sz="100">
                <a:solidFill>
                  <a:srgbClr val="FFFFFF"/>
                </a:solidFill>
                <a:latin typeface="Calibri" panose="020F0502020204030204" pitchFamily="34" charset="0"/>
                <a:ea typeface="宋体" panose="02010600030101010101" pitchFamily="2" charset="-122"/>
              </a:rPr>
              <a:t>www.1ppt.com/sucai/</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背景图片：</a:t>
            </a:r>
            <a:r>
              <a:rPr lang="en-US" altLang="zh-CN" sz="100">
                <a:solidFill>
                  <a:srgbClr val="FFFFFF"/>
                </a:solidFill>
                <a:latin typeface="Calibri" panose="020F0502020204030204" pitchFamily="34" charset="0"/>
                <a:ea typeface="宋体" panose="02010600030101010101" pitchFamily="2" charset="-122"/>
              </a:rPr>
              <a:t>www.1ppt.com/beijing/        PPT</a:t>
            </a:r>
            <a:r>
              <a:rPr lang="zh-CN" altLang="en-US" sz="100">
                <a:solidFill>
                  <a:srgbClr val="FFFFFF"/>
                </a:solidFill>
                <a:latin typeface="Calibri" panose="020F0502020204030204" pitchFamily="34" charset="0"/>
                <a:ea typeface="宋体" panose="02010600030101010101" pitchFamily="2" charset="-122"/>
              </a:rPr>
              <a:t>图表：</a:t>
            </a:r>
            <a:r>
              <a:rPr lang="en-US" altLang="zh-CN" sz="100">
                <a:solidFill>
                  <a:srgbClr val="FFFFFF"/>
                </a:solidFill>
                <a:latin typeface="Calibri" panose="020F0502020204030204" pitchFamily="34" charset="0"/>
                <a:ea typeface="宋体" panose="02010600030101010101" pitchFamily="2" charset="-122"/>
              </a:rPr>
              <a:t>www.1ppt.com/tubiao/      </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zh-CN" altLang="en-US" sz="100">
                <a:solidFill>
                  <a:srgbClr val="FFFFFF"/>
                </a:solidFill>
                <a:latin typeface="Calibri" panose="020F0502020204030204" pitchFamily="34" charset="0"/>
                <a:ea typeface="宋体" panose="02010600030101010101" pitchFamily="2" charset="-122"/>
              </a:rPr>
              <a:t>精美</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下载：</a:t>
            </a:r>
            <a:r>
              <a:rPr lang="en-US" altLang="zh-CN" sz="100">
                <a:solidFill>
                  <a:srgbClr val="FFFFFF"/>
                </a:solidFill>
                <a:latin typeface="Calibri" panose="020F0502020204030204" pitchFamily="34" charset="0"/>
                <a:ea typeface="宋体" panose="02010600030101010101" pitchFamily="2" charset="-122"/>
              </a:rPr>
              <a:t>www.1ppt.com/xiazai/         PPT</a:t>
            </a:r>
            <a:r>
              <a:rPr lang="zh-CN" altLang="en-US" sz="100">
                <a:solidFill>
                  <a:srgbClr val="FFFFFF"/>
                </a:solidFill>
                <a:latin typeface="Calibri" panose="020F0502020204030204" pitchFamily="34" charset="0"/>
                <a:ea typeface="宋体" panose="02010600030101010101" pitchFamily="2" charset="-122"/>
              </a:rPr>
              <a:t>教程： </a:t>
            </a:r>
            <a:r>
              <a:rPr lang="en-US" altLang="zh-CN" sz="100">
                <a:solidFill>
                  <a:srgbClr val="FFFFFF"/>
                </a:solidFill>
                <a:latin typeface="Calibri" panose="020F0502020204030204" pitchFamily="34" charset="0"/>
                <a:ea typeface="宋体" panose="02010600030101010101" pitchFamily="2" charset="-122"/>
              </a:rPr>
              <a:t>www.1ppt.com/powerpoint/      </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课件：</a:t>
            </a:r>
            <a:r>
              <a:rPr lang="en-US" altLang="zh-CN" sz="100">
                <a:solidFill>
                  <a:srgbClr val="FFFFFF"/>
                </a:solidFill>
                <a:latin typeface="Calibri" panose="020F0502020204030204" pitchFamily="34" charset="0"/>
                <a:ea typeface="宋体" panose="02010600030101010101" pitchFamily="2" charset="-122"/>
              </a:rPr>
              <a:t>www.1ppt.com/kejian/             </a:t>
            </a:r>
            <a:r>
              <a:rPr lang="zh-CN" altLang="en-US" sz="100">
                <a:solidFill>
                  <a:srgbClr val="FFFFFF"/>
                </a:solidFill>
                <a:latin typeface="Calibri" panose="020F0502020204030204" pitchFamily="34" charset="0"/>
                <a:ea typeface="宋体" panose="02010600030101010101" pitchFamily="2" charset="-122"/>
              </a:rPr>
              <a:t>字体下载：</a:t>
            </a:r>
            <a:r>
              <a:rPr lang="en-US" altLang="zh-CN" sz="100">
                <a:solidFill>
                  <a:srgbClr val="FFFFFF"/>
                </a:solidFill>
                <a:latin typeface="Calibri" panose="020F0502020204030204" pitchFamily="34" charset="0"/>
                <a:ea typeface="宋体" panose="02010600030101010101" pitchFamily="2" charset="-122"/>
              </a:rPr>
              <a:t>www.1ppt.com/ziti/</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zh-CN" altLang="en-US" sz="100">
                <a:solidFill>
                  <a:srgbClr val="FFFFFF"/>
                </a:solidFill>
                <a:latin typeface="Calibri" panose="020F0502020204030204" pitchFamily="34" charset="0"/>
                <a:ea typeface="宋体" panose="02010600030101010101" pitchFamily="2" charset="-122"/>
              </a:rPr>
              <a:t>工作总结</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a:t>
            </a:r>
            <a:r>
              <a:rPr lang="en-US" altLang="zh-CN" sz="100">
                <a:solidFill>
                  <a:srgbClr val="FFFFFF"/>
                </a:solidFill>
                <a:latin typeface="Calibri" panose="020F0502020204030204" pitchFamily="34" charset="0"/>
                <a:ea typeface="宋体" panose="02010600030101010101" pitchFamily="2" charset="-122"/>
              </a:rPr>
              <a:t>www.1ppt.com/xiazai/zongjie/ </a:t>
            </a:r>
            <a:r>
              <a:rPr lang="zh-CN" altLang="en-US" sz="100">
                <a:solidFill>
                  <a:srgbClr val="FFFFFF"/>
                </a:solidFill>
                <a:latin typeface="Calibri" panose="020F0502020204030204" pitchFamily="34" charset="0"/>
                <a:ea typeface="宋体" panose="02010600030101010101" pitchFamily="2" charset="-122"/>
              </a:rPr>
              <a:t>工作计划：</a:t>
            </a:r>
            <a:r>
              <a:rPr lang="en-US" altLang="zh-CN" sz="100">
                <a:solidFill>
                  <a:srgbClr val="FFFFFF"/>
                </a:solidFill>
                <a:latin typeface="Calibri" panose="020F0502020204030204" pitchFamily="34" charset="0"/>
                <a:ea typeface="宋体" panose="02010600030101010101" pitchFamily="2" charset="-122"/>
              </a:rPr>
              <a:t>www.1ppt.com/xiazai/jihua/</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zh-CN" altLang="en-US" sz="100">
                <a:solidFill>
                  <a:srgbClr val="FFFFFF"/>
                </a:solidFill>
                <a:latin typeface="Calibri" panose="020F0502020204030204" pitchFamily="34" charset="0"/>
                <a:ea typeface="宋体" panose="02010600030101010101" pitchFamily="2" charset="-122"/>
              </a:rPr>
              <a:t>商务</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模板：</a:t>
            </a:r>
            <a:r>
              <a:rPr lang="en-US" altLang="zh-CN" sz="100">
                <a:solidFill>
                  <a:srgbClr val="FFFFFF"/>
                </a:solidFill>
                <a:latin typeface="Calibri" panose="020F0502020204030204" pitchFamily="34" charset="0"/>
                <a:ea typeface="宋体" panose="02010600030101010101" pitchFamily="2" charset="-122"/>
              </a:rPr>
              <a:t>www.1ppt.com/moban/shangwu/  </a:t>
            </a:r>
            <a:r>
              <a:rPr lang="zh-CN" altLang="en-US" sz="100">
                <a:solidFill>
                  <a:srgbClr val="FFFFFF"/>
                </a:solidFill>
                <a:latin typeface="Calibri" panose="020F0502020204030204" pitchFamily="34" charset="0"/>
                <a:ea typeface="宋体" panose="02010600030101010101" pitchFamily="2" charset="-122"/>
              </a:rPr>
              <a:t>个人简历</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a:t>
            </a:r>
            <a:r>
              <a:rPr lang="en-US" altLang="zh-CN" sz="100">
                <a:solidFill>
                  <a:srgbClr val="FFFFFF"/>
                </a:solidFill>
                <a:latin typeface="Calibri" panose="020F0502020204030204" pitchFamily="34" charset="0"/>
                <a:ea typeface="宋体" panose="02010600030101010101" pitchFamily="2" charset="-122"/>
              </a:rPr>
              <a:t>www.1ppt.com/xiazai/jianli/  </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zh-CN" altLang="en-US" sz="100">
                <a:solidFill>
                  <a:srgbClr val="FFFFFF"/>
                </a:solidFill>
                <a:latin typeface="Calibri" panose="020F0502020204030204" pitchFamily="34" charset="0"/>
                <a:ea typeface="宋体" panose="02010600030101010101" pitchFamily="2" charset="-122"/>
              </a:rPr>
              <a:t>毕业答辩</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a:t>
            </a:r>
            <a:r>
              <a:rPr lang="en-US" altLang="zh-CN" sz="100">
                <a:solidFill>
                  <a:srgbClr val="FFFFFF"/>
                </a:solidFill>
                <a:latin typeface="Calibri" panose="020F0502020204030204" pitchFamily="34" charset="0"/>
                <a:ea typeface="宋体" panose="02010600030101010101" pitchFamily="2" charset="-122"/>
              </a:rPr>
              <a:t>www.1ppt.com/xiazai/dabian/  </a:t>
            </a:r>
            <a:r>
              <a:rPr lang="zh-CN" altLang="en-US" sz="100">
                <a:solidFill>
                  <a:srgbClr val="FFFFFF"/>
                </a:solidFill>
                <a:latin typeface="Calibri" panose="020F0502020204030204" pitchFamily="34" charset="0"/>
                <a:ea typeface="宋体" panose="02010600030101010101" pitchFamily="2" charset="-122"/>
              </a:rPr>
              <a:t>工作汇报</a:t>
            </a:r>
            <a:r>
              <a:rPr lang="en-US" altLang="zh-CN" sz="100">
                <a:solidFill>
                  <a:srgbClr val="FFFFFF"/>
                </a:solidFill>
                <a:latin typeface="Calibri" panose="020F0502020204030204" pitchFamily="34" charset="0"/>
                <a:ea typeface="宋体" panose="02010600030101010101" pitchFamily="2" charset="-122"/>
              </a:rPr>
              <a:t>PPT</a:t>
            </a:r>
            <a:r>
              <a:rPr lang="zh-CN" altLang="en-US" sz="100">
                <a:solidFill>
                  <a:srgbClr val="FFFFFF"/>
                </a:solidFill>
                <a:latin typeface="Calibri" panose="020F0502020204030204" pitchFamily="34" charset="0"/>
                <a:ea typeface="宋体" panose="02010600030101010101" pitchFamily="2" charset="-122"/>
              </a:rPr>
              <a:t>：</a:t>
            </a:r>
            <a:r>
              <a:rPr lang="en-US" altLang="zh-CN" sz="100">
                <a:solidFill>
                  <a:srgbClr val="FFFFFF"/>
                </a:solidFill>
                <a:latin typeface="Calibri" panose="020F0502020204030204" pitchFamily="34" charset="0"/>
                <a:ea typeface="宋体" panose="02010600030101010101" pitchFamily="2" charset="-122"/>
              </a:rPr>
              <a:t>www.1ppt.com/xiazai/huibao/    </a:t>
            </a:r>
            <a:endParaRPr lang="en-US" altLang="zh-CN" sz="100">
              <a:solidFill>
                <a:srgbClr val="FFFFFF"/>
              </a:solidFill>
              <a:latin typeface="Calibri" panose="020F0502020204030204" pitchFamily="34" charset="0"/>
              <a:ea typeface="宋体" panose="02010600030101010101" pitchFamily="2" charset="-122"/>
            </a:endParaRPr>
          </a:p>
          <a:p>
            <a:pPr eaLnBrk="1" hangingPunct="1">
              <a:defRPr/>
            </a:pPr>
            <a:r>
              <a:rPr lang="en-US" altLang="zh-CN" sz="100">
                <a:solidFill>
                  <a:srgbClr val="FFFFFF"/>
                </a:solidFill>
                <a:latin typeface="Calibri" panose="020F0502020204030204" pitchFamily="34" charset="0"/>
                <a:ea typeface="宋体" panose="02010600030101010101" pitchFamily="2" charset="-122"/>
              </a:rPr>
              <a:t> </a:t>
            </a:r>
            <a:endParaRPr lang="en-US" altLang="zh-CN" sz="100">
              <a:solidFill>
                <a:srgbClr val="FFFFFF"/>
              </a:solidFill>
              <a:latin typeface="Calibri" panose="020F0502020204030204" pitchFamily="34" charset="0"/>
              <a:ea typeface="宋体" panose="02010600030101010101" pitchFamily="2" charset="-122"/>
            </a:endParaRPr>
          </a:p>
        </p:txBody>
      </p:sp>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8" name="日期占位符 6"/>
          <p:cNvSpPr>
            <a:spLocks noGrp="1"/>
          </p:cNvSpPr>
          <p:nvPr>
            <p:ph type="dt" sz="half" idx="10"/>
          </p:nvPr>
        </p:nvSpPr>
        <p:spPr/>
        <p:txBody>
          <a:bodyPr/>
          <a:lstStyle>
            <a:lvl1pPr>
              <a:defRPr/>
            </a:lvl1pPr>
          </a:lstStyle>
          <a:p>
            <a:pPr>
              <a:defRPr/>
            </a:pPr>
            <a:fld id="{2AEBC742-F01D-4C4C-B546-F5AACF4618BC}" type="datetimeFigureOut">
              <a:rPr lang="zh-CN" altLang="en-US"/>
            </a:fld>
            <a:endParaRPr lang="zh-CN" altLang="en-US"/>
          </a:p>
        </p:txBody>
      </p:sp>
      <p:sp>
        <p:nvSpPr>
          <p:cNvPr id="9" name="页脚占位符 7"/>
          <p:cNvSpPr>
            <a:spLocks noGrp="1"/>
          </p:cNvSpPr>
          <p:nvPr>
            <p:ph type="ftr" sz="quarter" idx="11"/>
          </p:nvPr>
        </p:nvSpPr>
        <p:spPr/>
        <p:txBody>
          <a:bodyPr/>
          <a:lstStyle>
            <a:lvl1pPr>
              <a:defRPr/>
            </a:lvl1pPr>
          </a:lstStyle>
          <a:p>
            <a:pPr>
              <a:defRPr/>
            </a:pPr>
            <a:endParaRPr lang="zh-CN" altLang="en-US"/>
          </a:p>
        </p:txBody>
      </p:sp>
      <p:sp>
        <p:nvSpPr>
          <p:cNvPr id="10" name="灯片编号占位符 8"/>
          <p:cNvSpPr>
            <a:spLocks noGrp="1"/>
          </p:cNvSpPr>
          <p:nvPr>
            <p:ph type="sldNum" sz="quarter" idx="12"/>
          </p:nvPr>
        </p:nvSpPr>
        <p:spPr/>
        <p:txBody>
          <a:bodyPr/>
          <a:lstStyle>
            <a:lvl1pPr>
              <a:defRPr/>
            </a:lvl1pPr>
          </a:lstStyle>
          <a:p>
            <a:pPr>
              <a:defRPr/>
            </a:pPr>
            <a:fld id="{6974D2F9-29FD-4A15-B3CE-5FA224E4178B}" type="slidenum">
              <a:rPr lang="zh-CN" altLang="en-US"/>
            </a:fld>
            <a:endParaRPr lang="zh-CN" altLang="en-US"/>
          </a:p>
        </p:txBody>
      </p:sp>
    </p:spTree>
  </p:cSld>
  <p:clrMapOvr>
    <a:masterClrMapping/>
  </p:clrMapOvr>
  <p:transition spd="slow" advTm="500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2A5C97C7-6FA3-4E11-8538-E2BDF0A3B17D}" type="datetimeFigureOut">
              <a:rPr lang="zh-CN" altLang="en-US"/>
            </a:fld>
            <a:endParaRPr lang="zh-CN" altLang="en-US" dirty="0"/>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7F5C8B8-B477-4811-8C45-A7D3498998F3}" type="slidenum">
              <a:rPr lang="zh-CN" altLang="en-US"/>
            </a:fld>
            <a:endParaRPr lang="zh-CN" altLang="en-US" dirty="0"/>
          </a:p>
        </p:txBody>
      </p:sp>
    </p:spTree>
  </p:cSld>
  <p:clrMapOvr>
    <a:masterClrMapping/>
  </p:clrMapOvr>
  <p:transition spd="slow" advTm="500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6E3D945-6FF9-4A3A-BEDF-DBF0656B2D80}" type="datetimeFigureOut">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68C0949-C99C-43C1-AF8D-BC9BBD3C43DE}" type="slidenum">
              <a:rPr lang="zh-CN" altLang="en-US"/>
            </a:fld>
            <a:endParaRPr lang="zh-CN" altLang="en-US" dirty="0"/>
          </a:p>
        </p:txBody>
      </p:sp>
    </p:spTree>
  </p:cSld>
  <p:clrMapOvr>
    <a:masterClrMapping/>
  </p:clrMapOvr>
  <p:transition spd="slow" advTm="500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1B2AF92C-1A25-4C05-941F-4813D7D5FF0D}" type="datetimeFigureOut">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42455C4-7989-4081-8B90-EA9F60878572}" type="slidenum">
              <a:rPr lang="zh-CN" altLang="en-US"/>
            </a:fld>
            <a:endParaRPr lang="zh-CN" altLang="en-US" dirty="0"/>
          </a:p>
        </p:txBody>
      </p:sp>
    </p:spTree>
  </p:cSld>
  <p:clrMapOvr>
    <a:masterClrMapping/>
  </p:clrMapOvr>
  <p:transition spd="slow" advTm="500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4943AC13-A380-45B0-B039-6127700818F1}" type="datetimeFigureOut">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1127C1C-CF4A-4158-9937-59F3AD863F16}" type="slidenum">
              <a:rPr lang="zh-CN" altLang="en-US"/>
            </a:fld>
            <a:endParaRPr lang="zh-CN" altLang="en-US" dirty="0"/>
          </a:p>
        </p:txBody>
      </p:sp>
    </p:spTree>
  </p:cSld>
  <p:clrMapOvr>
    <a:masterClrMapping/>
  </p:clrMapOvr>
  <p:transition spd="slow" advTm="500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FB6DB4B-A1F4-4BBC-95F5-1FE51A2719AF}" type="datetimeFigureOut">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B1C4CEC-A1F3-4922-9052-7EFB072D43E8}" type="slidenum">
              <a:rPr lang="zh-CN" altLang="en-US"/>
            </a:fld>
            <a:endParaRPr lang="zh-CN" altLang="en-US" dirty="0"/>
          </a:p>
        </p:txBody>
      </p:sp>
    </p:spTree>
  </p:cSld>
  <p:clrMapOvr>
    <a:masterClrMapping/>
  </p:clrMapOvr>
  <p:transition spd="slow" advTm="500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0CE39EC-8B3B-4624-8BAF-9685769E9B28}" type="datetimeFigureOut">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E552545-6FE8-47E7-A2DB-4A98324AE2CA}" type="slidenum">
              <a:rPr lang="zh-CN" altLang="en-US"/>
            </a:fld>
            <a:endParaRPr lang="zh-CN" altLang="en-US" dirty="0"/>
          </a:p>
        </p:txBody>
      </p:sp>
    </p:spTree>
  </p:cSld>
  <p:clrMapOvr>
    <a:masterClrMapping/>
  </p:clrMapOvr>
  <p:transition spd="slow" advTm="500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办公资源网: www.bangongziyuan.com">
    <p:spTree>
      <p:nvGrpSpPr>
        <p:cNvPr id="1" name=""/>
        <p:cNvGrpSpPr/>
        <p:nvPr/>
      </p:nvGrpSpPr>
      <p:grpSpPr>
        <a:xfrm>
          <a:off x="0" y="0"/>
          <a:ext cx="0" cy="0"/>
          <a:chOff x="0" y="0"/>
          <a:chExt cx="0" cy="0"/>
        </a:xfrm>
      </p:grpSpPr>
    </p:spTree>
  </p:cSld>
  <p:clrMapOvr>
    <a:masterClrMapping/>
  </p:clrMapOvr>
  <p:transition spd="slow" advTm="500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transition spd="slow" advTm="500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tags" Target="../tags/tag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纤黑体" panose="02000000000000000000" charset="-122"/>
                <a:ea typeface="纤黑体" panose="02000000000000000000" charset="-122"/>
              </a:defRPr>
            </a:lvl1pPr>
          </a:lstStyle>
          <a:p>
            <a:pPr>
              <a:defRPr/>
            </a:pPr>
            <a:fld id="{02BD8C30-CB56-408D-9341-3ED20603F9D6}" type="datetimeFigureOut">
              <a:rPr lang="zh-CN" altLang="en-US"/>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纤黑体" panose="02000000000000000000" charset="-122"/>
                <a:ea typeface="纤黑体" panose="02000000000000000000" charset="-122"/>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纤黑体" panose="02000000000000000000" charset="-122"/>
                <a:ea typeface="纤黑体" panose="02000000000000000000" charset="-122"/>
              </a:defRPr>
            </a:lvl1pPr>
          </a:lstStyle>
          <a:p>
            <a:pPr>
              <a:defRPr/>
            </a:pPr>
            <a:fld id="{F33909A7-B70E-451A-826A-7AE7A0EC351C}" type="slidenum">
              <a:rPr lang="zh-CN" altLang="en-US"/>
            </a:fld>
            <a:endParaRPr lang="zh-CN" altLang="en-US" dirty="0"/>
          </a:p>
        </p:txBody>
      </p:sp>
      <p:pic>
        <p:nvPicPr>
          <p:cNvPr id="3" name="图片 2" descr="江西科技学院信息工程学院-01"/>
          <p:cNvPicPr>
            <a:picLocks noChangeAspect="1"/>
          </p:cNvPicPr>
          <p:nvPr userDrawn="1">
            <p:custDataLst>
              <p:tags r:id="rId14"/>
            </p:custDataLst>
          </p:nvPr>
        </p:nvPicPr>
        <p:blipFill>
          <a:blip r:embed="rId15"/>
          <a:stretch>
            <a:fillRect/>
          </a:stretch>
        </p:blipFill>
        <p:spPr>
          <a:xfrm>
            <a:off x="10607040" y="-160020"/>
            <a:ext cx="1727835" cy="172656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Tm="500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纤黑体" panose="02000000000000000000" charset="-122"/>
          <a:ea typeface="纤黑体" panose="02000000000000000000" charset="-122"/>
          <a:cs typeface="纤黑体" panose="02000000000000000000"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纤黑体" panose="02000000000000000000" charset="-122"/>
          <a:ea typeface="纤黑体" panose="02000000000000000000" charset="-122"/>
          <a:cs typeface="纤黑体" panose="02000000000000000000"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纤黑体" panose="02000000000000000000" charset="-122"/>
          <a:ea typeface="纤黑体" panose="02000000000000000000" charset="-122"/>
          <a:cs typeface="纤黑体" panose="02000000000000000000"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纤黑体" panose="02000000000000000000" charset="-122"/>
          <a:ea typeface="纤黑体" panose="02000000000000000000" charset="-122"/>
          <a:cs typeface="纤黑体" panose="02000000000000000000"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纤黑体" panose="02000000000000000000" charset="-122"/>
          <a:ea typeface="纤黑体" panose="02000000000000000000" charset="-122"/>
          <a:cs typeface="纤黑体" panose="020000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3.png"/><Relationship Id="rId3" Type="http://schemas.openxmlformats.org/officeDocument/2006/relationships/tags" Target="../tags/tag3.xml"/><Relationship Id="rId2" Type="http://schemas.openxmlformats.org/officeDocument/2006/relationships/image" Target="../media/image2.jpeg"/><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png"/><Relationship Id="rId3" Type="http://schemas.openxmlformats.org/officeDocument/2006/relationships/tags" Target="../tags/tag7.xml"/><Relationship Id="rId2" Type="http://schemas.openxmlformats.org/officeDocument/2006/relationships/image" Target="../media/image4.png"/><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png"/><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4.png"/><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tags" Target="../tags/tag1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14.xml"/><Relationship Id="rId2" Type="http://schemas.openxmlformats.org/officeDocument/2006/relationships/image" Target="../media/image6.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15.xml"/><Relationship Id="rId2" Type="http://schemas.openxmlformats.org/officeDocument/2006/relationships/image" Target="../media/image7.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16.xml"/><Relationship Id="rId2" Type="http://schemas.openxmlformats.org/officeDocument/2006/relationships/image" Target="../media/image4.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17.xml"/><Relationship Id="rId2" Type="http://schemas.openxmlformats.org/officeDocument/2006/relationships/image" Target="../media/image4.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18.xml"/><Relationship Id="rId2" Type="http://schemas.openxmlformats.org/officeDocument/2006/relationships/image" Target="../media/image10.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11.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24.xml"/><Relationship Id="rId7" Type="http://schemas.openxmlformats.org/officeDocument/2006/relationships/image" Target="../media/image14.png"/><Relationship Id="rId6" Type="http://schemas.openxmlformats.org/officeDocument/2006/relationships/tags" Target="../tags/tag23.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22.xml"/><Relationship Id="rId2" Type="http://schemas.openxmlformats.org/officeDocument/2006/relationships/tags" Target="../tags/tag21.xml"/><Relationship Id="rId14" Type="http://schemas.openxmlformats.org/officeDocument/2006/relationships/notesSlide" Target="../notesSlides/notesSlide13.xml"/><Relationship Id="rId13" Type="http://schemas.openxmlformats.org/officeDocument/2006/relationships/slideLayout" Target="../slideLayouts/slideLayout12.xml"/><Relationship Id="rId12" Type="http://schemas.openxmlformats.org/officeDocument/2006/relationships/tags" Target="../tags/tag26.xml"/><Relationship Id="rId11" Type="http://schemas.openxmlformats.org/officeDocument/2006/relationships/image" Target="../media/image16.png"/><Relationship Id="rId10" Type="http://schemas.openxmlformats.org/officeDocument/2006/relationships/tags" Target="../tags/tag25.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tags" Target="../tags/tag29.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28.xml"/><Relationship Id="rId2" Type="http://schemas.openxmlformats.org/officeDocument/2006/relationships/tags" Target="../tags/tag27.xml"/><Relationship Id="rId10" Type="http://schemas.openxmlformats.org/officeDocument/2006/relationships/notesSlide" Target="../notesSlides/notesSlide14.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image" Target="../media/image19.png"/><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31.xml"/><Relationship Id="rId2" Type="http://schemas.openxmlformats.org/officeDocument/2006/relationships/tags" Target="../tags/tag30.xml"/><Relationship Id="rId12" Type="http://schemas.openxmlformats.org/officeDocument/2006/relationships/notesSlide" Target="../notesSlides/notesSlide15.xml"/><Relationship Id="rId11" Type="http://schemas.openxmlformats.org/officeDocument/2006/relationships/slideLayout" Target="../slideLayouts/slideLayout12.xml"/><Relationship Id="rId10" Type="http://schemas.openxmlformats.org/officeDocument/2006/relationships/image" Target="../media/image20.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tags" Target="../tags/tag35.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image" Target="../media/image21.png"/><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37.xml"/><Relationship Id="rId2" Type="http://schemas.openxmlformats.org/officeDocument/2006/relationships/tags" Target="../tags/tag36.xml"/><Relationship Id="rId14" Type="http://schemas.openxmlformats.org/officeDocument/2006/relationships/notesSlide" Target="../notesSlides/notesSlide17.xml"/><Relationship Id="rId13" Type="http://schemas.openxmlformats.org/officeDocument/2006/relationships/slideLayout" Target="../slideLayouts/slideLayout12.xml"/><Relationship Id="rId12" Type="http://schemas.openxmlformats.org/officeDocument/2006/relationships/tags" Target="../tags/tag42.xml"/><Relationship Id="rId11" Type="http://schemas.openxmlformats.org/officeDocument/2006/relationships/image" Target="../media/image22.png"/><Relationship Id="rId10" Type="http://schemas.openxmlformats.org/officeDocument/2006/relationships/tags" Target="../tags/tag4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image" Target="../media/image23.png"/><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44.xml"/><Relationship Id="rId2" Type="http://schemas.openxmlformats.org/officeDocument/2006/relationships/tags" Target="../tags/tag43.xml"/><Relationship Id="rId11" Type="http://schemas.openxmlformats.org/officeDocument/2006/relationships/notesSlide" Target="../notesSlides/notesSlide18.xml"/><Relationship Id="rId10" Type="http://schemas.openxmlformats.org/officeDocument/2006/relationships/slideLayout" Target="../slideLayouts/slideLayout1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image" Target="../media/image24.png"/><Relationship Id="rId6" Type="http://schemas.openxmlformats.org/officeDocument/2006/relationships/tags" Target="../tags/tag50.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49.xml"/><Relationship Id="rId2" Type="http://schemas.openxmlformats.org/officeDocument/2006/relationships/tags" Target="../tags/tag48.xml"/><Relationship Id="rId13" Type="http://schemas.openxmlformats.org/officeDocument/2006/relationships/notesSlide" Target="../notesSlides/notesSlide19.xml"/><Relationship Id="rId12" Type="http://schemas.openxmlformats.org/officeDocument/2006/relationships/slideLayout" Target="../slideLayouts/slideLayout12.xml"/><Relationship Id="rId11" Type="http://schemas.openxmlformats.org/officeDocument/2006/relationships/tags" Target="../tags/tag53.xml"/><Relationship Id="rId10" Type="http://schemas.openxmlformats.org/officeDocument/2006/relationships/image" Target="../media/image2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tags" Target="../tags/tag57.xml"/><Relationship Id="rId7" Type="http://schemas.openxmlformats.org/officeDocument/2006/relationships/image" Target="../media/image26.png"/><Relationship Id="rId6" Type="http://schemas.openxmlformats.org/officeDocument/2006/relationships/tags" Target="../tags/tag56.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55.xml"/><Relationship Id="rId2" Type="http://schemas.openxmlformats.org/officeDocument/2006/relationships/tags" Target="../tags/tag54.xml"/><Relationship Id="rId15" Type="http://schemas.openxmlformats.org/officeDocument/2006/relationships/notesSlide" Target="../notesSlides/notesSlide20.xml"/><Relationship Id="rId14" Type="http://schemas.openxmlformats.org/officeDocument/2006/relationships/slideLayout" Target="../slideLayouts/slideLayout12.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image" Target="../media/image28.png"/><Relationship Id="rId10" Type="http://schemas.openxmlformats.org/officeDocument/2006/relationships/tags" Target="../tags/tag58.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62.xml"/><Relationship Id="rId2" Type="http://schemas.openxmlformats.org/officeDocument/2006/relationships/tags" Target="../tags/tag61.xml"/><Relationship Id="rId14" Type="http://schemas.openxmlformats.org/officeDocument/2006/relationships/notesSlide" Target="../notesSlides/notesSlide21.xml"/><Relationship Id="rId13" Type="http://schemas.openxmlformats.org/officeDocument/2006/relationships/slideLayout" Target="../slideLayouts/slideLayout12.xml"/><Relationship Id="rId12" Type="http://schemas.openxmlformats.org/officeDocument/2006/relationships/tags" Target="../tags/tag67.xml"/><Relationship Id="rId11" Type="http://schemas.openxmlformats.org/officeDocument/2006/relationships/image" Target="../media/image30.png"/><Relationship Id="rId10" Type="http://schemas.openxmlformats.org/officeDocument/2006/relationships/tags" Target="../tags/tag66.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70.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69.xml"/><Relationship Id="rId2" Type="http://schemas.openxmlformats.org/officeDocument/2006/relationships/tags" Target="../tags/tag68.xml"/><Relationship Id="rId10" Type="http://schemas.openxmlformats.org/officeDocument/2006/relationships/notesSlide" Target="../notesSlides/notesSlide2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tags" Target="../tags/tag74.xml"/><Relationship Id="rId7" Type="http://schemas.openxmlformats.org/officeDocument/2006/relationships/image" Target="../media/image33.png"/><Relationship Id="rId6" Type="http://schemas.openxmlformats.org/officeDocument/2006/relationships/tags" Target="../tags/tag73.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72.xml"/><Relationship Id="rId2" Type="http://schemas.openxmlformats.org/officeDocument/2006/relationships/tags" Target="../tags/tag71.xml"/><Relationship Id="rId12" Type="http://schemas.openxmlformats.org/officeDocument/2006/relationships/notesSlide" Target="../notesSlides/notesSlide23.xml"/><Relationship Id="rId11" Type="http://schemas.openxmlformats.org/officeDocument/2006/relationships/slideLayout" Target="../slideLayouts/slideLayout12.xml"/><Relationship Id="rId10" Type="http://schemas.openxmlformats.org/officeDocument/2006/relationships/tags" Target="../tags/tag75.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79.xml"/><Relationship Id="rId7" Type="http://schemas.openxmlformats.org/officeDocument/2006/relationships/image" Target="../media/image35.png"/><Relationship Id="rId6" Type="http://schemas.openxmlformats.org/officeDocument/2006/relationships/tags" Target="../tags/tag78.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77.xml"/><Relationship Id="rId2" Type="http://schemas.openxmlformats.org/officeDocument/2006/relationships/tags" Target="../tags/tag76.xml"/><Relationship Id="rId12" Type="http://schemas.openxmlformats.org/officeDocument/2006/relationships/notesSlide" Target="../notesSlides/notesSlide24.xml"/><Relationship Id="rId11" Type="http://schemas.openxmlformats.org/officeDocument/2006/relationships/slideLayout" Target="../slideLayouts/slideLayout12.xml"/><Relationship Id="rId10" Type="http://schemas.openxmlformats.org/officeDocument/2006/relationships/tags" Target="../tags/tag80.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tags" Target="../tags/tag84.xml"/><Relationship Id="rId7" Type="http://schemas.openxmlformats.org/officeDocument/2006/relationships/image" Target="../media/image37.png"/><Relationship Id="rId6" Type="http://schemas.openxmlformats.org/officeDocument/2006/relationships/tags" Target="../tags/tag83.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82.xml"/><Relationship Id="rId2" Type="http://schemas.openxmlformats.org/officeDocument/2006/relationships/tags" Target="../tags/tag81.xml"/><Relationship Id="rId14" Type="http://schemas.openxmlformats.org/officeDocument/2006/relationships/notesSlide" Target="../notesSlides/notesSlide25.xml"/><Relationship Id="rId13" Type="http://schemas.openxmlformats.org/officeDocument/2006/relationships/slideLayout" Target="../slideLayouts/slideLayout12.xml"/><Relationship Id="rId12" Type="http://schemas.openxmlformats.org/officeDocument/2006/relationships/tags" Target="../tags/tag86.xml"/><Relationship Id="rId11" Type="http://schemas.openxmlformats.org/officeDocument/2006/relationships/image" Target="../media/image39.png"/><Relationship Id="rId10" Type="http://schemas.openxmlformats.org/officeDocument/2006/relationships/tags" Target="../tags/tag85.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tags" Target="../tags/tag90.xml"/><Relationship Id="rId7" Type="http://schemas.openxmlformats.org/officeDocument/2006/relationships/image" Target="../media/image40.png"/><Relationship Id="rId6" Type="http://schemas.openxmlformats.org/officeDocument/2006/relationships/tags" Target="../tags/tag89.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88.xml"/><Relationship Id="rId2" Type="http://schemas.openxmlformats.org/officeDocument/2006/relationships/tags" Target="../tags/tag87.xml"/><Relationship Id="rId12" Type="http://schemas.openxmlformats.org/officeDocument/2006/relationships/notesSlide" Target="../notesSlides/notesSlide26.xml"/><Relationship Id="rId11" Type="http://schemas.openxmlformats.org/officeDocument/2006/relationships/slideLayout" Target="../slideLayouts/slideLayout12.xml"/><Relationship Id="rId10" Type="http://schemas.openxmlformats.org/officeDocument/2006/relationships/tags" Target="../tags/tag91.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tags" Target="../tags/tag94.xml"/><Relationship Id="rId5" Type="http://schemas.openxmlformats.org/officeDocument/2006/relationships/image" Target="../media/image43.png"/><Relationship Id="rId4" Type="http://schemas.openxmlformats.org/officeDocument/2006/relationships/tags" Target="../tags/tag93.xml"/><Relationship Id="rId3" Type="http://schemas.openxmlformats.org/officeDocument/2006/relationships/image" Target="../media/image42.png"/><Relationship Id="rId2" Type="http://schemas.openxmlformats.org/officeDocument/2006/relationships/tags" Target="../tags/tag9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tags" Target="../tags/tag100.xml"/><Relationship Id="rId7" Type="http://schemas.openxmlformats.org/officeDocument/2006/relationships/image" Target="../media/image45.png"/><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image" Target="../media/image44.png"/><Relationship Id="rId11" Type="http://schemas.openxmlformats.org/officeDocument/2006/relationships/notesSlide" Target="../notesSlides/notesSlide29.xml"/><Relationship Id="rId10" Type="http://schemas.openxmlformats.org/officeDocument/2006/relationships/slideLayout" Target="../slideLayouts/slideLayout12.xml"/><Relationship Id="rId1" Type="http://schemas.openxmlformats.org/officeDocument/2006/relationships/tags" Target="../tags/tag95.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04.xml"/><Relationship Id="rId7" Type="http://schemas.openxmlformats.org/officeDocument/2006/relationships/image" Target="../media/image49.png"/><Relationship Id="rId6" Type="http://schemas.openxmlformats.org/officeDocument/2006/relationships/tags" Target="../tags/tag103.xml"/><Relationship Id="rId5" Type="http://schemas.openxmlformats.org/officeDocument/2006/relationships/image" Target="../media/image48.png"/><Relationship Id="rId4" Type="http://schemas.openxmlformats.org/officeDocument/2006/relationships/tags" Target="../tags/tag102.xml"/><Relationship Id="rId3" Type="http://schemas.openxmlformats.org/officeDocument/2006/relationships/image" Target="../media/image47.png"/><Relationship Id="rId2" Type="http://schemas.openxmlformats.org/officeDocument/2006/relationships/tags" Target="../tags/tag101.xml"/><Relationship Id="rId10" Type="http://schemas.openxmlformats.org/officeDocument/2006/relationships/notesSlide" Target="../notesSlides/notesSlide30.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2.xml"/><Relationship Id="rId6" Type="http://schemas.openxmlformats.org/officeDocument/2006/relationships/tags" Target="../tags/tag107.xml"/><Relationship Id="rId5" Type="http://schemas.openxmlformats.org/officeDocument/2006/relationships/image" Target="../media/image51.png"/><Relationship Id="rId4" Type="http://schemas.openxmlformats.org/officeDocument/2006/relationships/tags" Target="../tags/tag106.xml"/><Relationship Id="rId3" Type="http://schemas.openxmlformats.org/officeDocument/2006/relationships/image" Target="../media/image50.png"/><Relationship Id="rId2" Type="http://schemas.openxmlformats.org/officeDocument/2006/relationships/tags" Target="../tags/tag105.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image" Target="../media/image53.png"/><Relationship Id="rId5" Type="http://schemas.openxmlformats.org/officeDocument/2006/relationships/tags" Target="../tags/tag110.xml"/><Relationship Id="rId4" Type="http://schemas.openxmlformats.org/officeDocument/2006/relationships/image" Target="../media/image52.png"/><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notesSlide" Target="../notesSlides/notesSlide33.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2.xml"/><Relationship Id="rId4" Type="http://schemas.openxmlformats.org/officeDocument/2006/relationships/image" Target="../media/image54.png"/><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tags" Target="../tags/tag116.xml"/><Relationship Id="rId3" Type="http://schemas.openxmlformats.org/officeDocument/2006/relationships/image" Target="../media/image55.png"/><Relationship Id="rId2" Type="http://schemas.openxmlformats.org/officeDocument/2006/relationships/tags" Target="../tags/tag115.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12.xml"/><Relationship Id="rId4" Type="http://schemas.openxmlformats.org/officeDocument/2006/relationships/tags" Target="../tags/tag118.xml"/><Relationship Id="rId3" Type="http://schemas.openxmlformats.org/officeDocument/2006/relationships/image" Target="../media/image57.png"/><Relationship Id="rId2" Type="http://schemas.openxmlformats.org/officeDocument/2006/relationships/tags" Target="../tags/tag117.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image" Target="../media/image58.png"/><Relationship Id="rId2" Type="http://schemas.openxmlformats.org/officeDocument/2006/relationships/tags" Target="../tags/tag119.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tags" Target="../tags/tag124.xml"/><Relationship Id="rId4" Type="http://schemas.openxmlformats.org/officeDocument/2006/relationships/image" Target="../media/image60.png"/><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tags" Target="../tags/tag128.xml"/><Relationship Id="rId7" Type="http://schemas.openxmlformats.org/officeDocument/2006/relationships/image" Target="../media/image64.png"/><Relationship Id="rId6" Type="http://schemas.openxmlformats.org/officeDocument/2006/relationships/tags" Target="../tags/tag127.xml"/><Relationship Id="rId5" Type="http://schemas.openxmlformats.org/officeDocument/2006/relationships/image" Target="../media/image63.png"/><Relationship Id="rId4" Type="http://schemas.openxmlformats.org/officeDocument/2006/relationships/tags" Target="../tags/tag126.xml"/><Relationship Id="rId3" Type="http://schemas.openxmlformats.org/officeDocument/2006/relationships/image" Target="../media/image62.png"/><Relationship Id="rId2" Type="http://schemas.openxmlformats.org/officeDocument/2006/relationships/tags" Target="../tags/tag125.xml"/><Relationship Id="rId11" Type="http://schemas.openxmlformats.org/officeDocument/2006/relationships/notesSlide" Target="../notesSlides/notesSlide39.xml"/><Relationship Id="rId10" Type="http://schemas.openxmlformats.org/officeDocument/2006/relationships/slideLayout" Target="../slideLayouts/slideLayout1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2.xml"/><Relationship Id="rId6" Type="http://schemas.openxmlformats.org/officeDocument/2006/relationships/tags" Target="../tags/tag131.xml"/><Relationship Id="rId5" Type="http://schemas.openxmlformats.org/officeDocument/2006/relationships/image" Target="../media/image67.png"/><Relationship Id="rId4" Type="http://schemas.openxmlformats.org/officeDocument/2006/relationships/tags" Target="../tags/tag130.xml"/><Relationship Id="rId3" Type="http://schemas.openxmlformats.org/officeDocument/2006/relationships/image" Target="../media/image66.png"/><Relationship Id="rId2" Type="http://schemas.openxmlformats.org/officeDocument/2006/relationships/tags" Target="../tags/tag129.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2.xml"/><Relationship Id="rId2" Type="http://schemas.openxmlformats.org/officeDocument/2006/relationships/image" Target="../media/image69.png"/><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江西科技学院信息工程学院-01"/>
          <p:cNvPicPr>
            <a:picLocks noChangeAspect="1"/>
          </p:cNvPicPr>
          <p:nvPr>
            <p:custDataLst>
              <p:tags r:id="rId1"/>
            </p:custDataLst>
          </p:nvPr>
        </p:nvPicPr>
        <p:blipFill>
          <a:blip r:embed="rId2"/>
          <a:stretch>
            <a:fillRect/>
          </a:stretch>
        </p:blipFill>
        <p:spPr>
          <a:xfrm>
            <a:off x="5330190" y="0"/>
            <a:ext cx="6861810" cy="6858000"/>
          </a:xfrm>
          <a:prstGeom prst="rect">
            <a:avLst/>
          </a:prstGeom>
        </p:spPr>
      </p:pic>
      <p:pic>
        <p:nvPicPr>
          <p:cNvPr id="33798" name="图片 10"/>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203200" y="163513"/>
            <a:ext cx="1036638"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p:cNvSpPr/>
          <p:nvPr/>
        </p:nvSpPr>
        <p:spPr bwMode="auto">
          <a:xfrm flipV="1">
            <a:off x="8890" y="4519930"/>
            <a:ext cx="6546215" cy="84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600" dirty="0">
              <a:cs typeface="+mn-ea"/>
              <a:sym typeface="+mn-lt"/>
            </a:endParaRPr>
          </a:p>
        </p:txBody>
      </p:sp>
      <p:sp>
        <p:nvSpPr>
          <p:cNvPr id="5" name="矩形 4"/>
          <p:cNvSpPr/>
          <p:nvPr/>
        </p:nvSpPr>
        <p:spPr>
          <a:xfrm>
            <a:off x="-28575" y="2107565"/>
            <a:ext cx="5913755" cy="1096010"/>
          </a:xfrm>
          <a:prstGeom prst="rect">
            <a:avLst/>
          </a:prstGeom>
          <a:solidFill>
            <a:srgbClr val="8497B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altLang="zh-CN" sz="4800" b="1">
                <a:latin typeface="微软雅黑" panose="020B0503020204020204" pitchFamily="34" charset="-122"/>
                <a:ea typeface="微软雅黑" panose="020B0503020204020204" pitchFamily="34" charset="-122"/>
                <a:cs typeface="微软雅黑" panose="020B0503020204020204" pitchFamily="34" charset="-122"/>
              </a:rPr>
              <a:t>Python</a:t>
            </a:r>
            <a:r>
              <a:rPr lang="en-US" altLang="zh-CN" sz="4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高级</a:t>
            </a:r>
            <a:r>
              <a:rPr lang="zh-CN" altLang="en-US" sz="4800" b="1">
                <a:latin typeface="微软雅黑" panose="020B0503020204020204" pitchFamily="34" charset="-122"/>
                <a:ea typeface="微软雅黑" panose="020B0503020204020204" pitchFamily="34" charset="-122"/>
                <a:cs typeface="微软雅黑" panose="020B0503020204020204" pitchFamily="34" charset="-122"/>
              </a:rPr>
              <a:t>应用</a:t>
            </a:r>
            <a:endParaRPr lang="zh-CN" altLang="en-US" sz="48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custDataLst>
              <p:tags r:id="rId5"/>
            </p:custDataLst>
          </p:nvPr>
        </p:nvSpPr>
        <p:spPr>
          <a:xfrm>
            <a:off x="8890" y="3630295"/>
            <a:ext cx="5290185" cy="97345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lIns="136525" tIns="136525" rIns="136525" bIns="136525" rtlCol="0" anchor="ctr"/>
          <a:lstStyle/>
          <a:p>
            <a:pPr algn="l"/>
            <a:r>
              <a:rPr lang="zh-CN" altLang="en-US" sz="4400" b="1" dirty="0">
                <a:latin typeface="微软雅黑" panose="020B0503020204020204" pitchFamily="34" charset="-122"/>
                <a:ea typeface="微软雅黑" panose="020B0503020204020204" pitchFamily="34" charset="-122"/>
                <a:cs typeface="微软雅黑" panose="020B0503020204020204" pitchFamily="34" charset="-122"/>
              </a:rPr>
              <a:t>回归预测分析</a:t>
            </a:r>
            <a:endParaRPr lang="zh-CN" altLang="en-US" sz="44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 name="文本框 54"/>
          <p:cNvSpPr txBox="1"/>
          <p:nvPr>
            <p:custDataLst>
              <p:tags r:id="rId6"/>
            </p:custDataLst>
          </p:nvPr>
        </p:nvSpPr>
        <p:spPr>
          <a:xfrm>
            <a:off x="-13017" y="5030470"/>
            <a:ext cx="4095750" cy="521970"/>
          </a:xfrm>
          <a:prstGeom prst="rect">
            <a:avLst/>
          </a:prstGeom>
          <a:noFill/>
        </p:spPr>
        <p:txBody>
          <a:bodyPr>
            <a:spAutoFit/>
          </a:bodyPr>
          <a:p>
            <a:pPr eaLnBrk="1" fontAlgn="auto" hangingPunct="1">
              <a:spcBef>
                <a:spcPts val="0"/>
              </a:spcBef>
              <a:spcAft>
                <a:spcPts val="0"/>
              </a:spcAft>
              <a:defRPr/>
            </a:pPr>
            <a:r>
              <a:rPr lang="zh-CN" altLang="en-US" sz="2800" b="1" dirty="0">
                <a:latin typeface="+mn-lt"/>
                <a:ea typeface="+mn-ea"/>
                <a:cs typeface="+mn-ea"/>
                <a:sym typeface="+mn-lt"/>
              </a:rPr>
              <a:t>主讲人：胡鸿辉</a:t>
            </a:r>
            <a:endParaRPr lang="zh-CN" altLang="en-US" sz="2800" b="1" dirty="0">
              <a:latin typeface="+mn-lt"/>
              <a:ea typeface="+mn-ea"/>
              <a:cs typeface="+mn-ea"/>
              <a:sym typeface="+mn-lt"/>
            </a:endParaRPr>
          </a:p>
        </p:txBody>
      </p:sp>
    </p:spTree>
  </p:cSld>
  <p:clrMapOvr>
    <a:masterClrMapping/>
  </p:clrMapOvr>
  <p:transition spd="slow" advTm="5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1103" y="1878238"/>
            <a:ext cx="1980029" cy="584775"/>
          </a:xfrm>
          <a:prstGeom prst="rect">
            <a:avLst/>
          </a:prstGeom>
          <a:noFill/>
        </p:spPr>
        <p:txBody>
          <a:bodyPr wrap="none" rtlCol="0">
            <a:spAutoFit/>
          </a:bodyPr>
          <a:lstStyle/>
          <a:p>
            <a:r>
              <a:rPr lang="zh-CN" altLang="en-US" sz="3200" b="1" spc="300" dirty="0">
                <a:latin typeface="微软雅黑" panose="020B0503020204020204" pitchFamily="34" charset="-122"/>
                <a:ea typeface="微软雅黑" panose="020B0503020204020204" pitchFamily="34" charset="-122"/>
              </a:rPr>
              <a:t>本章导读</a:t>
            </a:r>
            <a:endParaRPr lang="zh-CN" altLang="en-US" sz="3200" b="1" spc="300" dirty="0">
              <a:latin typeface="微软雅黑" panose="020B0503020204020204" pitchFamily="34" charset="-122"/>
              <a:ea typeface="微软雅黑" panose="020B0503020204020204" pitchFamily="34" charset="-122"/>
            </a:endParaRPr>
          </a:p>
        </p:txBody>
      </p:sp>
      <p:sp>
        <p:nvSpPr>
          <p:cNvPr id="3" name="矩形 7"/>
          <p:cNvSpPr/>
          <p:nvPr/>
        </p:nvSpPr>
        <p:spPr>
          <a:xfrm>
            <a:off x="1054359" y="1142481"/>
            <a:ext cx="986971" cy="4978400"/>
          </a:xfrm>
          <a:custGeom>
            <a:avLst/>
            <a:gdLst>
              <a:gd name="connsiteX0" fmla="*/ 0 w 1161143"/>
              <a:gd name="connsiteY0" fmla="*/ 0 h 4978400"/>
              <a:gd name="connsiteX1" fmla="*/ 1161143 w 1161143"/>
              <a:gd name="connsiteY1" fmla="*/ 0 h 4978400"/>
              <a:gd name="connsiteX2" fmla="*/ 1161143 w 1161143"/>
              <a:gd name="connsiteY2" fmla="*/ 4978400 h 4978400"/>
              <a:gd name="connsiteX3" fmla="*/ 0 w 1161143"/>
              <a:gd name="connsiteY3" fmla="*/ 4978400 h 4978400"/>
              <a:gd name="connsiteX4" fmla="*/ 0 w 1161143"/>
              <a:gd name="connsiteY4" fmla="*/ 0 h 4978400"/>
              <a:gd name="connsiteX0-1" fmla="*/ 0 w 1161143"/>
              <a:gd name="connsiteY0-2" fmla="*/ 0 h 4978400"/>
              <a:gd name="connsiteX1-3" fmla="*/ 1161143 w 1161143"/>
              <a:gd name="connsiteY1-4" fmla="*/ 0 h 4978400"/>
              <a:gd name="connsiteX2-5" fmla="*/ 1161143 w 1161143"/>
              <a:gd name="connsiteY2-6" fmla="*/ 667657 h 4978400"/>
              <a:gd name="connsiteX3-7" fmla="*/ 1161143 w 1161143"/>
              <a:gd name="connsiteY3-8" fmla="*/ 4978400 h 4978400"/>
              <a:gd name="connsiteX4-9" fmla="*/ 0 w 1161143"/>
              <a:gd name="connsiteY4-10" fmla="*/ 4978400 h 4978400"/>
              <a:gd name="connsiteX5" fmla="*/ 0 w 1161143"/>
              <a:gd name="connsiteY5" fmla="*/ 0 h 4978400"/>
              <a:gd name="connsiteX0-11" fmla="*/ 0 w 1161143"/>
              <a:gd name="connsiteY0-12" fmla="*/ 0 h 4978400"/>
              <a:gd name="connsiteX1-13" fmla="*/ 1161143 w 1161143"/>
              <a:gd name="connsiteY1-14" fmla="*/ 0 h 4978400"/>
              <a:gd name="connsiteX2-15" fmla="*/ 1161143 w 1161143"/>
              <a:gd name="connsiteY2-16" fmla="*/ 667657 h 4978400"/>
              <a:gd name="connsiteX3-17" fmla="*/ 1161143 w 1161143"/>
              <a:gd name="connsiteY3-18" fmla="*/ 1364343 h 4978400"/>
              <a:gd name="connsiteX4-19" fmla="*/ 1161143 w 1161143"/>
              <a:gd name="connsiteY4-20" fmla="*/ 4978400 h 4978400"/>
              <a:gd name="connsiteX5-21" fmla="*/ 0 w 1161143"/>
              <a:gd name="connsiteY5-22" fmla="*/ 4978400 h 4978400"/>
              <a:gd name="connsiteX6" fmla="*/ 0 w 1161143"/>
              <a:gd name="connsiteY6" fmla="*/ 0 h 4978400"/>
              <a:gd name="connsiteX0-23" fmla="*/ 1161143 w 1252583"/>
              <a:gd name="connsiteY0-24" fmla="*/ 1364343 h 4978400"/>
              <a:gd name="connsiteX1-25" fmla="*/ 1161143 w 1252583"/>
              <a:gd name="connsiteY1-26" fmla="*/ 4978400 h 4978400"/>
              <a:gd name="connsiteX2-27" fmla="*/ 0 w 1252583"/>
              <a:gd name="connsiteY2-28" fmla="*/ 4978400 h 4978400"/>
              <a:gd name="connsiteX3-29" fmla="*/ 0 w 1252583"/>
              <a:gd name="connsiteY3-30" fmla="*/ 0 h 4978400"/>
              <a:gd name="connsiteX4-31" fmla="*/ 1161143 w 1252583"/>
              <a:gd name="connsiteY4-32" fmla="*/ 0 h 4978400"/>
              <a:gd name="connsiteX5-33" fmla="*/ 1252583 w 1252583"/>
              <a:gd name="connsiteY5-34" fmla="*/ 759097 h 4978400"/>
              <a:gd name="connsiteX0-35" fmla="*/ 1161143 w 1166858"/>
              <a:gd name="connsiteY0-36" fmla="*/ 1364343 h 4978400"/>
              <a:gd name="connsiteX1-37" fmla="*/ 1161143 w 1166858"/>
              <a:gd name="connsiteY1-38" fmla="*/ 4978400 h 4978400"/>
              <a:gd name="connsiteX2-39" fmla="*/ 0 w 1166858"/>
              <a:gd name="connsiteY2-40" fmla="*/ 4978400 h 4978400"/>
              <a:gd name="connsiteX3-41" fmla="*/ 0 w 1166858"/>
              <a:gd name="connsiteY3-42" fmla="*/ 0 h 4978400"/>
              <a:gd name="connsiteX4-43" fmla="*/ 1161143 w 1166858"/>
              <a:gd name="connsiteY4-44" fmla="*/ 0 h 4978400"/>
              <a:gd name="connsiteX5-45" fmla="*/ 1166858 w 1166858"/>
              <a:gd name="connsiteY5-46" fmla="*/ 752747 h 4978400"/>
              <a:gd name="connsiteX0-47" fmla="*/ 1161143 w 1166858"/>
              <a:gd name="connsiteY0-48" fmla="*/ 1364343 h 4978400"/>
              <a:gd name="connsiteX1-49" fmla="*/ 1161143 w 1166858"/>
              <a:gd name="connsiteY1-50" fmla="*/ 4978400 h 4978400"/>
              <a:gd name="connsiteX2-51" fmla="*/ 0 w 1166858"/>
              <a:gd name="connsiteY2-52" fmla="*/ 4978400 h 4978400"/>
              <a:gd name="connsiteX3-53" fmla="*/ 0 w 1166858"/>
              <a:gd name="connsiteY3-54" fmla="*/ 0 h 4978400"/>
              <a:gd name="connsiteX4-55" fmla="*/ 1161143 w 1166858"/>
              <a:gd name="connsiteY4-56" fmla="*/ 0 h 4978400"/>
              <a:gd name="connsiteX5-57" fmla="*/ 1166858 w 1166858"/>
              <a:gd name="connsiteY5-58" fmla="*/ 749572 h 4978400"/>
              <a:gd name="connsiteX0-59" fmla="*/ 1161143 w 1163683"/>
              <a:gd name="connsiteY0-60" fmla="*/ 1364343 h 4978400"/>
              <a:gd name="connsiteX1-61" fmla="*/ 1161143 w 1163683"/>
              <a:gd name="connsiteY1-62" fmla="*/ 4978400 h 4978400"/>
              <a:gd name="connsiteX2-63" fmla="*/ 0 w 1163683"/>
              <a:gd name="connsiteY2-64" fmla="*/ 4978400 h 4978400"/>
              <a:gd name="connsiteX3-65" fmla="*/ 0 w 1163683"/>
              <a:gd name="connsiteY3-66" fmla="*/ 0 h 4978400"/>
              <a:gd name="connsiteX4-67" fmla="*/ 1161143 w 1163683"/>
              <a:gd name="connsiteY4-68" fmla="*/ 0 h 4978400"/>
              <a:gd name="connsiteX5-69" fmla="*/ 1163683 w 1163683"/>
              <a:gd name="connsiteY5-70" fmla="*/ 749572 h 4978400"/>
              <a:gd name="connsiteX0-71" fmla="*/ 1161143 w 1161143"/>
              <a:gd name="connsiteY0-72" fmla="*/ 1364343 h 4978400"/>
              <a:gd name="connsiteX1-73" fmla="*/ 1161143 w 1161143"/>
              <a:gd name="connsiteY1-74" fmla="*/ 4978400 h 4978400"/>
              <a:gd name="connsiteX2-75" fmla="*/ 0 w 1161143"/>
              <a:gd name="connsiteY2-76" fmla="*/ 4978400 h 4978400"/>
              <a:gd name="connsiteX3-77" fmla="*/ 0 w 1161143"/>
              <a:gd name="connsiteY3-78" fmla="*/ 0 h 4978400"/>
              <a:gd name="connsiteX4-79" fmla="*/ 1161143 w 1161143"/>
              <a:gd name="connsiteY4-80" fmla="*/ 0 h 4978400"/>
              <a:gd name="connsiteX5-81" fmla="*/ 1160508 w 1161143"/>
              <a:gd name="connsiteY5-82" fmla="*/ 749572 h 49784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61143" h="4978400">
                <a:moveTo>
                  <a:pt x="1161143" y="1364343"/>
                </a:moveTo>
                <a:lnTo>
                  <a:pt x="1161143" y="4978400"/>
                </a:lnTo>
                <a:lnTo>
                  <a:pt x="0" y="4978400"/>
                </a:lnTo>
                <a:lnTo>
                  <a:pt x="0" y="0"/>
                </a:lnTo>
                <a:lnTo>
                  <a:pt x="1161143" y="0"/>
                </a:lnTo>
                <a:cubicBezTo>
                  <a:pt x="1161143" y="222552"/>
                  <a:pt x="1160508" y="749572"/>
                  <a:pt x="1160508" y="749572"/>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Title 6"/>
          <p:cNvSpPr txBox="1"/>
          <p:nvPr>
            <p:custDataLst>
              <p:tags r:id="rId1"/>
            </p:custDataLst>
          </p:nvPr>
        </p:nvSpPr>
        <p:spPr>
          <a:xfrm>
            <a:off x="2383155" y="2672080"/>
            <a:ext cx="9081135" cy="2031365"/>
          </a:xfrm>
          <a:prstGeom prst="rect">
            <a:avLst/>
          </a:prstGeom>
          <a:noFill/>
        </p:spPr>
        <p:txBody>
          <a:bodyPr wrap="square" lIns="101600" tIns="0" rIns="82550" bIns="0" rtlCol="0" anchor="t" anchorCtr="0">
            <a:spAutoFit/>
          </a:bodyPr>
          <a:lstStyle>
            <a:defPPr>
              <a:defRPr lang="zh-CN"/>
            </a:defPPr>
            <a:lvl1pPr fontAlgn="auto">
              <a:lnSpc>
                <a:spcPct val="130000"/>
              </a:lnSpc>
              <a:spcAft>
                <a:spcPts val="1000"/>
              </a:spcAft>
              <a:defRPr sz="1600" spc="150"/>
            </a:lvl1pPr>
          </a:lstStyle>
          <a:p>
            <a:pPr marL="342900" indent="-342900" algn="just" eaLnBrk="1" latinLnBrk="0" hangingPunct="1">
              <a:lnSpc>
                <a:spcPct val="150000"/>
              </a:lnSpc>
              <a:spcBef>
                <a:spcPts val="0"/>
              </a:spcBef>
              <a:spcAft>
                <a:spcPts val="0"/>
              </a:spcAft>
              <a:buClrTx/>
              <a:buSzTx/>
              <a:buFont typeface="Wingdings" panose="05000000000000000000" pitchFamily="2" charset="2"/>
              <a:buChar char="u"/>
              <a:defRPr/>
            </a:pPr>
            <a:r>
              <a:rPr lang="zh-CN" altLang="en-US" sz="2200" spc="0" dirty="0">
                <a:latin typeface="+mn-ea"/>
                <a:ea typeface="+mn-ea"/>
                <a:sym typeface="+mn-ea"/>
              </a:rPr>
              <a:t>本章首先介绍回归分析的概念与类别，通过Python三方库</a:t>
            </a:r>
            <a:r>
              <a:rPr lang="en-US" altLang="zh-CN" sz="2200" spc="0" dirty="0">
                <a:latin typeface="+mn-ea"/>
                <a:ea typeface="+mn-ea"/>
                <a:sym typeface="+mn-ea"/>
              </a:rPr>
              <a:t>Pandas</a:t>
            </a:r>
            <a:r>
              <a:rPr lang="zh-CN" altLang="en-US" sz="2200" spc="0" dirty="0">
                <a:latin typeface="+mn-ea"/>
                <a:ea typeface="+mn-ea"/>
                <a:sym typeface="+mn-ea"/>
              </a:rPr>
              <a:t>、</a:t>
            </a:r>
            <a:r>
              <a:rPr lang="en-US" altLang="zh-CN" sz="2200" spc="0" dirty="0">
                <a:latin typeface="+mn-ea"/>
                <a:ea typeface="+mn-ea"/>
                <a:sym typeface="+mn-ea"/>
              </a:rPr>
              <a:t>Numpy</a:t>
            </a:r>
            <a:r>
              <a:rPr lang="zh-CN" altLang="en-US" sz="2200" spc="0" dirty="0">
                <a:latin typeface="+mn-ea"/>
                <a:ea typeface="+mn-ea"/>
                <a:sym typeface="+mn-ea"/>
              </a:rPr>
              <a:t>、Scikit-learn等进行二手车数据探索、可视化分析、数据预处理，建立合适的数据模型，对二手车的价格进行预测分析。</a:t>
            </a:r>
            <a:endParaRPr lang="zh-CN" altLang="en-US" sz="2200" spc="0" dirty="0">
              <a:latin typeface="+mn-ea"/>
              <a:ea typeface="+mn-ea"/>
              <a:sym typeface="+mn-ea"/>
            </a:endParaRPr>
          </a:p>
          <a:p>
            <a:pPr marL="0" indent="0" algn="just" eaLnBrk="1" latinLnBrk="0" hangingPunct="1">
              <a:lnSpc>
                <a:spcPct val="150000"/>
              </a:lnSpc>
              <a:spcBef>
                <a:spcPts val="0"/>
              </a:spcBef>
              <a:spcAft>
                <a:spcPts val="0"/>
              </a:spcAft>
              <a:buClrTx/>
              <a:buSzTx/>
              <a:buFont typeface="Wingdings" panose="05000000000000000000" pitchFamily="2" charset="2"/>
              <a:buNone/>
              <a:defRPr/>
            </a:pPr>
            <a:endParaRPr lang="zh-CN" altLang="en-US" sz="2200" spc="0" dirty="0">
              <a:latin typeface="+mn-ea"/>
              <a:ea typeface="+mn-ea"/>
              <a:sym typeface="+mn-ea"/>
            </a:endParaRPr>
          </a:p>
        </p:txBody>
      </p:sp>
      <p:pic>
        <p:nvPicPr>
          <p:cNvPr id="30" name="图片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00429" y="331471"/>
            <a:ext cx="4660270" cy="973736"/>
            <a:chOff x="741237" y="379886"/>
            <a:chExt cx="2466342" cy="830726"/>
          </a:xfrm>
        </p:grpSpPr>
        <p:sp>
          <p:nvSpPr>
            <p:cNvPr id="41" name="矩形 40"/>
            <p:cNvSpPr/>
            <p:nvPr/>
          </p:nvSpPr>
          <p:spPr>
            <a:xfrm>
              <a:off x="741237" y="379886"/>
              <a:ext cx="2229753" cy="479980"/>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42" name="组合 16"/>
            <p:cNvGrpSpPr/>
            <p:nvPr/>
          </p:nvGrpSpPr>
          <p:grpSpPr bwMode="auto">
            <a:xfrm>
              <a:off x="741239" y="397221"/>
              <a:ext cx="2466340" cy="813391"/>
              <a:chOff x="741239" y="397221"/>
              <a:chExt cx="2466340" cy="813391"/>
            </a:xfrm>
          </p:grpSpPr>
          <p:sp>
            <p:nvSpPr>
              <p:cNvPr id="43" name="文本框 42"/>
              <p:cNvSpPr txBox="1"/>
              <p:nvPr/>
            </p:nvSpPr>
            <p:spPr>
              <a:xfrm>
                <a:off x="1525938" y="397462"/>
                <a:ext cx="1681641" cy="813150"/>
              </a:xfrm>
              <a:prstGeom prst="rect">
                <a:avLst/>
              </a:prstGeom>
              <a:noFill/>
            </p:spPr>
            <p:txBody>
              <a:bodyPr wrap="square">
                <a:spAutoFit/>
              </a:bodyPr>
              <a:lstStyle/>
              <a:p>
                <a:pPr algn="l" eaLnBrk="1" fontAlgn="auto" hangingPunct="1">
                  <a:spcBef>
                    <a:spcPts val="0"/>
                  </a:spcBef>
                  <a:spcAft>
                    <a:spcPts val="0"/>
                  </a:spcAft>
                  <a:defRPr/>
                </a:pPr>
                <a:r>
                  <a:rPr lang="zh-CN" altLang="en-US" sz="2800" b="1" kern="100" spc="100" dirty="0">
                    <a:solidFill>
                      <a:srgbClr val="0277BD"/>
                    </a:solidFill>
                    <a:uFillTx/>
                    <a:latin typeface="+mn-lt"/>
                    <a:ea typeface="+mn-ea"/>
                    <a:cs typeface="+mn-ea"/>
                    <a:sym typeface="+mn-ea"/>
                  </a:rPr>
                  <a:t>机器学习算法</a:t>
                </a:r>
                <a:endParaRPr lang="zh-CN" altLang="en-US" sz="2800" b="1" kern="100" spc="100" dirty="0">
                  <a:solidFill>
                    <a:srgbClr val="0277BD"/>
                  </a:solidFill>
                  <a:uFillTx/>
                  <a:latin typeface="+mn-lt"/>
                  <a:ea typeface="+mn-ea"/>
                  <a:cs typeface="+mn-ea"/>
                  <a:sym typeface="+mn-ea"/>
                </a:endParaRPr>
              </a:p>
              <a:p>
                <a:pPr algn="l" eaLnBrk="1" fontAlgn="auto" hangingPunct="1">
                  <a:spcBef>
                    <a:spcPts val="0"/>
                  </a:spcBef>
                  <a:spcAft>
                    <a:spcPts val="0"/>
                  </a:spcAft>
                  <a:defRPr/>
                </a:pPr>
                <a:endParaRPr lang="en-US" altLang="zh-CN" sz="2800" b="1" kern="100" spc="100" dirty="0">
                  <a:solidFill>
                    <a:srgbClr val="0277BD"/>
                  </a:solidFill>
                  <a:uFillTx/>
                  <a:latin typeface="+mn-lt"/>
                  <a:ea typeface="+mn-ea"/>
                  <a:cs typeface="+mn-ea"/>
                  <a:sym typeface="+mn-ea"/>
                </a:endParaRPr>
              </a:p>
            </p:txBody>
          </p:sp>
          <p:sp>
            <p:nvSpPr>
              <p:cNvPr id="44" name="矩形 43"/>
              <p:cNvSpPr/>
              <p:nvPr/>
            </p:nvSpPr>
            <p:spPr>
              <a:xfrm>
                <a:off x="741239" y="397221"/>
                <a:ext cx="1843957" cy="445310"/>
              </a:xfrm>
              <a:prstGeom prst="rect">
                <a:avLst/>
              </a:prstGeom>
              <a:effectLst/>
            </p:spPr>
            <p:txBody>
              <a:bodyPr wrap="square">
                <a:spAutoFit/>
              </a:bodyPr>
              <a:lstStyle/>
              <a:p>
                <a:pPr algn="l" eaLnBrk="1" fontAlgn="auto" hangingPunct="1">
                  <a:spcBef>
                    <a:spcPts val="0"/>
                  </a:spcBef>
                  <a:spcAft>
                    <a:spcPts val="0"/>
                  </a:spcAft>
                  <a:buClrTx/>
                  <a:buSzTx/>
                  <a:buFontTx/>
                  <a:defRPr/>
                </a:pPr>
                <a:r>
                  <a:rPr lang="en-US" altLang="zh-CN" sz="2800" b="1" spc="200" dirty="0">
                    <a:solidFill>
                      <a:schemeClr val="bg1"/>
                    </a:solidFill>
                    <a:uFillTx/>
                    <a:latin typeface="+mn-lt"/>
                    <a:ea typeface="+mn-ea"/>
                    <a:cs typeface="+mn-ea"/>
                    <a:sym typeface="+mn-ea"/>
                  </a:rPr>
                  <a:t>第10章</a:t>
                </a:r>
                <a:r>
                  <a:rPr lang="en-US" altLang="zh-CN" sz="2800" b="1" spc="100" dirty="0">
                    <a:solidFill>
                      <a:schemeClr val="bg1"/>
                    </a:solidFill>
                    <a:uFillTx/>
                    <a:latin typeface="+mn-lt"/>
                    <a:ea typeface="+mn-ea"/>
                    <a:cs typeface="+mn-ea"/>
                    <a:sym typeface="+mn-ea"/>
                  </a:rPr>
                  <a:t> </a:t>
                </a:r>
                <a:endParaRPr lang="en-US" altLang="zh-CN" sz="2800" b="1" spc="100" dirty="0">
                  <a:solidFill>
                    <a:schemeClr val="bg1"/>
                  </a:solidFill>
                  <a:uFillTx/>
                  <a:latin typeface="+mn-lt"/>
                  <a:ea typeface="+mn-ea"/>
                  <a:cs typeface="+mn-ea"/>
                  <a:sym typeface="+mn-ea"/>
                </a:endParaRPr>
              </a:p>
            </p:txBody>
          </p:sp>
        </p:grpSp>
      </p:grpSp>
      <p:pic>
        <p:nvPicPr>
          <p:cNvPr id="5" name="图片 4"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1103" y="1878238"/>
            <a:ext cx="1980029" cy="584775"/>
          </a:xfrm>
          <a:prstGeom prst="rect">
            <a:avLst/>
          </a:prstGeom>
          <a:noFill/>
        </p:spPr>
        <p:txBody>
          <a:bodyPr wrap="none" rtlCol="0">
            <a:spAutoFit/>
          </a:bodyPr>
          <a:lstStyle/>
          <a:p>
            <a:r>
              <a:rPr lang="zh-CN" altLang="en-US" sz="3200" b="1" spc="300" dirty="0">
                <a:latin typeface="微软雅黑" panose="020B0503020204020204" pitchFamily="34" charset="-122"/>
                <a:ea typeface="微软雅黑" panose="020B0503020204020204" pitchFamily="34" charset="-122"/>
              </a:rPr>
              <a:t>学习目标</a:t>
            </a:r>
            <a:endParaRPr lang="zh-CN" altLang="en-US" sz="3200" b="1" spc="300" dirty="0">
              <a:latin typeface="微软雅黑" panose="020B0503020204020204" pitchFamily="34" charset="-122"/>
              <a:ea typeface="微软雅黑" panose="020B0503020204020204" pitchFamily="34" charset="-122"/>
            </a:endParaRPr>
          </a:p>
        </p:txBody>
      </p:sp>
      <p:sp>
        <p:nvSpPr>
          <p:cNvPr id="3" name="矩形 7"/>
          <p:cNvSpPr/>
          <p:nvPr/>
        </p:nvSpPr>
        <p:spPr>
          <a:xfrm>
            <a:off x="1054359" y="1142481"/>
            <a:ext cx="986971" cy="4978400"/>
          </a:xfrm>
          <a:custGeom>
            <a:avLst/>
            <a:gdLst>
              <a:gd name="connsiteX0" fmla="*/ 0 w 1161143"/>
              <a:gd name="connsiteY0" fmla="*/ 0 h 4978400"/>
              <a:gd name="connsiteX1" fmla="*/ 1161143 w 1161143"/>
              <a:gd name="connsiteY1" fmla="*/ 0 h 4978400"/>
              <a:gd name="connsiteX2" fmla="*/ 1161143 w 1161143"/>
              <a:gd name="connsiteY2" fmla="*/ 4978400 h 4978400"/>
              <a:gd name="connsiteX3" fmla="*/ 0 w 1161143"/>
              <a:gd name="connsiteY3" fmla="*/ 4978400 h 4978400"/>
              <a:gd name="connsiteX4" fmla="*/ 0 w 1161143"/>
              <a:gd name="connsiteY4" fmla="*/ 0 h 4978400"/>
              <a:gd name="connsiteX0-1" fmla="*/ 0 w 1161143"/>
              <a:gd name="connsiteY0-2" fmla="*/ 0 h 4978400"/>
              <a:gd name="connsiteX1-3" fmla="*/ 1161143 w 1161143"/>
              <a:gd name="connsiteY1-4" fmla="*/ 0 h 4978400"/>
              <a:gd name="connsiteX2-5" fmla="*/ 1161143 w 1161143"/>
              <a:gd name="connsiteY2-6" fmla="*/ 667657 h 4978400"/>
              <a:gd name="connsiteX3-7" fmla="*/ 1161143 w 1161143"/>
              <a:gd name="connsiteY3-8" fmla="*/ 4978400 h 4978400"/>
              <a:gd name="connsiteX4-9" fmla="*/ 0 w 1161143"/>
              <a:gd name="connsiteY4-10" fmla="*/ 4978400 h 4978400"/>
              <a:gd name="connsiteX5" fmla="*/ 0 w 1161143"/>
              <a:gd name="connsiteY5" fmla="*/ 0 h 4978400"/>
              <a:gd name="connsiteX0-11" fmla="*/ 0 w 1161143"/>
              <a:gd name="connsiteY0-12" fmla="*/ 0 h 4978400"/>
              <a:gd name="connsiteX1-13" fmla="*/ 1161143 w 1161143"/>
              <a:gd name="connsiteY1-14" fmla="*/ 0 h 4978400"/>
              <a:gd name="connsiteX2-15" fmla="*/ 1161143 w 1161143"/>
              <a:gd name="connsiteY2-16" fmla="*/ 667657 h 4978400"/>
              <a:gd name="connsiteX3-17" fmla="*/ 1161143 w 1161143"/>
              <a:gd name="connsiteY3-18" fmla="*/ 1364343 h 4978400"/>
              <a:gd name="connsiteX4-19" fmla="*/ 1161143 w 1161143"/>
              <a:gd name="connsiteY4-20" fmla="*/ 4978400 h 4978400"/>
              <a:gd name="connsiteX5-21" fmla="*/ 0 w 1161143"/>
              <a:gd name="connsiteY5-22" fmla="*/ 4978400 h 4978400"/>
              <a:gd name="connsiteX6" fmla="*/ 0 w 1161143"/>
              <a:gd name="connsiteY6" fmla="*/ 0 h 4978400"/>
              <a:gd name="connsiteX0-23" fmla="*/ 1161143 w 1252583"/>
              <a:gd name="connsiteY0-24" fmla="*/ 1364343 h 4978400"/>
              <a:gd name="connsiteX1-25" fmla="*/ 1161143 w 1252583"/>
              <a:gd name="connsiteY1-26" fmla="*/ 4978400 h 4978400"/>
              <a:gd name="connsiteX2-27" fmla="*/ 0 w 1252583"/>
              <a:gd name="connsiteY2-28" fmla="*/ 4978400 h 4978400"/>
              <a:gd name="connsiteX3-29" fmla="*/ 0 w 1252583"/>
              <a:gd name="connsiteY3-30" fmla="*/ 0 h 4978400"/>
              <a:gd name="connsiteX4-31" fmla="*/ 1161143 w 1252583"/>
              <a:gd name="connsiteY4-32" fmla="*/ 0 h 4978400"/>
              <a:gd name="connsiteX5-33" fmla="*/ 1252583 w 1252583"/>
              <a:gd name="connsiteY5-34" fmla="*/ 759097 h 4978400"/>
              <a:gd name="connsiteX0-35" fmla="*/ 1161143 w 1166858"/>
              <a:gd name="connsiteY0-36" fmla="*/ 1364343 h 4978400"/>
              <a:gd name="connsiteX1-37" fmla="*/ 1161143 w 1166858"/>
              <a:gd name="connsiteY1-38" fmla="*/ 4978400 h 4978400"/>
              <a:gd name="connsiteX2-39" fmla="*/ 0 w 1166858"/>
              <a:gd name="connsiteY2-40" fmla="*/ 4978400 h 4978400"/>
              <a:gd name="connsiteX3-41" fmla="*/ 0 w 1166858"/>
              <a:gd name="connsiteY3-42" fmla="*/ 0 h 4978400"/>
              <a:gd name="connsiteX4-43" fmla="*/ 1161143 w 1166858"/>
              <a:gd name="connsiteY4-44" fmla="*/ 0 h 4978400"/>
              <a:gd name="connsiteX5-45" fmla="*/ 1166858 w 1166858"/>
              <a:gd name="connsiteY5-46" fmla="*/ 752747 h 4978400"/>
              <a:gd name="connsiteX0-47" fmla="*/ 1161143 w 1166858"/>
              <a:gd name="connsiteY0-48" fmla="*/ 1364343 h 4978400"/>
              <a:gd name="connsiteX1-49" fmla="*/ 1161143 w 1166858"/>
              <a:gd name="connsiteY1-50" fmla="*/ 4978400 h 4978400"/>
              <a:gd name="connsiteX2-51" fmla="*/ 0 w 1166858"/>
              <a:gd name="connsiteY2-52" fmla="*/ 4978400 h 4978400"/>
              <a:gd name="connsiteX3-53" fmla="*/ 0 w 1166858"/>
              <a:gd name="connsiteY3-54" fmla="*/ 0 h 4978400"/>
              <a:gd name="connsiteX4-55" fmla="*/ 1161143 w 1166858"/>
              <a:gd name="connsiteY4-56" fmla="*/ 0 h 4978400"/>
              <a:gd name="connsiteX5-57" fmla="*/ 1166858 w 1166858"/>
              <a:gd name="connsiteY5-58" fmla="*/ 749572 h 4978400"/>
              <a:gd name="connsiteX0-59" fmla="*/ 1161143 w 1163683"/>
              <a:gd name="connsiteY0-60" fmla="*/ 1364343 h 4978400"/>
              <a:gd name="connsiteX1-61" fmla="*/ 1161143 w 1163683"/>
              <a:gd name="connsiteY1-62" fmla="*/ 4978400 h 4978400"/>
              <a:gd name="connsiteX2-63" fmla="*/ 0 w 1163683"/>
              <a:gd name="connsiteY2-64" fmla="*/ 4978400 h 4978400"/>
              <a:gd name="connsiteX3-65" fmla="*/ 0 w 1163683"/>
              <a:gd name="connsiteY3-66" fmla="*/ 0 h 4978400"/>
              <a:gd name="connsiteX4-67" fmla="*/ 1161143 w 1163683"/>
              <a:gd name="connsiteY4-68" fmla="*/ 0 h 4978400"/>
              <a:gd name="connsiteX5-69" fmla="*/ 1163683 w 1163683"/>
              <a:gd name="connsiteY5-70" fmla="*/ 749572 h 4978400"/>
              <a:gd name="connsiteX0-71" fmla="*/ 1161143 w 1161143"/>
              <a:gd name="connsiteY0-72" fmla="*/ 1364343 h 4978400"/>
              <a:gd name="connsiteX1-73" fmla="*/ 1161143 w 1161143"/>
              <a:gd name="connsiteY1-74" fmla="*/ 4978400 h 4978400"/>
              <a:gd name="connsiteX2-75" fmla="*/ 0 w 1161143"/>
              <a:gd name="connsiteY2-76" fmla="*/ 4978400 h 4978400"/>
              <a:gd name="connsiteX3-77" fmla="*/ 0 w 1161143"/>
              <a:gd name="connsiteY3-78" fmla="*/ 0 h 4978400"/>
              <a:gd name="connsiteX4-79" fmla="*/ 1161143 w 1161143"/>
              <a:gd name="connsiteY4-80" fmla="*/ 0 h 4978400"/>
              <a:gd name="connsiteX5-81" fmla="*/ 1160508 w 1161143"/>
              <a:gd name="connsiteY5-82" fmla="*/ 749572 h 49784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61143" h="4978400">
                <a:moveTo>
                  <a:pt x="1161143" y="1364343"/>
                </a:moveTo>
                <a:lnTo>
                  <a:pt x="1161143" y="4978400"/>
                </a:lnTo>
                <a:lnTo>
                  <a:pt x="0" y="4978400"/>
                </a:lnTo>
                <a:lnTo>
                  <a:pt x="0" y="0"/>
                </a:lnTo>
                <a:lnTo>
                  <a:pt x="1161143" y="0"/>
                </a:lnTo>
                <a:cubicBezTo>
                  <a:pt x="1161143" y="222552"/>
                  <a:pt x="1160508" y="749572"/>
                  <a:pt x="1160508" y="749572"/>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563620" y="2930525"/>
            <a:ext cx="6476365" cy="430887"/>
          </a:xfrm>
          <a:prstGeom prst="rect">
            <a:avLst/>
          </a:prstGeom>
        </p:spPr>
        <p:txBody>
          <a:bodyPr wrap="square">
            <a:spAutoFit/>
          </a:bodyPr>
          <a:lstStyle/>
          <a:p>
            <a:r>
              <a:rPr lang="zh-CN" altLang="en-US" sz="2200" kern="100" dirty="0">
                <a:solidFill>
                  <a:schemeClr val="tx1"/>
                </a:solidFill>
                <a:latin typeface="+mn-ea"/>
                <a:cs typeface="Times New Roman" panose="02020603050405020304" pitchFamily="18" charset="0"/>
              </a:rPr>
              <a:t>理解回归分析的概念和类别</a:t>
            </a:r>
            <a:endParaRPr sz="2200" kern="100" dirty="0">
              <a:solidFill>
                <a:schemeClr val="tx1"/>
              </a:solidFill>
              <a:latin typeface="+mn-ea"/>
              <a:cs typeface="Times New Roman" panose="02020603050405020304" pitchFamily="18" charset="0"/>
            </a:endParaRPr>
          </a:p>
        </p:txBody>
      </p:sp>
      <p:sp>
        <p:nvSpPr>
          <p:cNvPr id="17" name="矩形 16"/>
          <p:cNvSpPr/>
          <p:nvPr/>
        </p:nvSpPr>
        <p:spPr>
          <a:xfrm>
            <a:off x="3563620" y="3707130"/>
            <a:ext cx="6642100" cy="429895"/>
          </a:xfrm>
          <a:prstGeom prst="rect">
            <a:avLst/>
          </a:prstGeom>
        </p:spPr>
        <p:txBody>
          <a:bodyPr wrap="square">
            <a:spAutoFit/>
          </a:bodyPr>
          <a:lstStyle/>
          <a:p>
            <a:r>
              <a:rPr lang="en-US" sz="2200" kern="100" dirty="0">
                <a:latin typeface="+mn-ea"/>
                <a:cs typeface="Times New Roman" panose="02020603050405020304" pitchFamily="18" charset="0"/>
              </a:rPr>
              <a:t>S</a:t>
            </a:r>
            <a:r>
              <a:rPr lang="en-US" sz="2200" kern="100" dirty="0">
                <a:solidFill>
                  <a:schemeClr val="tx1"/>
                </a:solidFill>
                <a:latin typeface="+mn-ea"/>
                <a:cs typeface="Times New Roman" panose="02020603050405020304" pitchFamily="18" charset="0"/>
              </a:rPr>
              <a:t>cikit-learn </a:t>
            </a:r>
            <a:r>
              <a:rPr lang="zh-CN" altLang="en-US" sz="2200" kern="100" dirty="0">
                <a:latin typeface="+mn-ea"/>
                <a:cs typeface="Times New Roman" panose="02020603050405020304" pitchFamily="18" charset="0"/>
              </a:rPr>
              <a:t>在回归分析上的应用</a:t>
            </a:r>
            <a:endParaRPr lang="en-US" altLang="zh-CN" sz="2200" kern="100" dirty="0">
              <a:latin typeface="+mn-ea"/>
              <a:cs typeface="Times New Roman" panose="02020603050405020304" pitchFamily="18" charset="0"/>
            </a:endParaRPr>
          </a:p>
        </p:txBody>
      </p:sp>
      <p:sp>
        <p:nvSpPr>
          <p:cNvPr id="18" name="矩形 17"/>
          <p:cNvSpPr/>
          <p:nvPr/>
        </p:nvSpPr>
        <p:spPr>
          <a:xfrm>
            <a:off x="3563620" y="4483735"/>
            <a:ext cx="7472680" cy="429895"/>
          </a:xfrm>
          <a:prstGeom prst="rect">
            <a:avLst/>
          </a:prstGeom>
        </p:spPr>
        <p:txBody>
          <a:bodyPr wrap="square">
            <a:spAutoFit/>
          </a:bodyPr>
          <a:lstStyle/>
          <a:p>
            <a:r>
              <a:rPr lang="zh-CN" altLang="en-US" sz="2200" kern="100" dirty="0">
                <a:solidFill>
                  <a:schemeClr val="tx1"/>
                </a:solidFill>
                <a:latin typeface="+mn-ea"/>
                <a:cs typeface="Times New Roman" panose="02020603050405020304" pitchFamily="18" charset="0"/>
              </a:rPr>
              <a:t>运用回归算法解决现实问题</a:t>
            </a:r>
            <a:endParaRPr sz="2200" kern="100" dirty="0">
              <a:solidFill>
                <a:schemeClr val="tx1"/>
              </a:solidFill>
              <a:latin typeface="+mn-ea"/>
              <a:cs typeface="Times New Roman" panose="02020603050405020304" pitchFamily="18" charset="0"/>
            </a:endParaRPr>
          </a:p>
        </p:txBody>
      </p:sp>
      <p:sp>
        <p:nvSpPr>
          <p:cNvPr id="13" name="矩形 12"/>
          <p:cNvSpPr/>
          <p:nvPr/>
        </p:nvSpPr>
        <p:spPr>
          <a:xfrm>
            <a:off x="3281045" y="3037840"/>
            <a:ext cx="294005" cy="2159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14" name="矩形 13"/>
          <p:cNvSpPr/>
          <p:nvPr/>
        </p:nvSpPr>
        <p:spPr>
          <a:xfrm>
            <a:off x="3281045" y="3808095"/>
            <a:ext cx="294005" cy="2159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sp>
        <p:nvSpPr>
          <p:cNvPr id="15" name="矩形 14"/>
          <p:cNvSpPr/>
          <p:nvPr/>
        </p:nvSpPr>
        <p:spPr>
          <a:xfrm>
            <a:off x="3281045" y="4583430"/>
            <a:ext cx="294005" cy="2159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pic>
        <p:nvPicPr>
          <p:cNvPr id="32" name="图片 13"/>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 name="组合 32"/>
          <p:cNvGrpSpPr/>
          <p:nvPr/>
        </p:nvGrpSpPr>
        <p:grpSpPr bwMode="auto">
          <a:xfrm>
            <a:off x="900429" y="331471"/>
            <a:ext cx="4606295" cy="562893"/>
            <a:chOff x="741237" y="379886"/>
            <a:chExt cx="2437777" cy="480222"/>
          </a:xfrm>
        </p:grpSpPr>
        <p:sp>
          <p:nvSpPr>
            <p:cNvPr id="34" name="矩形 33"/>
            <p:cNvSpPr/>
            <p:nvPr>
              <p:custDataLst>
                <p:tags r:id="rId3"/>
              </p:custDataLst>
            </p:nvPr>
          </p:nvSpPr>
          <p:spPr>
            <a:xfrm>
              <a:off x="741237" y="379886"/>
              <a:ext cx="2229753" cy="479980"/>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35" name="组合 16"/>
            <p:cNvGrpSpPr/>
            <p:nvPr/>
          </p:nvGrpSpPr>
          <p:grpSpPr bwMode="auto">
            <a:xfrm>
              <a:off x="741239" y="397221"/>
              <a:ext cx="2437775" cy="462887"/>
              <a:chOff x="741239" y="397221"/>
              <a:chExt cx="2437775" cy="462887"/>
            </a:xfrm>
          </p:grpSpPr>
          <p:sp>
            <p:nvSpPr>
              <p:cNvPr id="36" name="文本框 35"/>
              <p:cNvSpPr txBox="1"/>
              <p:nvPr>
                <p:custDataLst>
                  <p:tags r:id="rId4"/>
                </p:custDataLst>
              </p:nvPr>
            </p:nvSpPr>
            <p:spPr>
              <a:xfrm>
                <a:off x="1497373" y="414798"/>
                <a:ext cx="1681641" cy="445310"/>
              </a:xfrm>
              <a:prstGeom prst="rect">
                <a:avLst/>
              </a:prstGeom>
              <a:noFill/>
            </p:spPr>
            <p:txBody>
              <a:bodyPr wrap="square">
                <a:spAutoFit/>
              </a:bodyPr>
              <a:lstStyle/>
              <a:p>
                <a:pPr algn="l" eaLnBrk="1" fontAlgn="auto" hangingPunct="1">
                  <a:spcBef>
                    <a:spcPts val="0"/>
                  </a:spcBef>
                  <a:spcAft>
                    <a:spcPts val="0"/>
                  </a:spcAft>
                  <a:defRPr/>
                </a:pPr>
                <a:r>
                  <a:rPr lang="zh-CN" altLang="en-US" sz="2800" b="1" kern="100" spc="100" dirty="0">
                    <a:solidFill>
                      <a:srgbClr val="0277BD"/>
                    </a:solidFill>
                    <a:uFillTx/>
                    <a:latin typeface="+mn-lt"/>
                    <a:ea typeface="+mn-ea"/>
                    <a:cs typeface="+mn-ea"/>
                    <a:sym typeface="+mn-ea"/>
                  </a:rPr>
                  <a:t>机器学习算法</a:t>
                </a:r>
                <a:endParaRPr lang="zh-CN" altLang="en-US" sz="2800" b="1" kern="100" spc="100" dirty="0">
                  <a:solidFill>
                    <a:srgbClr val="0277BD"/>
                  </a:solidFill>
                  <a:uFillTx/>
                  <a:latin typeface="+mn-lt"/>
                  <a:ea typeface="+mn-ea"/>
                  <a:cs typeface="+mn-ea"/>
                  <a:sym typeface="+mn-ea"/>
                </a:endParaRPr>
              </a:p>
            </p:txBody>
          </p:sp>
          <p:sp>
            <p:nvSpPr>
              <p:cNvPr id="37" name="矩形 36"/>
              <p:cNvSpPr/>
              <p:nvPr>
                <p:custDataLst>
                  <p:tags r:id="rId5"/>
                </p:custDataLst>
              </p:nvPr>
            </p:nvSpPr>
            <p:spPr>
              <a:xfrm>
                <a:off x="741239" y="397221"/>
                <a:ext cx="1843957" cy="445310"/>
              </a:xfrm>
              <a:prstGeom prst="rect">
                <a:avLst/>
              </a:prstGeom>
              <a:effectLst/>
            </p:spPr>
            <p:txBody>
              <a:bodyPr wrap="square">
                <a:spAutoFit/>
              </a:bodyPr>
              <a:lstStyle/>
              <a:p>
                <a:pPr algn="l" eaLnBrk="1" fontAlgn="auto" hangingPunct="1">
                  <a:spcBef>
                    <a:spcPts val="0"/>
                  </a:spcBef>
                  <a:spcAft>
                    <a:spcPts val="0"/>
                  </a:spcAft>
                  <a:buClrTx/>
                  <a:buSzTx/>
                  <a:buFontTx/>
                  <a:defRPr/>
                </a:pPr>
                <a:r>
                  <a:rPr lang="en-US" altLang="zh-CN" sz="2800" b="1" spc="200" dirty="0">
                    <a:solidFill>
                      <a:schemeClr val="bg1"/>
                    </a:solidFill>
                    <a:uFillTx/>
                    <a:latin typeface="+mn-lt"/>
                    <a:ea typeface="+mn-ea"/>
                    <a:cs typeface="+mn-ea"/>
                    <a:sym typeface="+mn-ea"/>
                  </a:rPr>
                  <a:t>第10章</a:t>
                </a:r>
                <a:r>
                  <a:rPr lang="en-US" altLang="zh-CN" sz="2800" b="1" spc="100" dirty="0">
                    <a:solidFill>
                      <a:schemeClr val="bg1"/>
                    </a:solidFill>
                    <a:uFillTx/>
                    <a:latin typeface="+mn-lt"/>
                    <a:ea typeface="+mn-ea"/>
                    <a:cs typeface="+mn-ea"/>
                    <a:sym typeface="+mn-ea"/>
                  </a:rPr>
                  <a:t> </a:t>
                </a:r>
                <a:endParaRPr lang="en-US" altLang="zh-CN" sz="2800" b="1" spc="100" dirty="0">
                  <a:solidFill>
                    <a:schemeClr val="bg1"/>
                  </a:solidFill>
                  <a:uFillTx/>
                  <a:latin typeface="+mn-lt"/>
                  <a:ea typeface="+mn-ea"/>
                  <a:cs typeface="+mn-ea"/>
                  <a:sym typeface="+mn-ea"/>
                </a:endParaRPr>
              </a:p>
            </p:txBody>
          </p:sp>
        </p:grpSp>
      </p:grpSp>
      <p:pic>
        <p:nvPicPr>
          <p:cNvPr id="4" name="图片 3" descr="江西科技学院信息工程学院-01"/>
          <p:cNvPicPr>
            <a:picLocks noChangeAspect="1"/>
          </p:cNvPicPr>
          <p:nvPr>
            <p:custDataLst>
              <p:tags r:id="rId6"/>
            </p:custDataLst>
          </p:nvPr>
        </p:nvPicPr>
        <p:blipFill>
          <a:blip r:embed="rId7"/>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6450013" y="3268980"/>
            <a:ext cx="5575935" cy="20320"/>
          </a:xfrm>
          <a:prstGeom prst="line">
            <a:avLst/>
          </a:prstGeom>
          <a:ln w="76200">
            <a:solidFill>
              <a:srgbClr val="1F557C"/>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0330" y="3465830"/>
            <a:ext cx="5594350" cy="1210945"/>
          </a:xfrm>
          <a:prstGeom prst="rect">
            <a:avLst/>
          </a:prstGeom>
          <a:solidFill>
            <a:srgbClr val="84AD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6" name="文本框 5"/>
          <p:cNvSpPr txBox="1"/>
          <p:nvPr/>
        </p:nvSpPr>
        <p:spPr>
          <a:xfrm>
            <a:off x="6450013" y="3590657"/>
            <a:ext cx="5545455" cy="961289"/>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2000" b="1" dirty="0">
                <a:solidFill>
                  <a:schemeClr val="bg1"/>
                </a:solidFill>
                <a:latin typeface="+mn-lt"/>
                <a:ea typeface="+mn-ea"/>
                <a:cs typeface="+mn-ea"/>
                <a:sym typeface="+mn-lt"/>
              </a:rPr>
              <a:t>一种预测性的分析技术，它研究的是因变量（目标）和自变量（预测器）之间的</a:t>
            </a:r>
            <a:r>
              <a:rPr lang="zh-CN" altLang="en-US" sz="2000" b="1" dirty="0">
                <a:solidFill>
                  <a:srgbClr val="FF0000"/>
                </a:solidFill>
                <a:latin typeface="+mn-lt"/>
                <a:ea typeface="+mn-ea"/>
                <a:cs typeface="+mn-ea"/>
                <a:sym typeface="+mn-lt"/>
              </a:rPr>
              <a:t>关系</a:t>
            </a:r>
            <a:r>
              <a:rPr lang="zh-CN" altLang="en-US" sz="2000" b="1" dirty="0">
                <a:solidFill>
                  <a:schemeClr val="bg1"/>
                </a:solidFill>
                <a:latin typeface="+mn-lt"/>
                <a:ea typeface="+mn-ea"/>
                <a:cs typeface="+mn-ea"/>
                <a:sym typeface="+mn-lt"/>
              </a:rPr>
              <a:t>。</a:t>
            </a:r>
            <a:endParaRPr lang="zh-CN" altLang="en-US" sz="2000" b="1" dirty="0">
              <a:solidFill>
                <a:schemeClr val="bg1"/>
              </a:solidFill>
              <a:latin typeface="+mn-lt"/>
              <a:ea typeface="+mn-ea"/>
              <a:cs typeface="+mn-ea"/>
              <a:sym typeface="+mn-lt"/>
            </a:endParaRPr>
          </a:p>
        </p:txBody>
      </p:sp>
      <p:sp>
        <p:nvSpPr>
          <p:cNvPr id="26" name="文本框 25"/>
          <p:cNvSpPr txBox="1"/>
          <p:nvPr/>
        </p:nvSpPr>
        <p:spPr>
          <a:xfrm>
            <a:off x="6324600" y="2341880"/>
            <a:ext cx="6001385" cy="825419"/>
          </a:xfrm>
          <a:prstGeom prst="rect">
            <a:avLst/>
          </a:prstGeom>
          <a:noFill/>
        </p:spPr>
        <p:txBody>
          <a:bodyPr wrap="square">
            <a:spAutoFit/>
          </a:bodyPr>
          <a:lstStyle/>
          <a:p>
            <a:pPr algn="l" eaLnBrk="1" fontAlgn="auto" hangingPunct="1">
              <a:lnSpc>
                <a:spcPct val="150000"/>
              </a:lnSpc>
              <a:spcBef>
                <a:spcPts val="0"/>
              </a:spcBef>
              <a:spcAft>
                <a:spcPts val="0"/>
              </a:spcAft>
              <a:buClrTx/>
              <a:buSzTx/>
              <a:buFontTx/>
              <a:defRPr/>
            </a:pPr>
            <a:r>
              <a:rPr lang="zh-CN" altLang="en-US" sz="3600" b="1" dirty="0">
                <a:solidFill>
                  <a:schemeClr val="tx1"/>
                </a:solidFill>
                <a:latin typeface="+mn-lt"/>
                <a:ea typeface="+mn-ea"/>
                <a:cs typeface="+mn-ea"/>
                <a:sym typeface="+mn-ea"/>
              </a:rPr>
              <a:t>回归分析的概念与分类</a:t>
            </a:r>
            <a:endParaRPr lang="zh-CN" altLang="en-US" sz="3600" b="1" dirty="0">
              <a:solidFill>
                <a:schemeClr val="tx1"/>
              </a:solidFill>
              <a:latin typeface="+mn-lt"/>
              <a:ea typeface="+mn-ea"/>
              <a:cs typeface="+mn-ea"/>
              <a:sym typeface="+mn-ea"/>
            </a:endParaRPr>
          </a:p>
        </p:txBody>
      </p:sp>
      <p:sp>
        <p:nvSpPr>
          <p:cNvPr id="3" name="椭圆 2"/>
          <p:cNvSpPr/>
          <p:nvPr/>
        </p:nvSpPr>
        <p:spPr>
          <a:xfrm>
            <a:off x="2319338" y="1179513"/>
            <a:ext cx="3973512" cy="397351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50184"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3163" y="598488"/>
            <a:ext cx="7134226" cy="533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3575050" y="2444750"/>
            <a:ext cx="2844800" cy="1847850"/>
          </a:xfrm>
          <a:prstGeom prst="rect">
            <a:avLst/>
          </a:prstGeom>
          <a:noFill/>
          <a:effectLst>
            <a:outerShdw blurRad="50800" dist="38100" dir="5400000" algn="t" rotWithShape="0">
              <a:prstClr val="black">
                <a:alpha val="40000"/>
              </a:prstClr>
            </a:outerShdw>
          </a:effectLst>
        </p:spPr>
        <p:txBody>
          <a:bodyPr>
            <a:spAutoFit/>
          </a:bodyPr>
          <a:lstStyle/>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PART  </a:t>
            </a:r>
            <a:endParaRPr lang="en-US" altLang="zh-CN" sz="5500" b="1" dirty="0">
              <a:solidFill>
                <a:schemeClr val="bg1"/>
              </a:solidFill>
              <a:latin typeface="+mn-lt"/>
              <a:ea typeface="+mn-ea"/>
              <a:cs typeface="+mn-ea"/>
              <a:sym typeface="+mn-lt"/>
            </a:endParaRPr>
          </a:p>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ONE</a:t>
            </a:r>
            <a:endParaRPr lang="en-US" altLang="zh-CN" sz="5500" b="1" dirty="0">
              <a:solidFill>
                <a:schemeClr val="bg1"/>
              </a:solidFill>
              <a:latin typeface="+mn-lt"/>
              <a:ea typeface="+mn-ea"/>
              <a:cs typeface="+mn-ea"/>
              <a:sym typeface="+mn-lt"/>
            </a:endParaRPr>
          </a:p>
        </p:txBody>
      </p:sp>
      <p:pic>
        <p:nvPicPr>
          <p:cNvPr id="2" name="图片 1" descr="江西科技学院信息工程学院-01"/>
          <p:cNvPicPr>
            <a:picLocks noChangeAspect="1"/>
          </p:cNvPicPr>
          <p:nvPr>
            <p:custDataLst>
              <p:tags r:id="rId2"/>
            </p:custDataLst>
          </p:nvPr>
        </p:nvPicPr>
        <p:blipFill>
          <a:blip r:embed="rId3"/>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animEffect transition="in" filter="wipe(left)">
                                      <p:cBhvr>
                                        <p:cTn id="15" dur="500"/>
                                        <p:tgtEl>
                                          <p:spTgt spid="30">
                                            <p:txEl>
                                              <p:pRg st="0" end="0"/>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0">
                                            <p:txEl>
                                              <p:pRg st="1" end="1"/>
                                            </p:txEl>
                                          </p:spTgt>
                                        </p:tgtEl>
                                        <p:attrNameLst>
                                          <p:attrName>style.visibility</p:attrName>
                                        </p:attrNameLst>
                                      </p:cBhvr>
                                      <p:to>
                                        <p:strVal val="visible"/>
                                      </p:to>
                                    </p:set>
                                    <p:animEffect transition="in" filter="wipe(left)">
                                      <p:cBhvr>
                                        <p:cTn id="18" dur="500"/>
                                        <p:tgtEl>
                                          <p:spTgt spid="3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p:tgtEl>
                                          <p:spTgt spid="6"/>
                                        </p:tgtEl>
                                        <p:attrNameLst>
                                          <p:attrName>ppt_y</p:attrName>
                                        </p:attrNameLst>
                                      </p:cBhvr>
                                      <p:tavLst>
                                        <p:tav tm="0">
                                          <p:val>
                                            <p:strVal val="#ppt_y+#ppt_h*1.125000"/>
                                          </p:val>
                                        </p:tav>
                                        <p:tav tm="100000">
                                          <p:val>
                                            <p:strVal val="#ppt_y"/>
                                          </p:val>
                                        </p:tav>
                                      </p:tavLst>
                                    </p:anim>
                                    <p:animEffect transition="in" filter="wipe(up)">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31" name="文本框 30"/>
          <p:cNvSpPr txBox="1"/>
          <p:nvPr/>
        </p:nvSpPr>
        <p:spPr>
          <a:xfrm>
            <a:off x="7623175" y="2079625"/>
            <a:ext cx="3929063" cy="3046095"/>
          </a:xfrm>
          <a:prstGeom prst="rect">
            <a:avLst/>
          </a:prstGeom>
          <a:noFill/>
        </p:spPr>
        <p:txBody>
          <a:bodyPr>
            <a:spAutoFit/>
          </a:bodyPr>
          <a:lstStyle/>
          <a:p>
            <a:pPr eaLnBrk="1" fontAlgn="auto" hangingPunct="1">
              <a:spcBef>
                <a:spcPts val="0"/>
              </a:spcBef>
              <a:spcAft>
                <a:spcPts val="0"/>
              </a:spcAft>
              <a:defRPr/>
            </a:pPr>
            <a:r>
              <a:rPr kumimoji="1" lang="en-US" altLang="zh-CN" sz="6600" b="1" dirty="0">
                <a:solidFill>
                  <a:schemeClr val="bg1"/>
                </a:solidFill>
                <a:latin typeface="+mn-lt"/>
                <a:ea typeface="+mn-ea"/>
                <a:cs typeface="+mn-ea"/>
                <a:sym typeface="+mn-lt"/>
              </a:rPr>
              <a:t>“HELLO</a:t>
            </a:r>
            <a:endParaRPr kumimoji="1" lang="en-US" altLang="zh-CN" sz="6600" b="1" dirty="0">
              <a:solidFill>
                <a:schemeClr val="bg1"/>
              </a:solidFill>
              <a:latin typeface="+mn-lt"/>
              <a:ea typeface="+mn-ea"/>
              <a:cs typeface="+mn-ea"/>
              <a:sym typeface="+mn-lt"/>
            </a:endParaRPr>
          </a:p>
          <a:p>
            <a:pPr eaLnBrk="1" fontAlgn="auto" hangingPunct="1">
              <a:spcBef>
                <a:spcPts val="0"/>
              </a:spcBef>
              <a:spcAft>
                <a:spcPts val="0"/>
              </a:spcAft>
              <a:defRPr/>
            </a:pPr>
            <a:endParaRPr kumimoji="1" lang="en-US" altLang="zh-CN" sz="6600" b="1" dirty="0">
              <a:solidFill>
                <a:schemeClr val="bg1"/>
              </a:solidFill>
              <a:latin typeface="+mn-lt"/>
              <a:ea typeface="+mn-ea"/>
              <a:cs typeface="+mn-ea"/>
              <a:sym typeface="+mn-lt"/>
            </a:endParaRPr>
          </a:p>
          <a:p>
            <a:pPr algn="r" eaLnBrk="1" fontAlgn="auto" hangingPunct="1">
              <a:spcBef>
                <a:spcPts val="0"/>
              </a:spcBef>
              <a:spcAft>
                <a:spcPts val="0"/>
              </a:spcAft>
              <a:defRPr/>
            </a:pPr>
            <a:r>
              <a:rPr kumimoji="1" lang="en-US" altLang="zh-CN" sz="4400" b="1" dirty="0">
                <a:solidFill>
                  <a:schemeClr val="bg1"/>
                </a:solidFill>
                <a:latin typeface="+mn-lt"/>
                <a:ea typeface="+mn-ea"/>
                <a:cs typeface="+mn-ea"/>
                <a:sym typeface="+mn-lt"/>
              </a:rPr>
              <a:t>  </a:t>
            </a:r>
            <a:r>
              <a:rPr kumimoji="1" lang="en-US" altLang="zh-CN" sz="6000" b="1" dirty="0">
                <a:solidFill>
                  <a:schemeClr val="bg1"/>
                </a:solidFill>
                <a:latin typeface="+mn-lt"/>
                <a:ea typeface="+mn-ea"/>
                <a:cs typeface="+mn-ea"/>
                <a:sym typeface="+mn-lt"/>
              </a:rPr>
              <a:t>Python”</a:t>
            </a:r>
            <a:endParaRPr kumimoji="1" lang="zh-CN" altLang="en-US" sz="4400" b="1" dirty="0">
              <a:solidFill>
                <a:schemeClr val="bg1"/>
              </a:solidFill>
              <a:latin typeface="+mn-lt"/>
              <a:ea typeface="+mn-ea"/>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75173" y="478155"/>
            <a:ext cx="4255135" cy="466725"/>
            <a:chOff x="980570" y="478485"/>
            <a:chExt cx="4992591" cy="465698"/>
          </a:xfrm>
        </p:grpSpPr>
        <p:sp>
          <p:nvSpPr>
            <p:cNvPr id="41" name="矩形 40"/>
            <p:cNvSpPr/>
            <p:nvPr/>
          </p:nvSpPr>
          <p:spPr>
            <a:xfrm>
              <a:off x="980570" y="478485"/>
              <a:ext cx="499259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84714" y="484821"/>
              <a:ext cx="4788447" cy="459362"/>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回归分析概念</a:t>
              </a:r>
              <a:endParaRPr lang="zh-CN" altLang="en-US" sz="2400" b="1" dirty="0">
                <a:solidFill>
                  <a:srgbClr val="0277BD"/>
                </a:solidFill>
                <a:latin typeface="+mn-lt"/>
                <a:ea typeface="+mn-ea"/>
                <a:cs typeface="+mn-ea"/>
                <a:sym typeface="+mn-lt"/>
              </a:endParaRPr>
            </a:p>
          </p:txBody>
        </p:sp>
      </p:grpSp>
      <p:sp>
        <p:nvSpPr>
          <p:cNvPr id="51" name="矩形 50"/>
          <p:cNvSpPr/>
          <p:nvPr/>
        </p:nvSpPr>
        <p:spPr>
          <a:xfrm>
            <a:off x="1028065" y="1710055"/>
            <a:ext cx="10663434" cy="3561192"/>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52" name="Rectangle: Rounded Corners 1"/>
          <p:cNvSpPr/>
          <p:nvPr/>
        </p:nvSpPr>
        <p:spPr>
          <a:xfrm>
            <a:off x="386006" y="1434925"/>
            <a:ext cx="1293375" cy="431918"/>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sz="2200" dirty="0">
                <a:solidFill>
                  <a:schemeClr val="bg1"/>
                </a:solidFill>
              </a:rPr>
              <a:t>基本概念</a:t>
            </a:r>
            <a:endParaRPr lang="zh-CN" altLang="en-US" sz="2200" dirty="0">
              <a:solidFill>
                <a:schemeClr val="bg1"/>
              </a:solidFill>
            </a:endParaRPr>
          </a:p>
        </p:txBody>
      </p:sp>
      <p:sp>
        <p:nvSpPr>
          <p:cNvPr id="53" name="矩形 52"/>
          <p:cNvSpPr/>
          <p:nvPr/>
        </p:nvSpPr>
        <p:spPr>
          <a:xfrm>
            <a:off x="1149163" y="2422313"/>
            <a:ext cx="10261600" cy="1556003"/>
          </a:xfrm>
          <a:prstGeom prst="rect">
            <a:avLst/>
          </a:prstGeom>
        </p:spPr>
        <p:txBody>
          <a:bodyPr wrap="square">
            <a:spAutoFit/>
          </a:bodyPr>
          <a:lstStyle/>
          <a:p>
            <a:pPr algn="just">
              <a:lnSpc>
                <a:spcPct val="150000"/>
              </a:lnSpc>
            </a:pPr>
            <a:r>
              <a:rPr lang="en-US" altLang="zh-CN" sz="2200" dirty="0">
                <a:sym typeface="+mn-ea"/>
              </a:rPr>
              <a:t>	</a:t>
            </a:r>
            <a:r>
              <a:rPr lang="zh-CN" altLang="en-US" sz="2200" dirty="0">
                <a:sym typeface="+mn-ea"/>
              </a:rPr>
              <a:t>回归分析预测法，是在分析市场现象自变量和因变量之间相关关系的基础上，建立变量之间的回归方程，并将回归方程作为预测模型，根据自变量在预测期的数量变化来预测因变量关系大多表现为相关关系。</a:t>
            </a:r>
            <a:endParaRPr lang="zh-CN" altLang="en-US" sz="2200" dirty="0">
              <a:sym typeface="+mn-ea"/>
            </a:endParaRPr>
          </a:p>
        </p:txBody>
      </p:sp>
      <p:pic>
        <p:nvPicPr>
          <p:cNvPr id="8" name="Picture 3" descr="D:\Teliss_Tong\Copy\定期备份\工作备份\！PPT图片及版面资源\06-PPT精选插图\04-图标\BE2B91485291AEB7B04B1F1F2B4A2632.png"/>
          <p:cNvPicPr>
            <a:picLocks noChangeAspect="1" noChangeArrowheads="1"/>
          </p:cNvPicPr>
          <p:nvPr/>
        </p:nvPicPr>
        <p:blipFill>
          <a:blip r:embed="rId2" cstate="screen"/>
          <a:srcRect/>
          <a:stretch>
            <a:fillRect/>
          </a:stretch>
        </p:blipFill>
        <p:spPr bwMode="auto">
          <a:xfrm>
            <a:off x="11075049" y="4651291"/>
            <a:ext cx="651210" cy="65121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wipe(left)">
                                      <p:cBhvr>
                                        <p:cTn id="14" dur="250"/>
                                        <p:tgtEl>
                                          <p:spTgt spid="3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31" name="文本框 30"/>
          <p:cNvSpPr txBox="1"/>
          <p:nvPr/>
        </p:nvSpPr>
        <p:spPr>
          <a:xfrm>
            <a:off x="7623175" y="2079625"/>
            <a:ext cx="3929063" cy="3046095"/>
          </a:xfrm>
          <a:prstGeom prst="rect">
            <a:avLst/>
          </a:prstGeom>
          <a:noFill/>
        </p:spPr>
        <p:txBody>
          <a:bodyPr>
            <a:spAutoFit/>
          </a:bodyPr>
          <a:lstStyle/>
          <a:p>
            <a:pPr eaLnBrk="1" fontAlgn="auto" hangingPunct="1">
              <a:spcBef>
                <a:spcPts val="0"/>
              </a:spcBef>
              <a:spcAft>
                <a:spcPts val="0"/>
              </a:spcAft>
              <a:defRPr/>
            </a:pPr>
            <a:r>
              <a:rPr kumimoji="1" lang="en-US" altLang="zh-CN" sz="6600" b="1" dirty="0">
                <a:solidFill>
                  <a:schemeClr val="bg1"/>
                </a:solidFill>
                <a:latin typeface="+mn-lt"/>
                <a:ea typeface="+mn-ea"/>
                <a:cs typeface="+mn-ea"/>
                <a:sym typeface="+mn-lt"/>
              </a:rPr>
              <a:t>“HELLO</a:t>
            </a:r>
            <a:endParaRPr kumimoji="1" lang="en-US" altLang="zh-CN" sz="6600" b="1" dirty="0">
              <a:solidFill>
                <a:schemeClr val="bg1"/>
              </a:solidFill>
              <a:latin typeface="+mn-lt"/>
              <a:ea typeface="+mn-ea"/>
              <a:cs typeface="+mn-ea"/>
              <a:sym typeface="+mn-lt"/>
            </a:endParaRPr>
          </a:p>
          <a:p>
            <a:pPr eaLnBrk="1" fontAlgn="auto" hangingPunct="1">
              <a:spcBef>
                <a:spcPts val="0"/>
              </a:spcBef>
              <a:spcAft>
                <a:spcPts val="0"/>
              </a:spcAft>
              <a:defRPr/>
            </a:pPr>
            <a:endParaRPr kumimoji="1" lang="en-US" altLang="zh-CN" sz="6600" b="1" dirty="0">
              <a:solidFill>
                <a:schemeClr val="bg1"/>
              </a:solidFill>
              <a:latin typeface="+mn-lt"/>
              <a:ea typeface="+mn-ea"/>
              <a:cs typeface="+mn-ea"/>
              <a:sym typeface="+mn-lt"/>
            </a:endParaRPr>
          </a:p>
          <a:p>
            <a:pPr algn="r" eaLnBrk="1" fontAlgn="auto" hangingPunct="1">
              <a:spcBef>
                <a:spcPts val="0"/>
              </a:spcBef>
              <a:spcAft>
                <a:spcPts val="0"/>
              </a:spcAft>
              <a:defRPr/>
            </a:pPr>
            <a:r>
              <a:rPr kumimoji="1" lang="en-US" altLang="zh-CN" sz="4400" b="1" dirty="0">
                <a:solidFill>
                  <a:schemeClr val="bg1"/>
                </a:solidFill>
                <a:latin typeface="+mn-lt"/>
                <a:ea typeface="+mn-ea"/>
                <a:cs typeface="+mn-ea"/>
                <a:sym typeface="+mn-lt"/>
              </a:rPr>
              <a:t>  </a:t>
            </a:r>
            <a:r>
              <a:rPr kumimoji="1" lang="en-US" altLang="zh-CN" sz="6000" b="1" dirty="0">
                <a:solidFill>
                  <a:schemeClr val="bg1"/>
                </a:solidFill>
                <a:latin typeface="+mn-lt"/>
                <a:ea typeface="+mn-ea"/>
                <a:cs typeface="+mn-ea"/>
                <a:sym typeface="+mn-lt"/>
              </a:rPr>
              <a:t>Python”</a:t>
            </a:r>
            <a:endParaRPr kumimoji="1" lang="zh-CN" altLang="en-US" sz="4400" b="1" dirty="0">
              <a:solidFill>
                <a:schemeClr val="bg1"/>
              </a:solidFill>
              <a:latin typeface="+mn-lt"/>
              <a:ea typeface="+mn-ea"/>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75173" y="478155"/>
            <a:ext cx="4255135" cy="466725"/>
            <a:chOff x="980570" y="478485"/>
            <a:chExt cx="4992591" cy="465698"/>
          </a:xfrm>
        </p:grpSpPr>
        <p:sp>
          <p:nvSpPr>
            <p:cNvPr id="41" name="矩形 40"/>
            <p:cNvSpPr/>
            <p:nvPr/>
          </p:nvSpPr>
          <p:spPr>
            <a:xfrm>
              <a:off x="980570" y="478485"/>
              <a:ext cx="499259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84714" y="484821"/>
              <a:ext cx="4788447" cy="459362"/>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为什么要使用回归分析？</a:t>
              </a:r>
              <a:endParaRPr lang="zh-CN" altLang="en-US" sz="2400" b="1" dirty="0">
                <a:solidFill>
                  <a:srgbClr val="0277BD"/>
                </a:solidFill>
                <a:latin typeface="+mn-lt"/>
                <a:ea typeface="+mn-ea"/>
                <a:cs typeface="+mn-ea"/>
                <a:sym typeface="+mn-lt"/>
              </a:endParaRPr>
            </a:p>
          </p:txBody>
        </p:sp>
      </p:grpSp>
      <p:sp>
        <p:nvSpPr>
          <p:cNvPr id="51" name="矩形 50"/>
          <p:cNvSpPr/>
          <p:nvPr/>
        </p:nvSpPr>
        <p:spPr>
          <a:xfrm>
            <a:off x="1028065" y="1710055"/>
            <a:ext cx="10663434" cy="3561192"/>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53" name="矩形 52"/>
          <p:cNvSpPr/>
          <p:nvPr/>
        </p:nvSpPr>
        <p:spPr>
          <a:xfrm>
            <a:off x="1244600" y="2807270"/>
            <a:ext cx="10261600" cy="1556003"/>
          </a:xfrm>
          <a:prstGeom prst="rect">
            <a:avLst/>
          </a:prstGeom>
        </p:spPr>
        <p:txBody>
          <a:bodyPr wrap="square">
            <a:spAutoFit/>
          </a:bodyPr>
          <a:lstStyle/>
          <a:p>
            <a:pPr algn="just">
              <a:lnSpc>
                <a:spcPct val="150000"/>
              </a:lnSpc>
            </a:pPr>
            <a:r>
              <a:rPr lang="en-US" altLang="zh-CN" sz="2200" dirty="0">
                <a:sym typeface="+mn-ea"/>
              </a:rPr>
              <a:t>	</a:t>
            </a:r>
            <a:r>
              <a:rPr lang="zh-CN" altLang="en-US" sz="2200" dirty="0">
                <a:sym typeface="+mn-ea"/>
              </a:rPr>
              <a:t>回归分析估计了两个或多个变量之间的关系。在解决问题时，使用分析方法找到了问题发生的多种原因；在决策阶段，可以利用“回归分析”来计算出某个原因能够对目标造成“多大程度”的影响，从而合理分配资源。</a:t>
            </a:r>
            <a:endParaRPr lang="en-US" altLang="zh-CN" sz="2200" dirty="0">
              <a:sym typeface="+mn-ea"/>
            </a:endParaRPr>
          </a:p>
        </p:txBody>
      </p:sp>
      <p:pic>
        <p:nvPicPr>
          <p:cNvPr id="3" name="Picture 2"/>
          <p:cNvPicPr>
            <a:picLocks noChangeAspect="1"/>
          </p:cNvPicPr>
          <p:nvPr/>
        </p:nvPicPr>
        <p:blipFill>
          <a:blip r:embed="rId2"/>
          <a:stretch>
            <a:fillRect/>
          </a:stretch>
        </p:blipFill>
        <p:spPr>
          <a:xfrm>
            <a:off x="330354" y="1262579"/>
            <a:ext cx="1736415" cy="1634091"/>
          </a:xfrm>
          <a:prstGeom prst="rect">
            <a:avLst/>
          </a:prstGeom>
        </p:spPr>
      </p:pic>
      <p:pic>
        <p:nvPicPr>
          <p:cNvPr id="2" name="图片 1"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wipe(left)">
                                      <p:cBhvr>
                                        <p:cTn id="14"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1028065" y="1710055"/>
            <a:ext cx="10663434" cy="3561192"/>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pic>
        <p:nvPicPr>
          <p:cNvPr id="5" name="Picture 4"/>
          <p:cNvPicPr>
            <a:picLocks noChangeAspect="1"/>
          </p:cNvPicPr>
          <p:nvPr/>
        </p:nvPicPr>
        <p:blipFill>
          <a:blip r:embed="rId1"/>
          <a:stretch>
            <a:fillRect/>
          </a:stretch>
        </p:blipFill>
        <p:spPr>
          <a:xfrm>
            <a:off x="8670676" y="3729279"/>
            <a:ext cx="3434581" cy="2795869"/>
          </a:xfrm>
          <a:prstGeom prst="rect">
            <a:avLst/>
          </a:prstGeom>
        </p:spPr>
      </p:pic>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75173" y="478155"/>
            <a:ext cx="4255135" cy="466725"/>
            <a:chOff x="980570" y="478485"/>
            <a:chExt cx="4992591" cy="465698"/>
          </a:xfrm>
        </p:grpSpPr>
        <p:sp>
          <p:nvSpPr>
            <p:cNvPr id="41" name="矩形 40"/>
            <p:cNvSpPr/>
            <p:nvPr/>
          </p:nvSpPr>
          <p:spPr>
            <a:xfrm>
              <a:off x="980570" y="478485"/>
              <a:ext cx="499259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84714" y="484821"/>
              <a:ext cx="4788447" cy="459362"/>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回归分析分类</a:t>
              </a:r>
              <a:endParaRPr lang="zh-CN" altLang="en-US" sz="2400" b="1" dirty="0">
                <a:solidFill>
                  <a:srgbClr val="0277BD"/>
                </a:solidFill>
                <a:latin typeface="+mn-lt"/>
                <a:ea typeface="+mn-ea"/>
                <a:cs typeface="+mn-ea"/>
                <a:sym typeface="+mn-lt"/>
              </a:endParaRPr>
            </a:p>
          </p:txBody>
        </p:sp>
      </p:grpSp>
      <p:sp>
        <p:nvSpPr>
          <p:cNvPr id="52" name="Rectangle: Rounded Corners 1"/>
          <p:cNvSpPr/>
          <p:nvPr/>
        </p:nvSpPr>
        <p:spPr>
          <a:xfrm>
            <a:off x="386006" y="1434925"/>
            <a:ext cx="1293375" cy="431918"/>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sz="2200" dirty="0">
                <a:solidFill>
                  <a:schemeClr val="bg1"/>
                </a:solidFill>
              </a:rPr>
              <a:t>类别</a:t>
            </a:r>
            <a:endParaRPr lang="zh-CN" altLang="en-US" sz="2200" dirty="0">
              <a:solidFill>
                <a:schemeClr val="bg1"/>
              </a:solidFill>
            </a:endParaRPr>
          </a:p>
        </p:txBody>
      </p:sp>
      <p:sp>
        <p:nvSpPr>
          <p:cNvPr id="4" name="TextBox 3"/>
          <p:cNvSpPr txBox="1"/>
          <p:nvPr/>
        </p:nvSpPr>
        <p:spPr>
          <a:xfrm>
            <a:off x="1423831" y="1866843"/>
            <a:ext cx="10180558" cy="3170099"/>
          </a:xfrm>
          <a:prstGeom prst="rect">
            <a:avLst/>
          </a:prstGeom>
          <a:noFill/>
        </p:spPr>
        <p:txBody>
          <a:bodyPr wrap="square" rtlCol="0">
            <a:spAutoFit/>
          </a:bodyPr>
          <a:lstStyle/>
          <a:p>
            <a:pPr>
              <a:lnSpc>
                <a:spcPct val="150000"/>
              </a:lnSpc>
            </a:pPr>
            <a:r>
              <a:rPr lang="zh-CN" altLang="en-US" sz="2000" b="1" dirty="0">
                <a:solidFill>
                  <a:srgbClr val="2D2D8A"/>
                </a:solidFill>
                <a:effectLst/>
                <a:latin typeface="MicrosoftYaHei-Bold"/>
              </a:rPr>
              <a:t>线性回归（</a:t>
            </a:r>
            <a:r>
              <a:rPr lang="en-US" altLang="zh-CN" sz="2000" b="1" dirty="0">
                <a:solidFill>
                  <a:srgbClr val="2D2D8A"/>
                </a:solidFill>
                <a:effectLst/>
                <a:latin typeface="MicrosoftYaHei-Bold"/>
              </a:rPr>
              <a:t>Linear Regression</a:t>
            </a:r>
            <a:r>
              <a:rPr lang="zh-CN" altLang="en-US" sz="2000" b="1" dirty="0">
                <a:solidFill>
                  <a:srgbClr val="2D2D8A"/>
                </a:solidFill>
                <a:effectLst/>
                <a:latin typeface="MicrosoftYaHei-Bold"/>
              </a:rPr>
              <a:t>）</a:t>
            </a:r>
            <a:r>
              <a:rPr lang="zh-CN" altLang="en-US" sz="2000" b="1" dirty="0">
                <a:solidFill>
                  <a:srgbClr val="000000"/>
                </a:solidFill>
                <a:effectLst/>
                <a:latin typeface="MicrosoftYaHei-Bold"/>
              </a:rPr>
              <a:t>：</a:t>
            </a:r>
            <a:r>
              <a:rPr lang="zh-CN" altLang="en-US" sz="2000" dirty="0">
                <a:solidFill>
                  <a:srgbClr val="000000"/>
                </a:solidFill>
                <a:effectLst/>
                <a:latin typeface="微软雅黑" panose="020B0503020204020204" pitchFamily="34" charset="-122"/>
                <a:ea typeface="微软雅黑" panose="020B0503020204020204" pitchFamily="34" charset="-122"/>
              </a:rPr>
              <a:t>线性回归通常是人们在学习预测模型时首选的技术之一。在这种技术中，因变量是连续的，自变量可以是连续的也可以是离散的，回归线的性质是线性的。它使用最佳的拟合直线（也就是回归线）在因变量（</a:t>
            </a:r>
            <a:r>
              <a:rPr lang="en-US" altLang="zh-CN" sz="2000" dirty="0">
                <a:solidFill>
                  <a:srgbClr val="000000"/>
                </a:solidFill>
                <a:effectLst/>
                <a:latin typeface="微软雅黑" panose="020B0503020204020204" pitchFamily="34" charset="-122"/>
                <a:ea typeface="微软雅黑" panose="020B0503020204020204" pitchFamily="34" charset="-122"/>
              </a:rPr>
              <a:t>Y</a:t>
            </a:r>
            <a:r>
              <a:rPr lang="zh-CN" altLang="en-US" sz="2000" dirty="0">
                <a:solidFill>
                  <a:srgbClr val="000000"/>
                </a:solidFill>
                <a:effectLst/>
                <a:latin typeface="微软雅黑" panose="020B0503020204020204" pitchFamily="34" charset="-122"/>
                <a:ea typeface="微软雅黑" panose="020B0503020204020204" pitchFamily="34" charset="-122"/>
              </a:rPr>
              <a:t>）和一个或多个自变量（</a:t>
            </a:r>
            <a:r>
              <a:rPr lang="en-US" altLang="zh-CN" sz="2000" dirty="0">
                <a:solidFill>
                  <a:srgbClr val="000000"/>
                </a:solidFill>
                <a:effectLst/>
                <a:latin typeface="微软雅黑" panose="020B0503020204020204" pitchFamily="34" charset="-122"/>
                <a:ea typeface="微软雅黑" panose="020B0503020204020204" pitchFamily="34" charset="-122"/>
              </a:rPr>
              <a:t>X</a:t>
            </a:r>
            <a:r>
              <a:rPr lang="zh-CN" altLang="en-US" sz="2000" dirty="0">
                <a:solidFill>
                  <a:srgbClr val="000000"/>
                </a:solidFill>
                <a:effectLst/>
                <a:latin typeface="微软雅黑" panose="020B0503020204020204" pitchFamily="34" charset="-122"/>
                <a:ea typeface="微软雅黑" panose="020B0503020204020204" pitchFamily="34" charset="-122"/>
              </a:rPr>
              <a:t>）之间建立一种关系。</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000000"/>
                </a:solidFill>
                <a:effectLst/>
                <a:latin typeface="微软雅黑" panose="020B0503020204020204" pitchFamily="34" charset="-122"/>
                <a:ea typeface="微软雅黑" panose="020B0503020204020204" pitchFamily="34" charset="-122"/>
              </a:rPr>
              <a:t>Y=</a:t>
            </a:r>
            <a:r>
              <a:rPr lang="en-US" altLang="zh-CN" sz="2000" dirty="0" err="1">
                <a:solidFill>
                  <a:srgbClr val="000000"/>
                </a:solidFill>
                <a:effectLst/>
                <a:latin typeface="微软雅黑" panose="020B0503020204020204" pitchFamily="34" charset="-122"/>
                <a:ea typeface="微软雅黑" panose="020B0503020204020204" pitchFamily="34" charset="-122"/>
              </a:rPr>
              <a:t>a+b</a:t>
            </a:r>
            <a:r>
              <a:rPr lang="en-US" altLang="zh-CN" sz="2000" dirty="0">
                <a:solidFill>
                  <a:srgbClr val="000000"/>
                </a:solidFill>
                <a:effectLst/>
                <a:latin typeface="微软雅黑" panose="020B0503020204020204" pitchFamily="34" charset="-122"/>
                <a:ea typeface="微软雅黑" panose="020B0503020204020204" pitchFamily="34" charset="-122"/>
              </a:rPr>
              <a:t>*X + e</a:t>
            </a:r>
            <a:r>
              <a:rPr lang="zh-CN" altLang="en-US" sz="2000" dirty="0">
                <a:solidFill>
                  <a:srgbClr val="000000"/>
                </a:solidFill>
                <a:effectLst/>
                <a:latin typeface="微软雅黑" panose="020B0503020204020204" pitchFamily="34" charset="-122"/>
                <a:ea typeface="微软雅黑" panose="020B0503020204020204" pitchFamily="34" charset="-122"/>
              </a:rPr>
              <a:t>，其中</a:t>
            </a:r>
            <a:r>
              <a:rPr lang="en-US" altLang="zh-CN" sz="2000" dirty="0">
                <a:solidFill>
                  <a:srgbClr val="000000"/>
                </a:solidFill>
                <a:effectLst/>
                <a:latin typeface="微软雅黑" panose="020B0503020204020204" pitchFamily="34" charset="-122"/>
                <a:ea typeface="微软雅黑" panose="020B0503020204020204" pitchFamily="34" charset="-122"/>
              </a:rPr>
              <a:t>a</a:t>
            </a:r>
            <a:r>
              <a:rPr lang="zh-CN" altLang="en-US" sz="2000" dirty="0">
                <a:solidFill>
                  <a:srgbClr val="000000"/>
                </a:solidFill>
                <a:effectLst/>
                <a:latin typeface="微软雅黑" panose="020B0503020204020204" pitchFamily="34" charset="-122"/>
                <a:ea typeface="微软雅黑" panose="020B0503020204020204" pitchFamily="34" charset="-122"/>
              </a:rPr>
              <a:t>表示截距，</a:t>
            </a:r>
            <a:r>
              <a:rPr lang="en-US" altLang="zh-CN" sz="2000" dirty="0">
                <a:solidFill>
                  <a:srgbClr val="000000"/>
                </a:solidFill>
                <a:effectLst/>
                <a:latin typeface="微软雅黑" panose="020B0503020204020204" pitchFamily="34" charset="-122"/>
                <a:ea typeface="微软雅黑" panose="020B0503020204020204" pitchFamily="34" charset="-122"/>
              </a:rPr>
              <a:t>b</a:t>
            </a:r>
            <a:r>
              <a:rPr lang="zh-CN" altLang="en-US" sz="2000" dirty="0">
                <a:solidFill>
                  <a:srgbClr val="000000"/>
                </a:solidFill>
                <a:effectLst/>
                <a:latin typeface="微软雅黑" panose="020B0503020204020204" pitchFamily="34" charset="-122"/>
                <a:ea typeface="微软雅黑" panose="020B0503020204020204" pitchFamily="34" charset="-122"/>
              </a:rPr>
              <a:t>表示直线的斜率，</a:t>
            </a:r>
            <a:r>
              <a:rPr lang="en-US" altLang="zh-CN" sz="2000" dirty="0">
                <a:solidFill>
                  <a:srgbClr val="000000"/>
                </a:solidFill>
                <a:effectLst/>
                <a:latin typeface="微软雅黑" panose="020B0503020204020204" pitchFamily="34" charset="-122"/>
                <a:ea typeface="微软雅黑" panose="020B0503020204020204" pitchFamily="34" charset="-122"/>
              </a:rPr>
              <a:t>e</a:t>
            </a:r>
            <a:r>
              <a:rPr lang="zh-CN" altLang="en-US" sz="2000" dirty="0">
                <a:solidFill>
                  <a:srgbClr val="000000"/>
                </a:solidFill>
                <a:effectLst/>
                <a:latin typeface="微软雅黑" panose="020B0503020204020204" pitchFamily="34" charset="-122"/>
                <a:ea typeface="微软雅黑" panose="020B0503020204020204" pitchFamily="34" charset="-122"/>
              </a:rPr>
              <a:t>是误差项。</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endParaRPr lang="zh-CN" altLang="en-US" sz="2000" dirty="0"/>
          </a:p>
        </p:txBody>
      </p:sp>
      <p:pic>
        <p:nvPicPr>
          <p:cNvPr id="3" name="图片 2"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1028065" y="1710055"/>
            <a:ext cx="10663434" cy="3641874"/>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pic>
        <p:nvPicPr>
          <p:cNvPr id="3" name="Picture 2"/>
          <p:cNvPicPr>
            <a:picLocks noChangeAspect="1"/>
          </p:cNvPicPr>
          <p:nvPr/>
        </p:nvPicPr>
        <p:blipFill>
          <a:blip r:embed="rId1"/>
          <a:stretch>
            <a:fillRect/>
          </a:stretch>
        </p:blipFill>
        <p:spPr>
          <a:xfrm>
            <a:off x="7718744" y="4153843"/>
            <a:ext cx="4328747" cy="1988203"/>
          </a:xfrm>
          <a:prstGeom prst="rect">
            <a:avLst/>
          </a:prstGeom>
        </p:spPr>
      </p:pic>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75173" y="478155"/>
            <a:ext cx="4255135" cy="466725"/>
            <a:chOff x="980570" y="478485"/>
            <a:chExt cx="4992591" cy="465698"/>
          </a:xfrm>
        </p:grpSpPr>
        <p:sp>
          <p:nvSpPr>
            <p:cNvPr id="41" name="矩形 40"/>
            <p:cNvSpPr/>
            <p:nvPr/>
          </p:nvSpPr>
          <p:spPr>
            <a:xfrm>
              <a:off x="980570" y="478485"/>
              <a:ext cx="499259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84714" y="484821"/>
              <a:ext cx="4788447" cy="459362"/>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回归分析分类</a:t>
              </a:r>
              <a:endParaRPr lang="zh-CN" altLang="en-US" sz="2400" b="1" dirty="0">
                <a:solidFill>
                  <a:srgbClr val="0277BD"/>
                </a:solidFill>
                <a:latin typeface="+mn-lt"/>
                <a:ea typeface="+mn-ea"/>
                <a:cs typeface="+mn-ea"/>
                <a:sym typeface="+mn-lt"/>
              </a:endParaRPr>
            </a:p>
          </p:txBody>
        </p:sp>
      </p:grpSp>
      <p:sp>
        <p:nvSpPr>
          <p:cNvPr id="52" name="Rectangle: Rounded Corners 1"/>
          <p:cNvSpPr/>
          <p:nvPr/>
        </p:nvSpPr>
        <p:spPr>
          <a:xfrm>
            <a:off x="386006" y="1434925"/>
            <a:ext cx="1293375" cy="431918"/>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sz="2200" dirty="0">
                <a:solidFill>
                  <a:schemeClr val="bg1"/>
                </a:solidFill>
              </a:rPr>
              <a:t>类别</a:t>
            </a:r>
            <a:endParaRPr lang="zh-CN" altLang="en-US" sz="2200" dirty="0">
              <a:solidFill>
                <a:schemeClr val="bg1"/>
              </a:solidFill>
            </a:endParaRPr>
          </a:p>
        </p:txBody>
      </p:sp>
      <p:sp>
        <p:nvSpPr>
          <p:cNvPr id="4" name="TextBox 3"/>
          <p:cNvSpPr txBox="1"/>
          <p:nvPr/>
        </p:nvSpPr>
        <p:spPr>
          <a:xfrm>
            <a:off x="1384057" y="1866843"/>
            <a:ext cx="9558230" cy="2807948"/>
          </a:xfrm>
          <a:prstGeom prst="rect">
            <a:avLst/>
          </a:prstGeom>
          <a:noFill/>
        </p:spPr>
        <p:txBody>
          <a:bodyPr wrap="square" rtlCol="0">
            <a:spAutoFit/>
          </a:bodyPr>
          <a:lstStyle/>
          <a:p>
            <a:pPr>
              <a:lnSpc>
                <a:spcPct val="150000"/>
              </a:lnSpc>
            </a:pPr>
            <a:r>
              <a:rPr lang="zh-CN" altLang="en-US" sz="2000" b="1" dirty="0">
                <a:solidFill>
                  <a:srgbClr val="2D2D8A"/>
                </a:solidFill>
                <a:effectLst/>
                <a:latin typeface="MicrosoftYaHei-Bold"/>
              </a:rPr>
              <a:t>逻辑回归（</a:t>
            </a:r>
            <a:r>
              <a:rPr lang="en-US" altLang="zh-CN" sz="2000" b="1" dirty="0">
                <a:solidFill>
                  <a:srgbClr val="2D2D8A"/>
                </a:solidFill>
                <a:effectLst/>
                <a:latin typeface="MicrosoftYaHei-Bold"/>
              </a:rPr>
              <a:t>Logistic Regression</a:t>
            </a:r>
            <a:r>
              <a:rPr lang="zh-CN" altLang="en-US" sz="2000" b="1" dirty="0">
                <a:solidFill>
                  <a:srgbClr val="2D2D8A"/>
                </a:solidFill>
                <a:effectLst/>
                <a:latin typeface="MicrosoftYaHei-Bold"/>
              </a:rPr>
              <a:t>）</a:t>
            </a:r>
            <a:r>
              <a:rPr lang="zh-CN" altLang="en-US" sz="2000" b="1" dirty="0">
                <a:solidFill>
                  <a:srgbClr val="000000"/>
                </a:solidFill>
                <a:effectLst/>
                <a:latin typeface="MicrosoftYaHei-Bold"/>
              </a:rPr>
              <a:t>：</a:t>
            </a:r>
            <a:r>
              <a:rPr lang="zh-CN" altLang="en-US" sz="2000" dirty="0">
                <a:solidFill>
                  <a:srgbClr val="000000"/>
                </a:solidFill>
                <a:effectLst/>
                <a:latin typeface="微软雅黑" panose="020B0503020204020204" pitchFamily="34" charset="-122"/>
                <a:ea typeface="微软雅黑" panose="020B0503020204020204" pitchFamily="34" charset="-122"/>
              </a:rPr>
              <a:t>逻辑回归是用来计算“事件</a:t>
            </a:r>
            <a:r>
              <a:rPr lang="en-US" altLang="zh-CN" sz="2000" dirty="0">
                <a:solidFill>
                  <a:srgbClr val="000000"/>
                </a:solidFill>
                <a:effectLst/>
                <a:latin typeface="微软雅黑" panose="020B0503020204020204" pitchFamily="34" charset="-122"/>
                <a:ea typeface="微软雅黑" panose="020B0503020204020204" pitchFamily="34" charset="-122"/>
              </a:rPr>
              <a:t>=Success”</a:t>
            </a:r>
            <a:r>
              <a:rPr lang="zh-CN" altLang="en-US" sz="2000" dirty="0">
                <a:solidFill>
                  <a:srgbClr val="000000"/>
                </a:solidFill>
                <a:effectLst/>
                <a:latin typeface="微软雅黑" panose="020B0503020204020204" pitchFamily="34" charset="-122"/>
                <a:ea typeface="微软雅黑" panose="020B0503020204020204" pitchFamily="34" charset="-122"/>
              </a:rPr>
              <a:t>和“事件</a:t>
            </a:r>
            <a:r>
              <a:rPr lang="en-US" altLang="zh-CN" sz="2000" dirty="0">
                <a:solidFill>
                  <a:srgbClr val="000000"/>
                </a:solidFill>
                <a:effectLst/>
                <a:latin typeface="微软雅黑" panose="020B0503020204020204" pitchFamily="34" charset="-122"/>
                <a:ea typeface="微软雅黑" panose="020B0503020204020204" pitchFamily="34" charset="-122"/>
              </a:rPr>
              <a:t>=Failure”</a:t>
            </a:r>
            <a:r>
              <a:rPr lang="zh-CN" altLang="en-US" sz="2000" dirty="0">
                <a:solidFill>
                  <a:srgbClr val="000000"/>
                </a:solidFill>
                <a:effectLst/>
                <a:latin typeface="微软雅黑" panose="020B0503020204020204" pitchFamily="34" charset="-122"/>
                <a:ea typeface="微软雅黑" panose="020B0503020204020204" pitchFamily="34" charset="-122"/>
              </a:rPr>
              <a:t>的概率。当因变量的类型属于二元（</a:t>
            </a:r>
            <a:r>
              <a:rPr lang="en-US" altLang="zh-CN" sz="2000" dirty="0">
                <a:solidFill>
                  <a:srgbClr val="000000"/>
                </a:solidFill>
                <a:effectLst/>
                <a:latin typeface="微软雅黑" panose="020B0503020204020204" pitchFamily="34" charset="-122"/>
                <a:ea typeface="微软雅黑" panose="020B0503020204020204" pitchFamily="34" charset="-122"/>
              </a:rPr>
              <a:t>1 / 0</a:t>
            </a:r>
            <a:r>
              <a:rPr lang="zh-CN" altLang="en-US" sz="2000" dirty="0">
                <a:solidFill>
                  <a:srgbClr val="000000"/>
                </a:solidFill>
                <a:effectLst/>
                <a:latin typeface="微软雅黑" panose="020B0503020204020204" pitchFamily="34" charset="-122"/>
                <a:ea typeface="微软雅黑" panose="020B0503020204020204" pitchFamily="34" charset="-122"/>
              </a:rPr>
              <a:t>，真</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zh-CN" altLang="en-US" sz="2000" dirty="0">
                <a:solidFill>
                  <a:srgbClr val="000000"/>
                </a:solidFill>
                <a:effectLst/>
                <a:latin typeface="微软雅黑" panose="020B0503020204020204" pitchFamily="34" charset="-122"/>
                <a:ea typeface="微软雅黑" panose="020B0503020204020204" pitchFamily="34" charset="-122"/>
              </a:rPr>
              <a:t>假，是</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zh-CN" altLang="en-US" sz="2000" dirty="0">
                <a:solidFill>
                  <a:srgbClr val="000000"/>
                </a:solidFill>
                <a:effectLst/>
                <a:latin typeface="微软雅黑" panose="020B0503020204020204" pitchFamily="34" charset="-122"/>
                <a:ea typeface="微软雅黑" panose="020B0503020204020204" pitchFamily="34" charset="-122"/>
              </a:rPr>
              <a:t>否）变量时，我们就应该使用逻辑回归。</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a:lnSpc>
                <a:spcPct val="150000"/>
              </a:lnSpc>
            </a:pPr>
            <a:r>
              <a:rPr lang="zh-CN" altLang="en-US" sz="2000" dirty="0"/>
              <a:t>它广泛的用于分类问题，不要求自变量和因变量是线性关系，自变量不应该相互关联的，即不具有多重共线性。然而，在分析和建模中，我们可以选择包含分类变量相互作用的影响。</a:t>
            </a:r>
            <a:endParaRPr lang="zh-CN" altLang="en-US" sz="2000" dirty="0"/>
          </a:p>
        </p:txBody>
      </p:sp>
      <p:pic>
        <p:nvPicPr>
          <p:cNvPr id="2" name="图片 1"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31" name="文本框 30"/>
          <p:cNvSpPr txBox="1"/>
          <p:nvPr/>
        </p:nvSpPr>
        <p:spPr>
          <a:xfrm>
            <a:off x="7623175" y="2079625"/>
            <a:ext cx="3929063" cy="3046095"/>
          </a:xfrm>
          <a:prstGeom prst="rect">
            <a:avLst/>
          </a:prstGeom>
          <a:noFill/>
        </p:spPr>
        <p:txBody>
          <a:bodyPr>
            <a:spAutoFit/>
          </a:bodyPr>
          <a:lstStyle/>
          <a:p>
            <a:pPr eaLnBrk="1" fontAlgn="auto" hangingPunct="1">
              <a:spcBef>
                <a:spcPts val="0"/>
              </a:spcBef>
              <a:spcAft>
                <a:spcPts val="0"/>
              </a:spcAft>
              <a:defRPr/>
            </a:pPr>
            <a:r>
              <a:rPr kumimoji="1" lang="en-US" altLang="zh-CN" sz="6600" b="1" dirty="0">
                <a:solidFill>
                  <a:schemeClr val="bg1"/>
                </a:solidFill>
                <a:latin typeface="+mn-lt"/>
                <a:ea typeface="+mn-ea"/>
                <a:cs typeface="+mn-ea"/>
                <a:sym typeface="+mn-lt"/>
              </a:rPr>
              <a:t>“HELLO</a:t>
            </a:r>
            <a:endParaRPr kumimoji="1" lang="en-US" altLang="zh-CN" sz="6600" b="1" dirty="0">
              <a:solidFill>
                <a:schemeClr val="bg1"/>
              </a:solidFill>
              <a:latin typeface="+mn-lt"/>
              <a:ea typeface="+mn-ea"/>
              <a:cs typeface="+mn-ea"/>
              <a:sym typeface="+mn-lt"/>
            </a:endParaRPr>
          </a:p>
          <a:p>
            <a:pPr eaLnBrk="1" fontAlgn="auto" hangingPunct="1">
              <a:spcBef>
                <a:spcPts val="0"/>
              </a:spcBef>
              <a:spcAft>
                <a:spcPts val="0"/>
              </a:spcAft>
              <a:defRPr/>
            </a:pPr>
            <a:endParaRPr kumimoji="1" lang="en-US" altLang="zh-CN" sz="6600" b="1" dirty="0">
              <a:solidFill>
                <a:schemeClr val="bg1"/>
              </a:solidFill>
              <a:latin typeface="+mn-lt"/>
              <a:ea typeface="+mn-ea"/>
              <a:cs typeface="+mn-ea"/>
              <a:sym typeface="+mn-lt"/>
            </a:endParaRPr>
          </a:p>
          <a:p>
            <a:pPr algn="r" eaLnBrk="1" fontAlgn="auto" hangingPunct="1">
              <a:spcBef>
                <a:spcPts val="0"/>
              </a:spcBef>
              <a:spcAft>
                <a:spcPts val="0"/>
              </a:spcAft>
              <a:defRPr/>
            </a:pPr>
            <a:r>
              <a:rPr kumimoji="1" lang="en-US" altLang="zh-CN" sz="4400" b="1" dirty="0">
                <a:solidFill>
                  <a:schemeClr val="bg1"/>
                </a:solidFill>
                <a:latin typeface="+mn-lt"/>
                <a:ea typeface="+mn-ea"/>
                <a:cs typeface="+mn-ea"/>
                <a:sym typeface="+mn-lt"/>
              </a:rPr>
              <a:t>  </a:t>
            </a:r>
            <a:r>
              <a:rPr kumimoji="1" lang="en-US" altLang="zh-CN" sz="6000" b="1" dirty="0">
                <a:solidFill>
                  <a:schemeClr val="bg1"/>
                </a:solidFill>
                <a:latin typeface="+mn-lt"/>
                <a:ea typeface="+mn-ea"/>
                <a:cs typeface="+mn-ea"/>
                <a:sym typeface="+mn-lt"/>
              </a:rPr>
              <a:t>Python”</a:t>
            </a:r>
            <a:endParaRPr kumimoji="1" lang="zh-CN" altLang="en-US" sz="4400" b="1" dirty="0">
              <a:solidFill>
                <a:schemeClr val="bg1"/>
              </a:solidFill>
              <a:latin typeface="+mn-lt"/>
              <a:ea typeface="+mn-ea"/>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975173" y="478155"/>
            <a:ext cx="4255135" cy="466725"/>
            <a:chOff x="980570" y="478485"/>
            <a:chExt cx="4992591" cy="465698"/>
          </a:xfrm>
        </p:grpSpPr>
        <p:sp>
          <p:nvSpPr>
            <p:cNvPr id="41" name="矩形 40"/>
            <p:cNvSpPr/>
            <p:nvPr/>
          </p:nvSpPr>
          <p:spPr>
            <a:xfrm>
              <a:off x="980570" y="478485"/>
              <a:ext cx="499259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84714" y="484821"/>
              <a:ext cx="4788447" cy="459362"/>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回归分析分类</a:t>
              </a:r>
              <a:endParaRPr lang="zh-CN" altLang="en-US" sz="2400" b="1" dirty="0">
                <a:solidFill>
                  <a:srgbClr val="0277BD"/>
                </a:solidFill>
                <a:latin typeface="+mn-lt"/>
                <a:ea typeface="+mn-ea"/>
                <a:cs typeface="+mn-ea"/>
                <a:sym typeface="+mn-lt"/>
              </a:endParaRPr>
            </a:p>
          </p:txBody>
        </p:sp>
      </p:grpSp>
      <p:sp>
        <p:nvSpPr>
          <p:cNvPr id="51" name="矩形 50"/>
          <p:cNvSpPr/>
          <p:nvPr/>
        </p:nvSpPr>
        <p:spPr>
          <a:xfrm>
            <a:off x="1028065" y="1710055"/>
            <a:ext cx="10663434" cy="3561192"/>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52" name="Rectangle: Rounded Corners 1"/>
          <p:cNvSpPr/>
          <p:nvPr/>
        </p:nvSpPr>
        <p:spPr>
          <a:xfrm>
            <a:off x="386006" y="1434925"/>
            <a:ext cx="1293375" cy="431918"/>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sz="2200" dirty="0">
                <a:solidFill>
                  <a:schemeClr val="bg1"/>
                </a:solidFill>
              </a:rPr>
              <a:t>类别</a:t>
            </a:r>
            <a:endParaRPr lang="zh-CN" altLang="en-US" sz="2200" dirty="0">
              <a:solidFill>
                <a:schemeClr val="bg1"/>
              </a:solidFill>
            </a:endParaRPr>
          </a:p>
        </p:txBody>
      </p:sp>
      <p:sp>
        <p:nvSpPr>
          <p:cNvPr id="4" name="TextBox 3"/>
          <p:cNvSpPr txBox="1"/>
          <p:nvPr/>
        </p:nvSpPr>
        <p:spPr>
          <a:xfrm>
            <a:off x="1296948" y="1934098"/>
            <a:ext cx="10046117" cy="2708434"/>
          </a:xfrm>
          <a:prstGeom prst="rect">
            <a:avLst/>
          </a:prstGeom>
          <a:noFill/>
        </p:spPr>
        <p:txBody>
          <a:bodyPr wrap="square" rtlCol="0">
            <a:spAutoFit/>
          </a:bodyPr>
          <a:lstStyle/>
          <a:p>
            <a:pPr>
              <a:lnSpc>
                <a:spcPct val="150000"/>
              </a:lnSpc>
            </a:pPr>
            <a:r>
              <a:rPr lang="zh-CN" altLang="en-US" sz="2000" b="1" dirty="0">
                <a:solidFill>
                  <a:srgbClr val="2D2D8A"/>
                </a:solidFill>
                <a:effectLst/>
                <a:latin typeface="MicrosoftYaHei-Bold"/>
              </a:rPr>
              <a:t>多项式回归（</a:t>
            </a:r>
            <a:r>
              <a:rPr lang="en-US" altLang="zh-CN" sz="2000" b="1" dirty="0">
                <a:solidFill>
                  <a:srgbClr val="2D2D8A"/>
                </a:solidFill>
                <a:effectLst/>
                <a:latin typeface="MicrosoftYaHei-Bold"/>
              </a:rPr>
              <a:t>Polynomial Regression</a:t>
            </a:r>
            <a:r>
              <a:rPr lang="zh-CN" altLang="en-US" sz="2000" b="1" dirty="0">
                <a:solidFill>
                  <a:srgbClr val="2D2D8A"/>
                </a:solidFill>
                <a:effectLst/>
                <a:latin typeface="MicrosoftYaHei-Bold"/>
              </a:rPr>
              <a:t>）</a:t>
            </a:r>
            <a:r>
              <a:rPr lang="zh-CN" altLang="en-US" sz="2000" b="1" dirty="0">
                <a:solidFill>
                  <a:srgbClr val="000000"/>
                </a:solidFill>
                <a:effectLst/>
                <a:latin typeface="MicrosoftYaHei-Bold"/>
              </a:rPr>
              <a:t>：</a:t>
            </a:r>
            <a:r>
              <a:rPr lang="zh-CN" altLang="en-US" sz="2000" dirty="0">
                <a:solidFill>
                  <a:srgbClr val="000000"/>
                </a:solidFill>
                <a:effectLst/>
                <a:latin typeface="微软雅黑" panose="020B0503020204020204" pitchFamily="34" charset="-122"/>
                <a:ea typeface="微软雅黑" panose="020B0503020204020204" pitchFamily="34" charset="-122"/>
              </a:rPr>
              <a:t>对于一个回归方程，如果自变量的指数大于</a:t>
            </a:r>
            <a:r>
              <a:rPr lang="en-US" altLang="zh-CN" sz="2000" dirty="0">
                <a:solidFill>
                  <a:srgbClr val="000000"/>
                </a:solidFill>
                <a:effectLst/>
                <a:latin typeface="微软雅黑" panose="020B0503020204020204" pitchFamily="34" charset="-122"/>
                <a:ea typeface="微软雅黑" panose="020B0503020204020204" pitchFamily="34" charset="-122"/>
              </a:rPr>
              <a:t>1</a:t>
            </a:r>
            <a:r>
              <a:rPr lang="zh-CN" altLang="en-US" sz="2000" dirty="0">
                <a:solidFill>
                  <a:srgbClr val="000000"/>
                </a:solidFill>
                <a:effectLst/>
                <a:latin typeface="微软雅黑" panose="020B0503020204020204" pitchFamily="34" charset="-122"/>
                <a:ea typeface="微软雅黑" panose="020B0503020204020204" pitchFamily="34" charset="-122"/>
              </a:rPr>
              <a:t>，那么它就是多项式回归方程。如下方程所示：</a:t>
            </a:r>
            <a:r>
              <a:rPr lang="en-US" altLang="zh-CN" sz="2000" dirty="0">
                <a:solidFill>
                  <a:srgbClr val="000000"/>
                </a:solidFill>
                <a:effectLst/>
                <a:latin typeface="微软雅黑" panose="020B0503020204020204" pitchFamily="34" charset="-122"/>
                <a:ea typeface="微软雅黑" panose="020B0503020204020204" pitchFamily="34" charset="-122"/>
              </a:rPr>
              <a:t>y=</a:t>
            </a:r>
            <a:r>
              <a:rPr lang="en-US" altLang="zh-CN" sz="2000" dirty="0" err="1">
                <a:solidFill>
                  <a:srgbClr val="000000"/>
                </a:solidFill>
                <a:effectLst/>
                <a:latin typeface="微软雅黑" panose="020B0503020204020204" pitchFamily="34" charset="-122"/>
                <a:ea typeface="微软雅黑" panose="020B0503020204020204" pitchFamily="34" charset="-122"/>
              </a:rPr>
              <a:t>a+b</a:t>
            </a:r>
            <a:r>
              <a:rPr lang="en-US" altLang="zh-CN" sz="2000" dirty="0">
                <a:solidFill>
                  <a:srgbClr val="000000"/>
                </a:solidFill>
                <a:effectLst/>
                <a:latin typeface="微软雅黑" panose="020B0503020204020204" pitchFamily="34" charset="-122"/>
                <a:ea typeface="微软雅黑" panose="020B0503020204020204" pitchFamily="34" charset="-122"/>
              </a:rPr>
              <a:t>*x^2</a:t>
            </a:r>
            <a:r>
              <a:rPr lang="zh-CN" altLang="en-US" sz="2000" dirty="0">
                <a:solidFill>
                  <a:srgbClr val="000000"/>
                </a:solidFill>
                <a:effectLst/>
                <a:latin typeface="微软雅黑" panose="020B0503020204020204" pitchFamily="34" charset="-122"/>
                <a:ea typeface="微软雅黑" panose="020B0503020204020204" pitchFamily="34" charset="-122"/>
              </a:rPr>
              <a:t>。在这种回归技术中，最佳拟合线不是直线。而是一个用于拟合数据点的曲线。</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000000"/>
                </a:solidFill>
                <a:effectLst/>
                <a:latin typeface="微软雅黑" panose="020B0503020204020204" pitchFamily="34" charset="-122"/>
                <a:ea typeface="微软雅黑" panose="020B0503020204020204" pitchFamily="34" charset="-122"/>
              </a:rPr>
              <a:t>需要经常画出关系图来查看拟合情况，并且专注于保证拟合合理，既没有过拟合又没有欠拟合。</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endParaRPr lang="zh-CN" altLang="en-US" sz="2000" dirty="0"/>
          </a:p>
        </p:txBody>
      </p:sp>
      <p:pic>
        <p:nvPicPr>
          <p:cNvPr id="6" name="Picture 5"/>
          <p:cNvPicPr>
            <a:picLocks noChangeAspect="1"/>
          </p:cNvPicPr>
          <p:nvPr/>
        </p:nvPicPr>
        <p:blipFill>
          <a:blip r:embed="rId2"/>
          <a:stretch>
            <a:fillRect/>
          </a:stretch>
        </p:blipFill>
        <p:spPr>
          <a:xfrm>
            <a:off x="8131372" y="4078160"/>
            <a:ext cx="3829010" cy="2095119"/>
          </a:xfrm>
          <a:prstGeom prst="rect">
            <a:avLst/>
          </a:prstGeom>
        </p:spPr>
      </p:pic>
      <p:pic>
        <p:nvPicPr>
          <p:cNvPr id="3" name="图片 2" descr="江西科技学院信息工程学院-01"/>
          <p:cNvPicPr>
            <a:picLocks noChangeAspect="1"/>
          </p:cNvPicPr>
          <p:nvPr>
            <p:custDataLst>
              <p:tags r:id="rId3"/>
            </p:custDataLst>
          </p:nvPr>
        </p:nvPicPr>
        <p:blipFill>
          <a:blip r:embed="rId4"/>
          <a:stretch>
            <a:fillRect/>
          </a:stretch>
        </p:blipFill>
        <p:spPr>
          <a:xfrm>
            <a:off x="10607040" y="-160020"/>
            <a:ext cx="1727835" cy="172656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par>
                                <p:cTn id="12" presetID="22" presetClass="entr" presetSubtype="8"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wipe(left)">
                                      <p:cBhvr>
                                        <p:cTn id="14"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6450013" y="3268980"/>
            <a:ext cx="5575935" cy="20320"/>
          </a:xfrm>
          <a:prstGeom prst="line">
            <a:avLst/>
          </a:prstGeom>
          <a:ln w="76200">
            <a:solidFill>
              <a:srgbClr val="1F557C"/>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0330" y="3465830"/>
            <a:ext cx="5594350" cy="1210945"/>
          </a:xfrm>
          <a:prstGeom prst="rect">
            <a:avLst/>
          </a:prstGeom>
          <a:solidFill>
            <a:srgbClr val="84AD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6" name="文本框 5"/>
          <p:cNvSpPr txBox="1"/>
          <p:nvPr/>
        </p:nvSpPr>
        <p:spPr>
          <a:xfrm>
            <a:off x="6450013" y="3590657"/>
            <a:ext cx="5545455" cy="1014730"/>
          </a:xfrm>
          <a:prstGeom prst="rect">
            <a:avLst/>
          </a:prstGeom>
          <a:noFill/>
        </p:spPr>
        <p:txBody>
          <a:bodyPr wrap="square">
            <a:spAutoFit/>
          </a:bodyPr>
          <a:lstStyle/>
          <a:p>
            <a:pPr eaLnBrk="1" fontAlgn="auto" hangingPunct="1">
              <a:lnSpc>
                <a:spcPct val="150000"/>
              </a:lnSpc>
              <a:spcBef>
                <a:spcPts val="0"/>
              </a:spcBef>
              <a:spcAft>
                <a:spcPts val="0"/>
              </a:spcAft>
              <a:defRPr/>
            </a:pPr>
            <a:r>
              <a:rPr lang="zh-CN" sz="2000" b="1" dirty="0">
                <a:solidFill>
                  <a:schemeClr val="bg1"/>
                </a:solidFill>
                <a:latin typeface="+mn-lt"/>
                <a:ea typeface="+mn-ea"/>
                <a:cs typeface="+mn-ea"/>
                <a:sym typeface="+mn-lt"/>
              </a:rPr>
              <a:t>分析处理现实世界真实数据</a:t>
            </a:r>
            <a:r>
              <a:rPr sz="2000" b="1" dirty="0">
                <a:solidFill>
                  <a:schemeClr val="bg1"/>
                </a:solidFill>
                <a:latin typeface="+mn-lt"/>
                <a:ea typeface="+mn-ea"/>
                <a:cs typeface="+mn-ea"/>
                <a:sym typeface="+mn-lt"/>
              </a:rPr>
              <a:t>，</a:t>
            </a:r>
            <a:r>
              <a:rPr lang="zh-CN" sz="2000" b="1" dirty="0">
                <a:solidFill>
                  <a:schemeClr val="bg1"/>
                </a:solidFill>
                <a:latin typeface="+mn-lt"/>
                <a:ea typeface="+mn-ea"/>
                <a:cs typeface="+mn-ea"/>
                <a:sym typeface="+mn-lt"/>
              </a:rPr>
              <a:t>了解机器学习的数值</a:t>
            </a:r>
            <a:r>
              <a:rPr lang="zh-CN" sz="2000" b="1" dirty="0">
                <a:solidFill>
                  <a:srgbClr val="FF0000"/>
                </a:solidFill>
                <a:latin typeface="+mn-lt"/>
                <a:ea typeface="+mn-ea"/>
                <a:cs typeface="+mn-ea"/>
                <a:sym typeface="+mn-lt"/>
              </a:rPr>
              <a:t>预测功能</a:t>
            </a:r>
            <a:r>
              <a:rPr lang="zh-CN" sz="2000" b="1" dirty="0">
                <a:solidFill>
                  <a:schemeClr val="bg1"/>
                </a:solidFill>
                <a:latin typeface="+mn-lt"/>
                <a:ea typeface="+mn-ea"/>
                <a:cs typeface="+mn-ea"/>
                <a:sym typeface="+mn-lt"/>
              </a:rPr>
              <a:t>。</a:t>
            </a:r>
            <a:endParaRPr lang="zh-CN" sz="2000" b="1" dirty="0">
              <a:solidFill>
                <a:schemeClr val="bg1"/>
              </a:solidFill>
              <a:latin typeface="+mn-lt"/>
              <a:ea typeface="+mn-ea"/>
              <a:cs typeface="+mn-ea"/>
              <a:sym typeface="+mn-lt"/>
            </a:endParaRPr>
          </a:p>
        </p:txBody>
      </p:sp>
      <p:sp>
        <p:nvSpPr>
          <p:cNvPr id="26" name="文本框 25"/>
          <p:cNvSpPr txBox="1"/>
          <p:nvPr/>
        </p:nvSpPr>
        <p:spPr>
          <a:xfrm>
            <a:off x="6324600" y="2341880"/>
            <a:ext cx="6001385" cy="922020"/>
          </a:xfrm>
          <a:prstGeom prst="rect">
            <a:avLst/>
          </a:prstGeom>
          <a:noFill/>
        </p:spPr>
        <p:txBody>
          <a:bodyPr wrap="square">
            <a:spAutoFit/>
          </a:bodyPr>
          <a:lstStyle/>
          <a:p>
            <a:pPr algn="l" eaLnBrk="1" fontAlgn="auto" hangingPunct="1">
              <a:lnSpc>
                <a:spcPct val="150000"/>
              </a:lnSpc>
              <a:spcBef>
                <a:spcPts val="0"/>
              </a:spcBef>
              <a:spcAft>
                <a:spcPts val="0"/>
              </a:spcAft>
              <a:buClrTx/>
              <a:buSzTx/>
              <a:buFontTx/>
              <a:defRPr/>
            </a:pPr>
            <a:r>
              <a:rPr lang="zh-CN" altLang="en-US" sz="3600" b="1" dirty="0">
                <a:solidFill>
                  <a:schemeClr val="tx1"/>
                </a:solidFill>
                <a:latin typeface="+mn-lt"/>
                <a:ea typeface="+mn-ea"/>
                <a:cs typeface="+mn-ea"/>
                <a:sym typeface="+mn-ea"/>
              </a:rPr>
              <a:t>案例实战</a:t>
            </a:r>
            <a:endParaRPr lang="zh-CN" altLang="en-US" sz="3600" b="1" dirty="0">
              <a:solidFill>
                <a:schemeClr val="tx1"/>
              </a:solidFill>
              <a:latin typeface="+mn-lt"/>
              <a:ea typeface="+mn-ea"/>
              <a:cs typeface="+mn-ea"/>
              <a:sym typeface="+mn-ea"/>
            </a:endParaRPr>
          </a:p>
        </p:txBody>
      </p:sp>
      <p:sp>
        <p:nvSpPr>
          <p:cNvPr id="3" name="椭圆 2"/>
          <p:cNvSpPr/>
          <p:nvPr/>
        </p:nvSpPr>
        <p:spPr>
          <a:xfrm>
            <a:off x="2319338" y="1179513"/>
            <a:ext cx="3973512" cy="397351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50184"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3163" y="598488"/>
            <a:ext cx="7134226" cy="533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3575050" y="2444750"/>
            <a:ext cx="2844800" cy="1783715"/>
          </a:xfrm>
          <a:prstGeom prst="rect">
            <a:avLst/>
          </a:prstGeom>
          <a:noFill/>
          <a:effectLst>
            <a:outerShdw blurRad="50800" dist="38100" dir="5400000" algn="t" rotWithShape="0">
              <a:prstClr val="black">
                <a:alpha val="40000"/>
              </a:prstClr>
            </a:outerShdw>
          </a:effectLst>
        </p:spPr>
        <p:txBody>
          <a:bodyPr>
            <a:spAutoFit/>
          </a:bodyPr>
          <a:lstStyle/>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PART  </a:t>
            </a:r>
            <a:endParaRPr lang="en-US" altLang="zh-CN" sz="5500" b="1" dirty="0">
              <a:solidFill>
                <a:schemeClr val="bg1"/>
              </a:solidFill>
              <a:latin typeface="+mn-lt"/>
              <a:ea typeface="+mn-ea"/>
              <a:cs typeface="+mn-ea"/>
              <a:sym typeface="+mn-lt"/>
            </a:endParaRPr>
          </a:p>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TWO</a:t>
            </a:r>
            <a:endParaRPr lang="en-US" altLang="zh-CN" sz="5500" b="1" dirty="0">
              <a:solidFill>
                <a:schemeClr val="bg1"/>
              </a:solidFill>
              <a:latin typeface="+mn-lt"/>
              <a:ea typeface="+mn-ea"/>
              <a:cs typeface="+mn-ea"/>
              <a:sym typeface="+mn-lt"/>
            </a:endParaRPr>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animEffect transition="in" filter="wipe(left)">
                                      <p:cBhvr>
                                        <p:cTn id="15" dur="500"/>
                                        <p:tgtEl>
                                          <p:spTgt spid="30">
                                            <p:txEl>
                                              <p:pRg st="0" end="0"/>
                                            </p:txEl>
                                          </p:spTgt>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Effect transition="in" filter="wipe(left)">
                                      <p:cBhvr>
                                        <p:cTn id="19" dur="500"/>
                                        <p:tgtEl>
                                          <p:spTgt spid="3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831" y="1540739"/>
            <a:ext cx="10888667" cy="4002280"/>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grpSp>
        <p:nvGrpSpPr>
          <p:cNvPr id="5" name="组合 21"/>
          <p:cNvGrpSpPr/>
          <p:nvPr/>
        </p:nvGrpSpPr>
        <p:grpSpPr>
          <a:xfrm>
            <a:off x="998647" y="1960131"/>
            <a:ext cx="1592455" cy="458242"/>
            <a:chOff x="5370731" y="1721511"/>
            <a:chExt cx="159245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73480" cy="425713"/>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a:t>
              </a:r>
              <a:r>
                <a:rPr lang="zh-CN" altLang="en-US" dirty="0">
                  <a:latin typeface="+mn-ea"/>
                  <a:cs typeface="Arial" panose="020B0604020202020204" pitchFamily="34" charset="0"/>
                </a:rPr>
                <a:t>）案例背景</a:t>
              </a:r>
              <a:endParaRPr lang="zh-CN" altLang="en-US" dirty="0">
                <a:latin typeface="+mn-ea"/>
                <a:cs typeface="Arial" panose="020B0604020202020204" pitchFamily="34" charset="0"/>
              </a:endParaRPr>
            </a:p>
          </p:txBody>
        </p:sp>
      </p:grpSp>
      <p:sp>
        <p:nvSpPr>
          <p:cNvPr id="35" name="TextBox 34"/>
          <p:cNvSpPr txBox="1"/>
          <p:nvPr/>
        </p:nvSpPr>
        <p:spPr>
          <a:xfrm>
            <a:off x="1466371" y="2418373"/>
            <a:ext cx="10050910" cy="2536400"/>
          </a:xfrm>
          <a:prstGeom prst="rect">
            <a:avLst/>
          </a:prstGeom>
          <a:noFill/>
        </p:spPr>
        <p:txBody>
          <a:bodyPr wrap="square" rtlCol="0">
            <a:spAutoFit/>
          </a:bodyPr>
          <a:lstStyle/>
          <a:p>
            <a:pPr>
              <a:lnSpc>
                <a:spcPct val="150000"/>
              </a:lnSpc>
            </a:pPr>
            <a:r>
              <a:rPr lang="zh-CN" altLang="en-US" b="0" i="0" dirty="0">
                <a:solidFill>
                  <a:srgbClr val="121212"/>
                </a:solidFill>
                <a:effectLst/>
                <a:latin typeface="-apple-system"/>
              </a:rPr>
              <a:t>国内二手车交易体量已经达到了一定的规模，</a:t>
            </a:r>
            <a:r>
              <a:rPr lang="en-US" altLang="zh-CN" b="0" i="0" dirty="0">
                <a:solidFill>
                  <a:srgbClr val="121212"/>
                </a:solidFill>
                <a:effectLst/>
                <a:latin typeface="-apple-system"/>
              </a:rPr>
              <a:t>2022</a:t>
            </a:r>
            <a:r>
              <a:rPr lang="zh-CN" altLang="en-US" b="0" i="0" dirty="0">
                <a:solidFill>
                  <a:srgbClr val="121212"/>
                </a:solidFill>
                <a:effectLst/>
                <a:latin typeface="-apple-system"/>
              </a:rPr>
              <a:t>年全年交易量为 </a:t>
            </a:r>
            <a:r>
              <a:rPr lang="en-US" altLang="zh-CN" b="0" i="0" dirty="0">
                <a:solidFill>
                  <a:srgbClr val="121212"/>
                </a:solidFill>
                <a:effectLst/>
                <a:latin typeface="-apple-system"/>
              </a:rPr>
              <a:t>1602.78</a:t>
            </a:r>
            <a:r>
              <a:rPr lang="zh-CN" altLang="en-US" b="0" i="0" dirty="0">
                <a:solidFill>
                  <a:srgbClr val="121212"/>
                </a:solidFill>
                <a:effectLst/>
                <a:latin typeface="-apple-system"/>
              </a:rPr>
              <a:t>万辆，全行业的参与企业达到</a:t>
            </a:r>
            <a:r>
              <a:rPr lang="en-US" altLang="zh-CN" b="0" i="0" dirty="0">
                <a:solidFill>
                  <a:srgbClr val="121212"/>
                </a:solidFill>
                <a:effectLst/>
                <a:latin typeface="-apple-system"/>
              </a:rPr>
              <a:t>57</a:t>
            </a:r>
            <a:r>
              <a:rPr lang="zh-CN" altLang="en-US" b="0" i="0" dirty="0">
                <a:solidFill>
                  <a:srgbClr val="121212"/>
                </a:solidFill>
                <a:effectLst/>
                <a:latin typeface="-apple-system"/>
              </a:rPr>
              <a:t>万之多。新政的出台和落地是适时的，有效的，为未来二手车行业长时间健康、稳定发展提供了有力支持。大批量的车商也将从经纪模式转向经销模式，这也意味着，二手车企业规模化、规范化、品牌化发展阶段已经到来。如何通过已有的二手车交易数据，预测二手车交易价格成为该行业热门话题。</a:t>
            </a:r>
            <a:endParaRPr lang="zh-CN" altLang="en-US" b="0" i="0" dirty="0">
              <a:solidFill>
                <a:srgbClr val="121212"/>
              </a:solidFill>
              <a:effectLst/>
              <a:latin typeface="-apple-system"/>
            </a:endParaRPr>
          </a:p>
          <a:p>
            <a:pPr>
              <a:lnSpc>
                <a:spcPct val="150000"/>
              </a:lnSpc>
            </a:pPr>
            <a:endParaRPr 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grpSp>
        <p:nvGrpSpPr>
          <p:cNvPr id="5" name="组合 21"/>
          <p:cNvGrpSpPr/>
          <p:nvPr/>
        </p:nvGrpSpPr>
        <p:grpSpPr>
          <a:xfrm>
            <a:off x="998647" y="1960131"/>
            <a:ext cx="1592455" cy="458242"/>
            <a:chOff x="5370731" y="1721511"/>
            <a:chExt cx="159245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73480" cy="425713"/>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2</a:t>
              </a:r>
              <a:r>
                <a:rPr lang="zh-CN" altLang="en-US" dirty="0">
                  <a:latin typeface="+mn-ea"/>
                  <a:cs typeface="Arial" panose="020B0604020202020204" pitchFamily="34" charset="0"/>
                </a:rPr>
                <a:t>）数据字段</a:t>
              </a:r>
              <a:endParaRPr lang="zh-CN" altLang="en-US" dirty="0">
                <a:latin typeface="+mn-ea"/>
                <a:cs typeface="Arial" panose="020B0604020202020204" pitchFamily="34" charset="0"/>
              </a:endParaRPr>
            </a:p>
          </p:txBody>
        </p:sp>
      </p:grpSp>
      <p:graphicFrame>
        <p:nvGraphicFramePr>
          <p:cNvPr id="23" name="Table 22"/>
          <p:cNvGraphicFramePr>
            <a:graphicFrameLocks noGrp="1"/>
          </p:cNvGraphicFramePr>
          <p:nvPr/>
        </p:nvGraphicFramePr>
        <p:xfrm>
          <a:off x="3622831" y="1187353"/>
          <a:ext cx="7232607" cy="4856628"/>
        </p:xfrm>
        <a:graphic>
          <a:graphicData uri="http://schemas.openxmlformats.org/drawingml/2006/table">
            <a:tbl>
              <a:tblPr/>
              <a:tblGrid>
                <a:gridCol w="2007827"/>
                <a:gridCol w="5224780"/>
              </a:tblGrid>
              <a:tr h="242570">
                <a:tc>
                  <a:txBody>
                    <a:bodyPr/>
                    <a:lstStyle/>
                    <a:p>
                      <a:pPr algn="ctr"/>
                      <a:r>
                        <a:rPr lang="en-US" sz="1100" b="1" i="0">
                          <a:effectLst/>
                        </a:rPr>
                        <a:t>Field</a:t>
                      </a:r>
                      <a:endParaRPr lang="en-US" sz="1100" b="1" i="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en-US" sz="1100" b="1" i="0">
                          <a:effectLst/>
                        </a:rPr>
                        <a:t>Description</a:t>
                      </a:r>
                      <a:endParaRPr lang="en-US" sz="1100" b="1" i="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SaleID</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交易</a:t>
                      </a:r>
                      <a:r>
                        <a:rPr lang="en-US" altLang="zh-CN" sz="1100" b="0">
                          <a:effectLst/>
                        </a:rPr>
                        <a:t>ID</a:t>
                      </a:r>
                      <a:r>
                        <a:rPr lang="zh-CN" altLang="en-US" sz="1100" b="0">
                          <a:effectLst/>
                        </a:rPr>
                        <a:t>，唯一编码</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name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汽车交易名称，已脱敏</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342266">
                <a:tc>
                  <a:txBody>
                    <a:bodyPr/>
                    <a:lstStyle/>
                    <a:p>
                      <a:pPr algn="ctr"/>
                      <a:r>
                        <a:rPr lang="en-US" sz="1100" b="0">
                          <a:effectLst/>
                        </a:rPr>
                        <a:t>regDate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汽车注册日期，例如</a:t>
                      </a:r>
                      <a:r>
                        <a:rPr lang="en-US" altLang="zh-CN" sz="1100" b="0">
                          <a:effectLst/>
                        </a:rPr>
                        <a:t>20160101</a:t>
                      </a:r>
                      <a:r>
                        <a:rPr lang="zh-CN" altLang="en-US" sz="1100" b="0">
                          <a:effectLst/>
                        </a:rPr>
                        <a:t>，</a:t>
                      </a:r>
                      <a:r>
                        <a:rPr lang="en-US" altLang="zh-CN" sz="1100" b="0">
                          <a:effectLst/>
                        </a:rPr>
                        <a:t>2016</a:t>
                      </a:r>
                      <a:r>
                        <a:rPr lang="zh-CN" altLang="en-US" sz="1100" b="0">
                          <a:effectLst/>
                        </a:rPr>
                        <a:t>年</a:t>
                      </a:r>
                      <a:r>
                        <a:rPr lang="en-US" altLang="zh-CN" sz="1100" b="0">
                          <a:effectLst/>
                        </a:rPr>
                        <a:t>01</a:t>
                      </a:r>
                      <a:r>
                        <a:rPr lang="zh-CN" altLang="en-US" sz="1100" b="0">
                          <a:effectLst/>
                        </a:rPr>
                        <a:t>月</a:t>
                      </a:r>
                      <a:r>
                        <a:rPr lang="en-US" altLang="zh-CN" sz="1100" b="0">
                          <a:effectLst/>
                        </a:rPr>
                        <a:t>01</a:t>
                      </a:r>
                      <a:r>
                        <a:rPr lang="zh-CN" altLang="en-US" sz="1100" b="0">
                          <a:effectLst/>
                        </a:rPr>
                        <a:t>日</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model</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车型编码，已脱敏</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brand</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汽车品牌，已脱敏</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489766">
                <a:tc>
                  <a:txBody>
                    <a:bodyPr/>
                    <a:lstStyle/>
                    <a:p>
                      <a:pPr algn="ctr"/>
                      <a:r>
                        <a:rPr lang="en-US" sz="1100" b="0">
                          <a:effectLst/>
                        </a:rPr>
                        <a:t>bodyType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dirty="0">
                          <a:effectLst/>
                        </a:rPr>
                        <a:t>车身类型：豪华轿车：</a:t>
                      </a:r>
                      <a:r>
                        <a:rPr lang="en-US" altLang="zh-CN" sz="1100" b="0" dirty="0">
                          <a:effectLst/>
                        </a:rPr>
                        <a:t>0</a:t>
                      </a:r>
                      <a:r>
                        <a:rPr lang="zh-CN" altLang="en-US" sz="1100" b="0" dirty="0">
                          <a:effectLst/>
                        </a:rPr>
                        <a:t>，微型车：</a:t>
                      </a:r>
                      <a:r>
                        <a:rPr lang="en-US" altLang="zh-CN" sz="1100" b="0" dirty="0">
                          <a:effectLst/>
                        </a:rPr>
                        <a:t>1</a:t>
                      </a:r>
                      <a:r>
                        <a:rPr lang="zh-CN" altLang="en-US" sz="1100" b="0" dirty="0">
                          <a:effectLst/>
                        </a:rPr>
                        <a:t>，厢型车：</a:t>
                      </a:r>
                      <a:r>
                        <a:rPr lang="en-US" altLang="zh-CN" sz="1100" b="0" dirty="0">
                          <a:effectLst/>
                        </a:rPr>
                        <a:t>2</a:t>
                      </a:r>
                      <a:r>
                        <a:rPr lang="zh-CN" altLang="en-US" sz="1100" b="0" dirty="0">
                          <a:effectLst/>
                        </a:rPr>
                        <a:t>，大巴车：</a:t>
                      </a:r>
                      <a:r>
                        <a:rPr lang="en-US" altLang="zh-CN" sz="1100" b="0" dirty="0">
                          <a:effectLst/>
                        </a:rPr>
                        <a:t>3</a:t>
                      </a:r>
                      <a:r>
                        <a:rPr lang="zh-CN" altLang="en-US" sz="1100" b="0" dirty="0">
                          <a:effectLst/>
                        </a:rPr>
                        <a:t>，敞篷车：</a:t>
                      </a:r>
                      <a:r>
                        <a:rPr lang="en-US" altLang="zh-CN" sz="1100" b="0" dirty="0">
                          <a:effectLst/>
                        </a:rPr>
                        <a:t>4</a:t>
                      </a:r>
                      <a:r>
                        <a:rPr lang="zh-CN" altLang="en-US" sz="1100" b="0" dirty="0">
                          <a:effectLst/>
                        </a:rPr>
                        <a:t>，双门汽车：</a:t>
                      </a:r>
                      <a:r>
                        <a:rPr lang="en-US" altLang="zh-CN" sz="1100" b="0" dirty="0">
                          <a:effectLst/>
                        </a:rPr>
                        <a:t>5</a:t>
                      </a:r>
                      <a:r>
                        <a:rPr lang="zh-CN" altLang="en-US" sz="1100" b="0" dirty="0">
                          <a:effectLst/>
                        </a:rPr>
                        <a:t>，商务车：</a:t>
                      </a:r>
                      <a:r>
                        <a:rPr lang="en-US" altLang="zh-CN" sz="1100" b="0" dirty="0">
                          <a:effectLst/>
                        </a:rPr>
                        <a:t>6</a:t>
                      </a:r>
                      <a:r>
                        <a:rPr lang="zh-CN" altLang="en-US" sz="1100" b="0" dirty="0">
                          <a:effectLst/>
                        </a:rPr>
                        <a:t>，搅拌车：</a:t>
                      </a:r>
                      <a:r>
                        <a:rPr lang="en-US" altLang="zh-CN" sz="1100" b="0" dirty="0">
                          <a:effectLst/>
                        </a:rPr>
                        <a:t>7</a:t>
                      </a:r>
                      <a:endParaRPr lang="en-US" altLang="zh-CN" sz="1100" b="0" dirty="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342266">
                <a:tc>
                  <a:txBody>
                    <a:bodyPr/>
                    <a:lstStyle/>
                    <a:p>
                      <a:pPr algn="ctr"/>
                      <a:r>
                        <a:rPr lang="en-US" sz="1100" b="0">
                          <a:effectLst/>
                        </a:rPr>
                        <a:t>fuelType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燃油类型：汽油：</a:t>
                      </a:r>
                      <a:r>
                        <a:rPr lang="en-US" altLang="zh-CN" sz="1100" b="0">
                          <a:effectLst/>
                        </a:rPr>
                        <a:t>0</a:t>
                      </a:r>
                      <a:r>
                        <a:rPr lang="zh-CN" altLang="en-US" sz="1100" b="0">
                          <a:effectLst/>
                        </a:rPr>
                        <a:t>，柴油：</a:t>
                      </a:r>
                      <a:r>
                        <a:rPr lang="en-US" altLang="zh-CN" sz="1100" b="0">
                          <a:effectLst/>
                        </a:rPr>
                        <a:t>1</a:t>
                      </a:r>
                      <a:r>
                        <a:rPr lang="zh-CN" altLang="en-US" sz="1100" b="0">
                          <a:effectLst/>
                        </a:rPr>
                        <a:t>，液化石油气：</a:t>
                      </a:r>
                      <a:r>
                        <a:rPr lang="en-US" altLang="zh-CN" sz="1100" b="0">
                          <a:effectLst/>
                        </a:rPr>
                        <a:t>2</a:t>
                      </a:r>
                      <a:r>
                        <a:rPr lang="zh-CN" altLang="en-US" sz="1100" b="0">
                          <a:effectLst/>
                        </a:rPr>
                        <a:t>，天然气：</a:t>
                      </a:r>
                      <a:r>
                        <a:rPr lang="en-US" altLang="zh-CN" sz="1100" b="0">
                          <a:effectLst/>
                        </a:rPr>
                        <a:t>3</a:t>
                      </a:r>
                      <a:r>
                        <a:rPr lang="zh-CN" altLang="en-US" sz="1100" b="0">
                          <a:effectLst/>
                        </a:rPr>
                        <a:t>，混合动力：</a:t>
                      </a:r>
                      <a:r>
                        <a:rPr lang="en-US" altLang="zh-CN" sz="1100" b="0">
                          <a:effectLst/>
                        </a:rPr>
                        <a:t>4</a:t>
                      </a:r>
                      <a:r>
                        <a:rPr lang="zh-CN" altLang="en-US" sz="1100" b="0">
                          <a:effectLst/>
                        </a:rPr>
                        <a:t>，其他：</a:t>
                      </a:r>
                      <a:r>
                        <a:rPr lang="en-US" altLang="zh-CN" sz="1100" b="0">
                          <a:effectLst/>
                        </a:rPr>
                        <a:t>5</a:t>
                      </a:r>
                      <a:r>
                        <a:rPr lang="zh-CN" altLang="en-US" sz="1100" b="0">
                          <a:effectLst/>
                        </a:rPr>
                        <a:t>，电动：</a:t>
                      </a:r>
                      <a:r>
                        <a:rPr lang="en-US" altLang="zh-CN" sz="1100" b="0">
                          <a:effectLst/>
                        </a:rPr>
                        <a:t>6</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dirty="0">
                          <a:effectLst/>
                        </a:rPr>
                        <a:t>gearbox</a:t>
                      </a:r>
                      <a:endParaRPr lang="en-US" sz="1100" b="0" dirty="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变速箱：手动：</a:t>
                      </a:r>
                      <a:r>
                        <a:rPr lang="en-US" altLang="zh-CN" sz="1100" b="0">
                          <a:effectLst/>
                        </a:rPr>
                        <a:t>0</a:t>
                      </a:r>
                      <a:r>
                        <a:rPr lang="zh-CN" altLang="en-US" sz="1100" b="0">
                          <a:effectLst/>
                        </a:rPr>
                        <a:t>，自动：</a:t>
                      </a:r>
                      <a:r>
                        <a:rPr lang="en-US" altLang="zh-CN" sz="1100" b="0">
                          <a:effectLst/>
                        </a:rPr>
                        <a:t>1</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power</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发动机功率：范围 </a:t>
                      </a:r>
                      <a:r>
                        <a:rPr lang="en-US" altLang="zh-CN" sz="1100" b="0">
                          <a:effectLst/>
                        </a:rPr>
                        <a:t>[ 0, 600 ]</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kilometer</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汽车已行驶公里，单位万</a:t>
                      </a:r>
                      <a:r>
                        <a:rPr lang="en-US" altLang="zh-CN" sz="1100" b="0">
                          <a:effectLst/>
                        </a:rPr>
                        <a:t>km</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notRepairedDamage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汽车有尚未修复的损坏：是：</a:t>
                      </a:r>
                      <a:r>
                        <a:rPr lang="en-US" altLang="zh-CN" sz="1100" b="0">
                          <a:effectLst/>
                        </a:rPr>
                        <a:t>0</a:t>
                      </a:r>
                      <a:r>
                        <a:rPr lang="zh-CN" altLang="en-US" sz="1100" b="0">
                          <a:effectLst/>
                        </a:rPr>
                        <a:t>，否：</a:t>
                      </a:r>
                      <a:r>
                        <a:rPr lang="en-US" altLang="zh-CN" sz="1100" b="0">
                          <a:effectLst/>
                        </a:rPr>
                        <a:t>1</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dirty="0" err="1">
                          <a:effectLst/>
                        </a:rPr>
                        <a:t>regionCode</a:t>
                      </a:r>
                      <a:endParaRPr lang="en-US" sz="1100" b="0" dirty="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地区编码，已脱敏</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seller</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销售方：个体：</a:t>
                      </a:r>
                      <a:r>
                        <a:rPr lang="en-US" altLang="zh-CN" sz="1100" b="0">
                          <a:effectLst/>
                        </a:rPr>
                        <a:t>0</a:t>
                      </a:r>
                      <a:r>
                        <a:rPr lang="zh-CN" altLang="en-US" sz="1100" b="0">
                          <a:effectLst/>
                        </a:rPr>
                        <a:t>，非个体：</a:t>
                      </a:r>
                      <a:r>
                        <a:rPr lang="en-US" altLang="zh-CN" sz="1100" b="0">
                          <a:effectLst/>
                        </a:rPr>
                        <a:t>1</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offerType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报价类型：提供：</a:t>
                      </a:r>
                      <a:r>
                        <a:rPr lang="en-US" altLang="zh-CN" sz="1100" b="0">
                          <a:effectLst/>
                        </a:rPr>
                        <a:t>0</a:t>
                      </a:r>
                      <a:r>
                        <a:rPr lang="zh-CN" altLang="en-US" sz="1100" b="0">
                          <a:effectLst/>
                        </a:rPr>
                        <a:t>，请求：</a:t>
                      </a:r>
                      <a:r>
                        <a:rPr lang="en-US" altLang="zh-CN" sz="1100" b="0">
                          <a:effectLst/>
                        </a:rPr>
                        <a:t>1</a:t>
                      </a:r>
                      <a:endParaRPr lang="en-US" altLang="zh-CN"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creatDate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a:effectLst/>
                        </a:rPr>
                        <a:t>汽车上线时间，即开始售卖时间</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r h="242359">
                <a:tc>
                  <a:txBody>
                    <a:bodyPr/>
                    <a:lstStyle/>
                    <a:p>
                      <a:pPr algn="ctr"/>
                      <a:r>
                        <a:rPr lang="en-US" sz="1100" b="0">
                          <a:effectLst/>
                        </a:rPr>
                        <a:t>price</a:t>
                      </a:r>
                      <a:endParaRPr 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c>
                  <a:txBody>
                    <a:bodyPr/>
                    <a:lstStyle/>
                    <a:p>
                      <a:pPr algn="ctr"/>
                      <a:r>
                        <a:rPr lang="zh-CN" altLang="en-US" sz="1100" b="0">
                          <a:effectLst/>
                        </a:rPr>
                        <a:t>二手车交易价格（预测目标）</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AFAFA"/>
                    </a:solidFill>
                  </a:tcPr>
                </a:tc>
              </a:tr>
              <a:tr h="242359">
                <a:tc>
                  <a:txBody>
                    <a:bodyPr/>
                    <a:lstStyle/>
                    <a:p>
                      <a:pPr algn="ctr"/>
                      <a:r>
                        <a:rPr lang="en-US" sz="1100" b="0">
                          <a:effectLst/>
                        </a:rPr>
                        <a:t>v</a:t>
                      </a:r>
                      <a:r>
                        <a:rPr lang="zh-CN" altLang="en-US" sz="1100" b="0">
                          <a:effectLst/>
                        </a:rPr>
                        <a:t>系列特征</a:t>
                      </a:r>
                      <a:endParaRPr lang="zh-CN" altLang="en-US" sz="1100" b="0">
                        <a:effectLst/>
                      </a:endParaRPr>
                    </a:p>
                  </a:txBody>
                  <a:tcPr marL="35813" marR="35813" marT="26860" marB="26860" anchor="ctr">
                    <a:lnL w="7620" cap="flat" cmpd="sng" algn="ctr">
                      <a:solidFill>
                        <a:srgbClr val="E8E8E8"/>
                      </a:solidFill>
                      <a:prstDash val="solid"/>
                      <a:round/>
                      <a:headEnd type="none" w="med" len="med"/>
                      <a:tailEnd type="none" w="med" len="med"/>
                    </a:lnL>
                    <a:lnR w="7620" cap="flat" cmpd="sng" algn="ctr">
                      <a:solidFill>
                        <a:srgbClr val="E8E8E8"/>
                      </a:solidFill>
                      <a:prstDash val="solid"/>
                      <a:round/>
                      <a:headEnd type="none" w="med" len="med"/>
                      <a:tailEnd type="none" w="med" len="med"/>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c>
                  <a:txBody>
                    <a:bodyPr/>
                    <a:lstStyle/>
                    <a:p>
                      <a:pPr algn="ctr"/>
                      <a:r>
                        <a:rPr lang="zh-CN" altLang="en-US" sz="1100" b="0" dirty="0">
                          <a:effectLst/>
                        </a:rPr>
                        <a:t>匿名特征，包含</a:t>
                      </a:r>
                      <a:r>
                        <a:rPr lang="en-US" altLang="zh-CN" sz="1100" b="0" dirty="0">
                          <a:effectLst/>
                        </a:rPr>
                        <a:t>v0-14</a:t>
                      </a:r>
                      <a:r>
                        <a:rPr lang="zh-CN" altLang="en-US" sz="1100" b="0" dirty="0">
                          <a:effectLst/>
                        </a:rPr>
                        <a:t>在内</a:t>
                      </a:r>
                      <a:r>
                        <a:rPr lang="en-US" altLang="zh-CN" sz="1100" b="0" dirty="0">
                          <a:effectLst/>
                        </a:rPr>
                        <a:t>15</a:t>
                      </a:r>
                      <a:r>
                        <a:rPr lang="zh-CN" altLang="en-US" sz="1100" b="0" dirty="0">
                          <a:effectLst/>
                        </a:rPr>
                        <a:t>个匿名特征</a:t>
                      </a:r>
                      <a:endParaRPr lang="zh-CN" altLang="en-US" sz="1100" b="0" dirty="0">
                        <a:effectLst/>
                      </a:endParaRPr>
                    </a:p>
                  </a:txBody>
                  <a:tcPr marL="35813" marR="35813" marT="26860" marB="26860" anchor="ctr">
                    <a:lnL w="7620" cap="flat" cmpd="sng" algn="ctr">
                      <a:solidFill>
                        <a:srgbClr val="E8E8E8"/>
                      </a:solidFill>
                      <a:prstDash val="solid"/>
                      <a:round/>
                      <a:headEnd type="none" w="med" len="med"/>
                      <a:tailEnd type="none" w="med" len="med"/>
                    </a:lnL>
                    <a:lnR>
                      <a:noFill/>
                    </a:lnR>
                    <a:lnT w="7620" cap="flat" cmpd="sng" algn="ctr">
                      <a:solidFill>
                        <a:srgbClr val="E8E8E8"/>
                      </a:solidFill>
                      <a:prstDash val="solid"/>
                      <a:round/>
                      <a:headEnd type="none" w="med" len="med"/>
                      <a:tailEnd type="none" w="med" len="med"/>
                    </a:lnT>
                    <a:lnB w="7620" cap="flat" cmpd="sng" algn="ctr">
                      <a:solidFill>
                        <a:srgbClr val="E8E8E8"/>
                      </a:solidFill>
                      <a:prstDash val="solid"/>
                      <a:round/>
                      <a:headEnd type="none" w="med" len="med"/>
                      <a:tailEnd type="none" w="med" len="med"/>
                    </a:lnB>
                    <a:solidFill>
                      <a:srgbClr val="FFFFFF"/>
                    </a:solidFill>
                  </a:tcPr>
                </a:tc>
              </a:tr>
            </a:tbl>
          </a:graphicData>
        </a:graphic>
      </p:graphicFrame>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p:tgtEl>
                                          <p:spTgt spid="23"/>
                                        </p:tgtEl>
                                        <p:attrNameLst>
                                          <p:attrName>ppt_y</p:attrName>
                                        </p:attrNameLst>
                                      </p:cBhvr>
                                      <p:tavLst>
                                        <p:tav tm="0">
                                          <p:val>
                                            <p:strVal val="#ppt_y+#ppt_h*1.125000"/>
                                          </p:val>
                                        </p:tav>
                                        <p:tav tm="100000">
                                          <p:val>
                                            <p:strVal val="#ppt_y"/>
                                          </p:val>
                                        </p:tav>
                                      </p:tavLst>
                                    </p:anim>
                                    <p:animEffect transition="in" filter="wipe(up)">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831" y="1540739"/>
            <a:ext cx="10888667" cy="4618014"/>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3</a:t>
              </a:r>
              <a:r>
                <a:rPr lang="zh-CN" altLang="en-US" dirty="0">
                  <a:latin typeface="+mn-ea"/>
                  <a:cs typeface="Arial" panose="020B0604020202020204" pitchFamily="34" charset="0"/>
                </a:rPr>
                <a:t>）评价标准</a:t>
              </a:r>
              <a:endParaRPr lang="zh-CN" altLang="en-US" dirty="0">
                <a:latin typeface="+mn-ea"/>
                <a:cs typeface="Arial" panose="020B0604020202020204" pitchFamily="34" charset="0"/>
              </a:endParaRPr>
            </a:p>
          </p:txBody>
        </p:sp>
      </p:grpSp>
      <p:sp>
        <p:nvSpPr>
          <p:cNvPr id="22" name="Rectangle: Rounded Corners 1"/>
          <p:cNvSpPr/>
          <p:nvPr>
            <p:custDataLst>
              <p:tags r:id="rId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pic>
        <p:nvPicPr>
          <p:cNvPr id="24" name="图片 23"/>
          <p:cNvPicPr>
            <a:picLocks noChangeAspect="1"/>
          </p:cNvPicPr>
          <p:nvPr>
            <p:custDataLst>
              <p:tags r:id="rId3"/>
            </p:custDataLst>
          </p:nvPr>
        </p:nvPicPr>
        <p:blipFill>
          <a:blip r:embed="rId4"/>
          <a:stretch>
            <a:fillRect/>
          </a:stretch>
        </p:blipFill>
        <p:spPr>
          <a:xfrm>
            <a:off x="1703705" y="2579370"/>
            <a:ext cx="9238615" cy="311975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6450013" y="3268980"/>
            <a:ext cx="5575935" cy="20320"/>
          </a:xfrm>
          <a:prstGeom prst="line">
            <a:avLst/>
          </a:prstGeom>
          <a:ln w="76200">
            <a:solidFill>
              <a:srgbClr val="1F557C"/>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0330" y="3465830"/>
            <a:ext cx="5594350" cy="1210945"/>
          </a:xfrm>
          <a:prstGeom prst="rect">
            <a:avLst/>
          </a:prstGeom>
          <a:solidFill>
            <a:srgbClr val="84AD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6" name="文本框 5"/>
          <p:cNvSpPr txBox="1"/>
          <p:nvPr/>
        </p:nvSpPr>
        <p:spPr>
          <a:xfrm>
            <a:off x="6450013" y="3590657"/>
            <a:ext cx="5545455" cy="1014730"/>
          </a:xfrm>
          <a:prstGeom prst="rect">
            <a:avLst/>
          </a:prstGeom>
          <a:noFill/>
        </p:spPr>
        <p:txBody>
          <a:bodyPr wrap="square">
            <a:spAutoFit/>
          </a:bodyPr>
          <a:lstStyle/>
          <a:p>
            <a:pPr eaLnBrk="1" fontAlgn="auto" hangingPunct="1">
              <a:lnSpc>
                <a:spcPct val="150000"/>
              </a:lnSpc>
              <a:spcBef>
                <a:spcPts val="0"/>
              </a:spcBef>
              <a:spcAft>
                <a:spcPts val="0"/>
              </a:spcAft>
              <a:defRPr/>
            </a:pPr>
            <a:r>
              <a:rPr sz="2000" b="1" dirty="0">
                <a:solidFill>
                  <a:schemeClr val="bg1"/>
                </a:solidFill>
                <a:latin typeface="+mn-lt"/>
                <a:ea typeface="+mn-ea"/>
                <a:cs typeface="+mn-ea"/>
                <a:sym typeface="+mn-lt"/>
              </a:rPr>
              <a:t>初步了解数据，熟悉数据为特征工程做</a:t>
            </a:r>
            <a:r>
              <a:rPr sz="2000" b="1" dirty="0">
                <a:solidFill>
                  <a:srgbClr val="FF0000"/>
                </a:solidFill>
                <a:latin typeface="+mn-lt"/>
                <a:ea typeface="+mn-ea"/>
                <a:cs typeface="+mn-ea"/>
                <a:sym typeface="+mn-lt"/>
              </a:rPr>
              <a:t>准备的阶段</a:t>
            </a:r>
            <a:r>
              <a:rPr lang="zh-CN" sz="2000" b="1" dirty="0">
                <a:solidFill>
                  <a:schemeClr val="bg1"/>
                </a:solidFill>
                <a:latin typeface="+mn-lt"/>
                <a:ea typeface="+mn-ea"/>
                <a:cs typeface="+mn-ea"/>
                <a:sym typeface="+mn-lt"/>
              </a:rPr>
              <a:t>。</a:t>
            </a:r>
            <a:endParaRPr lang="zh-CN" sz="2000" b="1" dirty="0">
              <a:solidFill>
                <a:schemeClr val="bg1"/>
              </a:solidFill>
              <a:latin typeface="+mn-lt"/>
              <a:ea typeface="+mn-ea"/>
              <a:cs typeface="+mn-ea"/>
              <a:sym typeface="+mn-lt"/>
            </a:endParaRPr>
          </a:p>
        </p:txBody>
      </p:sp>
      <p:sp>
        <p:nvSpPr>
          <p:cNvPr id="26" name="文本框 25"/>
          <p:cNvSpPr txBox="1"/>
          <p:nvPr/>
        </p:nvSpPr>
        <p:spPr>
          <a:xfrm>
            <a:off x="6324600" y="2341880"/>
            <a:ext cx="6001385" cy="922020"/>
          </a:xfrm>
          <a:prstGeom prst="rect">
            <a:avLst/>
          </a:prstGeom>
          <a:noFill/>
        </p:spPr>
        <p:txBody>
          <a:bodyPr wrap="square">
            <a:spAutoFit/>
          </a:bodyPr>
          <a:lstStyle/>
          <a:p>
            <a:pPr algn="l" eaLnBrk="1" fontAlgn="auto" hangingPunct="1">
              <a:lnSpc>
                <a:spcPct val="150000"/>
              </a:lnSpc>
              <a:spcBef>
                <a:spcPts val="0"/>
              </a:spcBef>
              <a:spcAft>
                <a:spcPts val="0"/>
              </a:spcAft>
              <a:buClrTx/>
              <a:buSzTx/>
              <a:buFontTx/>
              <a:defRPr/>
            </a:pPr>
            <a:r>
              <a:rPr lang="zh-CN" altLang="en-US" sz="3600" b="1" dirty="0">
                <a:solidFill>
                  <a:schemeClr val="tx1"/>
                </a:solidFill>
                <a:latin typeface="+mn-lt"/>
                <a:ea typeface="+mn-ea"/>
                <a:cs typeface="+mn-ea"/>
                <a:sym typeface="+mn-ea"/>
              </a:rPr>
              <a:t>数据探索分析</a:t>
            </a:r>
            <a:endParaRPr lang="zh-CN" altLang="en-US" sz="3600" b="1" dirty="0">
              <a:solidFill>
                <a:schemeClr val="tx1"/>
              </a:solidFill>
              <a:latin typeface="+mn-lt"/>
              <a:ea typeface="+mn-ea"/>
              <a:cs typeface="+mn-ea"/>
              <a:sym typeface="+mn-ea"/>
            </a:endParaRPr>
          </a:p>
        </p:txBody>
      </p:sp>
      <p:sp>
        <p:nvSpPr>
          <p:cNvPr id="3" name="椭圆 2"/>
          <p:cNvSpPr/>
          <p:nvPr/>
        </p:nvSpPr>
        <p:spPr>
          <a:xfrm>
            <a:off x="2319338" y="1179513"/>
            <a:ext cx="3973512" cy="397351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50184"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3163" y="598488"/>
            <a:ext cx="7134226" cy="533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3575050" y="2444750"/>
            <a:ext cx="2844800" cy="1783715"/>
          </a:xfrm>
          <a:prstGeom prst="rect">
            <a:avLst/>
          </a:prstGeom>
          <a:noFill/>
          <a:effectLst>
            <a:outerShdw blurRad="50800" dist="38100" dir="5400000" algn="t" rotWithShape="0">
              <a:prstClr val="black">
                <a:alpha val="40000"/>
              </a:prstClr>
            </a:outerShdw>
          </a:effectLst>
        </p:spPr>
        <p:txBody>
          <a:bodyPr>
            <a:spAutoFit/>
          </a:bodyPr>
          <a:lstStyle/>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PART  </a:t>
            </a:r>
            <a:endParaRPr lang="en-US" altLang="zh-CN" sz="5500" b="1" dirty="0">
              <a:solidFill>
                <a:schemeClr val="bg1"/>
              </a:solidFill>
              <a:latin typeface="+mn-lt"/>
              <a:ea typeface="+mn-ea"/>
              <a:cs typeface="+mn-ea"/>
              <a:sym typeface="+mn-lt"/>
            </a:endParaRPr>
          </a:p>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THREE</a:t>
            </a:r>
            <a:endParaRPr lang="en-US" altLang="zh-CN" sz="5500" b="1" dirty="0">
              <a:solidFill>
                <a:schemeClr val="bg1"/>
              </a:solidFill>
              <a:latin typeface="+mn-lt"/>
              <a:ea typeface="+mn-ea"/>
              <a:cs typeface="+mn-ea"/>
              <a:sym typeface="+mn-lt"/>
            </a:endParaRPr>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animEffect transition="in" filter="wipe(left)">
                                      <p:cBhvr>
                                        <p:cTn id="15" dur="500"/>
                                        <p:tgtEl>
                                          <p:spTgt spid="30">
                                            <p:txEl>
                                              <p:pRg st="0" end="0"/>
                                            </p:txEl>
                                          </p:spTgt>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Effect transition="in" filter="wipe(left)">
                                      <p:cBhvr>
                                        <p:cTn id="19" dur="500"/>
                                        <p:tgtEl>
                                          <p:spTgt spid="3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72757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4</a:t>
              </a:r>
              <a:r>
                <a:rPr lang="zh-CN" altLang="en-US" dirty="0">
                  <a:latin typeface="+mn-ea"/>
                  <a:cs typeface="Arial" panose="020B0604020202020204" pitchFamily="34" charset="0"/>
                </a:rPr>
                <a:t>）数据读入</a:t>
              </a:r>
              <a:endParaRPr lang="zh-CN" altLang="en-US" dirty="0">
                <a:latin typeface="+mn-ea"/>
                <a:cs typeface="Arial" panose="020B0604020202020204" pitchFamily="34" charset="0"/>
              </a:endParaRPr>
            </a:p>
          </p:txBody>
        </p:sp>
      </p:grpSp>
      <p:grpSp>
        <p:nvGrpSpPr>
          <p:cNvPr id="25" name="组合 24"/>
          <p:cNvGrpSpPr/>
          <p:nvPr/>
        </p:nvGrpSpPr>
        <p:grpSpPr>
          <a:xfrm>
            <a:off x="3552190" y="1902460"/>
            <a:ext cx="5347335" cy="596900"/>
            <a:chOff x="1722" y="4304"/>
            <a:chExt cx="8421" cy="940"/>
          </a:xfrm>
        </p:grpSpPr>
        <p:sp>
          <p:nvSpPr>
            <p:cNvPr id="24" name="圆角矩形 24"/>
            <p:cNvSpPr/>
            <p:nvPr>
              <p:custDataLst>
                <p:tags r:id="rId2"/>
              </p:custDataLst>
            </p:nvPr>
          </p:nvSpPr>
          <p:spPr>
            <a:xfrm>
              <a:off x="2626" y="4304"/>
              <a:ext cx="7517"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调用</a:t>
              </a:r>
              <a:r>
                <a:rPr lang="en-US" altLang="zh-CN" dirty="0">
                  <a:solidFill>
                    <a:schemeClr val="tx1"/>
                  </a:solidFill>
                  <a:effectLst/>
                  <a:ea typeface="+mn-lt"/>
                  <a:sym typeface="+mn-ea"/>
                </a:rPr>
                <a:t>Pandas</a:t>
              </a:r>
              <a:r>
                <a:rPr lang="zh-CN" altLang="en-US" dirty="0">
                  <a:solidFill>
                    <a:schemeClr val="tx1"/>
                  </a:solidFill>
                  <a:effectLst/>
                  <a:ea typeface="+mn-lt"/>
                  <a:sym typeface="+mn-ea"/>
                </a:rPr>
                <a:t>读取函数</a:t>
              </a:r>
              <a:r>
                <a:rPr lang="en-US" altLang="zh-CN" dirty="0">
                  <a:solidFill>
                    <a:schemeClr val="tx1"/>
                  </a:solidFill>
                  <a:effectLst/>
                  <a:ea typeface="+mn-lt"/>
                  <a:sym typeface="+mn-ea"/>
                </a:rPr>
                <a:t>,</a:t>
              </a:r>
              <a:r>
                <a:rPr lang="zh-CN" altLang="en-US" dirty="0">
                  <a:solidFill>
                    <a:schemeClr val="tx1"/>
                  </a:solidFill>
                  <a:effectLst/>
                  <a:ea typeface="+mn-lt"/>
                  <a:sym typeface="+mn-ea"/>
                </a:rPr>
                <a:t>查看数据形状</a:t>
              </a:r>
              <a:r>
                <a:rPr lang="en-US" altLang="zh-CN" dirty="0">
                  <a:solidFill>
                    <a:schemeClr val="tx1"/>
                  </a:solidFill>
                  <a:effectLst/>
                  <a:ea typeface="+mn-lt"/>
                  <a:sym typeface="+mn-ea"/>
                </a:rPr>
                <a:t>                        </a:t>
              </a:r>
              <a:endParaRPr lang="en-US" alt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2" name="组合 31"/>
          <p:cNvGrpSpPr/>
          <p:nvPr/>
        </p:nvGrpSpPr>
        <p:grpSpPr>
          <a:xfrm>
            <a:off x="1244600" y="3009265"/>
            <a:ext cx="9386570" cy="3021330"/>
            <a:chOff x="1960" y="4739"/>
            <a:chExt cx="14782" cy="4758"/>
          </a:xfrm>
        </p:grpSpPr>
        <p:pic>
          <p:nvPicPr>
            <p:cNvPr id="23" name="图片 22"/>
            <p:cNvPicPr>
              <a:picLocks noChangeAspect="1"/>
            </p:cNvPicPr>
            <p:nvPr>
              <p:custDataLst>
                <p:tags r:id="rId6"/>
              </p:custDataLst>
            </p:nvPr>
          </p:nvPicPr>
          <p:blipFill>
            <a:blip r:embed="rId7"/>
            <a:stretch>
              <a:fillRect/>
            </a:stretch>
          </p:blipFill>
          <p:spPr>
            <a:xfrm>
              <a:off x="1960" y="5252"/>
              <a:ext cx="8050" cy="3147"/>
            </a:xfrm>
            <a:prstGeom prst="rect">
              <a:avLst/>
            </a:prstGeom>
          </p:spPr>
        </p:pic>
        <p:pic>
          <p:nvPicPr>
            <p:cNvPr id="29" name="图片 28"/>
            <p:cNvPicPr>
              <a:picLocks noChangeAspect="1"/>
            </p:cNvPicPr>
            <p:nvPr>
              <p:custDataLst>
                <p:tags r:id="rId8"/>
              </p:custDataLst>
            </p:nvPr>
          </p:nvPicPr>
          <p:blipFill>
            <a:blip r:embed="rId9"/>
            <a:stretch>
              <a:fillRect/>
            </a:stretch>
          </p:blipFill>
          <p:spPr>
            <a:xfrm>
              <a:off x="10374" y="4739"/>
              <a:ext cx="6369" cy="1892"/>
            </a:xfrm>
            <a:prstGeom prst="rect">
              <a:avLst/>
            </a:prstGeom>
          </p:spPr>
        </p:pic>
        <p:pic>
          <p:nvPicPr>
            <p:cNvPr id="31" name="图片 30"/>
            <p:cNvPicPr>
              <a:picLocks noChangeAspect="1"/>
            </p:cNvPicPr>
            <p:nvPr>
              <p:custDataLst>
                <p:tags r:id="rId10"/>
              </p:custDataLst>
            </p:nvPr>
          </p:nvPicPr>
          <p:blipFill>
            <a:blip r:embed="rId11"/>
            <a:stretch>
              <a:fillRect/>
            </a:stretch>
          </p:blipFill>
          <p:spPr>
            <a:xfrm>
              <a:off x="10374" y="6817"/>
              <a:ext cx="6369" cy="2681"/>
            </a:xfrm>
            <a:prstGeom prst="rect">
              <a:avLst/>
            </a:prstGeom>
          </p:spPr>
        </p:pic>
      </p:grpSp>
      <p:sp>
        <p:nvSpPr>
          <p:cNvPr id="33" name="Rectangle: Rounded Corners 1"/>
          <p:cNvSpPr/>
          <p:nvPr>
            <p:custDataLst>
              <p:tags r:id="rId1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additive="base">
                                        <p:cTn id="18" dur="500"/>
                                        <p:tgtEl>
                                          <p:spTgt spid="32"/>
                                        </p:tgtEl>
                                        <p:attrNameLst>
                                          <p:attrName>ppt_y</p:attrName>
                                        </p:attrNameLst>
                                      </p:cBhvr>
                                      <p:tavLst>
                                        <p:tav tm="0">
                                          <p:val>
                                            <p:strVal val="#ppt_y+#ppt_h*1.125000"/>
                                          </p:val>
                                        </p:tav>
                                        <p:tav tm="100000">
                                          <p:val>
                                            <p:strVal val="#ppt_y"/>
                                          </p:val>
                                        </p:tav>
                                      </p:tavLst>
                                    </p:anim>
                                    <p:animEffect transition="in" filter="wipe(up)">
                                      <p:cBhvr>
                                        <p:cTn id="1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5</a:t>
              </a:r>
              <a:r>
                <a:rPr lang="zh-CN" altLang="en-US" dirty="0">
                  <a:latin typeface="+mn-ea"/>
                  <a:cs typeface="Arial" panose="020B0604020202020204" pitchFamily="34" charset="0"/>
                </a:rPr>
                <a:t>）数据理解</a:t>
              </a:r>
              <a:endParaRPr lang="zh-CN" altLang="en-US" dirty="0">
                <a:latin typeface="+mn-ea"/>
                <a:cs typeface="Arial" panose="020B0604020202020204" pitchFamily="34" charset="0"/>
              </a:endParaRPr>
            </a:p>
          </p:txBody>
        </p:sp>
      </p:grpSp>
      <p:grpSp>
        <p:nvGrpSpPr>
          <p:cNvPr id="25" name="组合 24"/>
          <p:cNvGrpSpPr/>
          <p:nvPr/>
        </p:nvGrpSpPr>
        <p:grpSpPr>
          <a:xfrm>
            <a:off x="4048760" y="191262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dirty="0">
                  <a:solidFill>
                    <a:schemeClr val="tx1"/>
                  </a:solidFill>
                  <a:effectLst/>
                  <a:ea typeface="+mn-lt"/>
                  <a:sym typeface="+mn-ea"/>
                </a:rPr>
                <a:t>查看数据描述性统计</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sp>
        <p:nvSpPr>
          <p:cNvPr id="23" name="Rectangle: Rounded Corners 1"/>
          <p:cNvSpPr/>
          <p:nvPr>
            <p:custDataLst>
              <p:tags r:id="rId6"/>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grpSp>
        <p:nvGrpSpPr>
          <p:cNvPr id="35" name="组合 34"/>
          <p:cNvGrpSpPr/>
          <p:nvPr/>
        </p:nvGrpSpPr>
        <p:grpSpPr>
          <a:xfrm>
            <a:off x="1388745" y="3051810"/>
            <a:ext cx="10215245" cy="2985770"/>
            <a:chOff x="2187" y="4806"/>
            <a:chExt cx="16087" cy="4702"/>
          </a:xfrm>
        </p:grpSpPr>
        <p:pic>
          <p:nvPicPr>
            <p:cNvPr id="29" name="图片 28"/>
            <p:cNvPicPr>
              <a:picLocks noChangeAspect="1"/>
            </p:cNvPicPr>
            <p:nvPr/>
          </p:nvPicPr>
          <p:blipFill>
            <a:blip r:embed="rId7"/>
            <a:stretch>
              <a:fillRect/>
            </a:stretch>
          </p:blipFill>
          <p:spPr>
            <a:xfrm>
              <a:off x="2187" y="5859"/>
              <a:ext cx="4189" cy="1320"/>
            </a:xfrm>
            <a:prstGeom prst="rect">
              <a:avLst/>
            </a:prstGeom>
          </p:spPr>
        </p:pic>
        <p:pic>
          <p:nvPicPr>
            <p:cNvPr id="34" name="图片 33"/>
            <p:cNvPicPr>
              <a:picLocks noChangeAspect="1"/>
            </p:cNvPicPr>
            <p:nvPr/>
          </p:nvPicPr>
          <p:blipFill>
            <a:blip r:embed="rId8"/>
            <a:stretch>
              <a:fillRect/>
            </a:stretch>
          </p:blipFill>
          <p:spPr>
            <a:xfrm>
              <a:off x="6750" y="4806"/>
              <a:ext cx="11525" cy="4703"/>
            </a:xfrm>
            <a:prstGeom prst="rect">
              <a:avLst/>
            </a:prstGeom>
          </p:spPr>
        </p:pic>
      </p:gr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p:tgtEl>
                                          <p:spTgt spid="35"/>
                                        </p:tgtEl>
                                        <p:attrNameLst>
                                          <p:attrName>ppt_y</p:attrName>
                                        </p:attrNameLst>
                                      </p:cBhvr>
                                      <p:tavLst>
                                        <p:tav tm="0">
                                          <p:val>
                                            <p:strVal val="#ppt_y+#ppt_h*1.125000"/>
                                          </p:val>
                                        </p:tav>
                                        <p:tav tm="100000">
                                          <p:val>
                                            <p:strVal val="#ppt_y"/>
                                          </p:val>
                                        </p:tav>
                                      </p:tavLst>
                                    </p:anim>
                                    <p:animEffect transition="in" filter="wipe(up)">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715645"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807440" cy="458242"/>
            <a:chOff x="5370731" y="1721511"/>
            <a:chExt cx="18074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6884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6</a:t>
              </a:r>
              <a:r>
                <a:rPr lang="zh-CN" altLang="en-US" dirty="0">
                  <a:latin typeface="+mn-ea"/>
                  <a:cs typeface="Arial" panose="020B0604020202020204" pitchFamily="34" charset="0"/>
                </a:rPr>
                <a:t>）数据完整度</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dirty="0">
                  <a:solidFill>
                    <a:schemeClr val="tx1"/>
                  </a:solidFill>
                  <a:effectLst/>
                  <a:ea typeface="+mn-lt"/>
                  <a:sym typeface="+mn-ea"/>
                </a:rPr>
                <a:t>查看数据缺失值和唯一值等</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sp>
        <p:nvSpPr>
          <p:cNvPr id="3" name="Rectangle: Rounded Corners 1"/>
          <p:cNvSpPr/>
          <p:nvPr>
            <p:custDataLst>
              <p:tags r:id="rId6"/>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grpSp>
        <p:nvGrpSpPr>
          <p:cNvPr id="34" name="组合 33"/>
          <p:cNvGrpSpPr/>
          <p:nvPr/>
        </p:nvGrpSpPr>
        <p:grpSpPr>
          <a:xfrm>
            <a:off x="1379220" y="2621915"/>
            <a:ext cx="10085070" cy="3432810"/>
            <a:chOff x="2172" y="4129"/>
            <a:chExt cx="15882" cy="5406"/>
          </a:xfrm>
        </p:grpSpPr>
        <p:pic>
          <p:nvPicPr>
            <p:cNvPr id="32" name="图片 31"/>
            <p:cNvPicPr>
              <a:picLocks noChangeAspect="1"/>
            </p:cNvPicPr>
            <p:nvPr>
              <p:custDataLst>
                <p:tags r:id="rId7"/>
              </p:custDataLst>
            </p:nvPr>
          </p:nvPicPr>
          <p:blipFill>
            <a:blip r:embed="rId8"/>
            <a:srcRect r="838" b="4381"/>
            <a:stretch>
              <a:fillRect/>
            </a:stretch>
          </p:blipFill>
          <p:spPr>
            <a:xfrm>
              <a:off x="10452" y="4129"/>
              <a:ext cx="7603" cy="5406"/>
            </a:xfrm>
            <a:prstGeom prst="rect">
              <a:avLst/>
            </a:prstGeom>
          </p:spPr>
        </p:pic>
        <p:pic>
          <p:nvPicPr>
            <p:cNvPr id="31" name="图片 30"/>
            <p:cNvPicPr>
              <a:picLocks noChangeAspect="1"/>
            </p:cNvPicPr>
            <p:nvPr>
              <p:custDataLst>
                <p:tags r:id="rId9"/>
              </p:custDataLst>
            </p:nvPr>
          </p:nvPicPr>
          <p:blipFill>
            <a:blip r:embed="rId10"/>
            <a:stretch>
              <a:fillRect/>
            </a:stretch>
          </p:blipFill>
          <p:spPr>
            <a:xfrm>
              <a:off x="2172" y="5350"/>
              <a:ext cx="7568" cy="2585"/>
            </a:xfrm>
            <a:prstGeom prst="rect">
              <a:avLst/>
            </a:prstGeom>
          </p:spPr>
        </p:pic>
      </p:gr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p:tgtEl>
                                          <p:spTgt spid="34"/>
                                        </p:tgtEl>
                                        <p:attrNameLst>
                                          <p:attrName>ppt_y</p:attrName>
                                        </p:attrNameLst>
                                      </p:cBhvr>
                                      <p:tavLst>
                                        <p:tav tm="0">
                                          <p:val>
                                            <p:strVal val="#ppt_y+#ppt_h*1.125000"/>
                                          </p:val>
                                        </p:tav>
                                        <p:tav tm="100000">
                                          <p:val>
                                            <p:strVal val="#ppt_y"/>
                                          </p:val>
                                        </p:tav>
                                      </p:tavLst>
                                    </p:anim>
                                    <p:animEffect transition="in" filter="wipe(up)">
                                      <p:cBhvr>
                                        <p:cTn id="1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50035"/>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7</a:t>
              </a:r>
              <a:r>
                <a:rPr lang="zh-CN" altLang="en-US" dirty="0">
                  <a:latin typeface="+mn-ea"/>
                  <a:cs typeface="Arial" panose="020B0604020202020204" pitchFamily="34" charset="0"/>
                </a:rPr>
                <a:t>）数据特征</a:t>
              </a:r>
              <a:endParaRPr lang="zh-CN" altLang="en-US" dirty="0">
                <a:latin typeface="+mn-ea"/>
                <a:cs typeface="Arial" panose="020B0604020202020204" pitchFamily="34" charset="0"/>
              </a:endParaRPr>
            </a:p>
          </p:txBody>
        </p:sp>
      </p:grpSp>
      <p:sp>
        <p:nvSpPr>
          <p:cNvPr id="45" name="TextBox 25"/>
          <p:cNvSpPr txBox="1"/>
          <p:nvPr/>
        </p:nvSpPr>
        <p:spPr>
          <a:xfrm>
            <a:off x="1770380" y="2579370"/>
            <a:ext cx="9520555" cy="2813685"/>
          </a:xfrm>
          <a:prstGeom prst="rect">
            <a:avLst/>
          </a:prstGeom>
          <a:noFill/>
        </p:spPr>
        <p:txBody>
          <a:bodyPr wrap="square" rtlCol="0">
            <a:noAutofit/>
          </a:bodyPr>
          <a:lstStyle/>
          <a:p>
            <a:pPr>
              <a:lnSpc>
                <a:spcPct val="150000"/>
              </a:lnSpc>
            </a:pPr>
            <a:r>
              <a:rPr lang="zh-CN" altLang="en-US" dirty="0"/>
              <a:t>特征一般都是由类别型特征和数值型特征组成，而数值型特征又分为连续型和离散型。</a:t>
            </a:r>
            <a:endParaRPr lang="zh-CN" altLang="en-US" dirty="0"/>
          </a:p>
          <a:p>
            <a:pPr>
              <a:lnSpc>
                <a:spcPct val="150000"/>
              </a:lnSpc>
            </a:pPr>
            <a:endParaRPr lang="zh-CN" altLang="en-US" dirty="0"/>
          </a:p>
          <a:p>
            <a:pPr>
              <a:lnSpc>
                <a:spcPct val="150000"/>
              </a:lnSpc>
            </a:pPr>
            <a:r>
              <a:rPr lang="zh-CN" altLang="en-US" dirty="0"/>
              <a:t>数值型特征本是可以直接入模的，但往往要对其做分箱，降低变量的复杂性，减少变量噪音对模型的影响，提高自变量和因变量的相关度，从而使模型更加稳定。</a:t>
            </a:r>
            <a:endParaRPr lang="zh-CN" altLang="en-US" dirty="0"/>
          </a:p>
          <a:p>
            <a:pPr>
              <a:lnSpc>
                <a:spcPct val="150000"/>
              </a:lnSpc>
            </a:pPr>
            <a:endParaRPr lang="zh-CN" altLang="en-US" dirty="0"/>
          </a:p>
          <a:p>
            <a:pPr>
              <a:lnSpc>
                <a:spcPct val="150000"/>
              </a:lnSpc>
            </a:pPr>
            <a:r>
              <a:rPr lang="zh-CN" altLang="en-US" dirty="0">
                <a:sym typeface="+mn-ea"/>
              </a:rPr>
              <a:t>类别型特征有时具有非数值关系，有时也具有数值关系，要结合业务判断。</a:t>
            </a:r>
            <a:endParaRPr lang="zh-CN" altLang="en-US" dirty="0"/>
          </a:p>
          <a:p>
            <a:pPr>
              <a:lnSpc>
                <a:spcPct val="150000"/>
              </a:lnSpc>
            </a:pPr>
            <a:endParaRPr lang="zh-CN" altLang="en-US" dirty="0"/>
          </a:p>
        </p:txBody>
      </p:sp>
      <p:sp>
        <p:nvSpPr>
          <p:cNvPr id="3" name="Rectangle: Rounded Corners 1"/>
          <p:cNvSpPr/>
          <p:nvPr>
            <p:custDataLst>
              <p:tags r:id="rId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7</a:t>
              </a:r>
              <a:r>
                <a:rPr lang="zh-CN" altLang="en-US" dirty="0">
                  <a:latin typeface="+mn-ea"/>
                  <a:cs typeface="Arial" panose="020B0604020202020204" pitchFamily="34" charset="0"/>
                </a:rPr>
                <a:t>）数据特征</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查看筛选</a:t>
              </a:r>
              <a:r>
                <a:rPr lang="zh-CN" dirty="0">
                  <a:solidFill>
                    <a:schemeClr val="tx1"/>
                  </a:solidFill>
                  <a:effectLst/>
                  <a:ea typeface="+mn-lt"/>
                  <a:sym typeface="+mn-ea"/>
                </a:rPr>
                <a:t>特征数值和对象类型</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6" name="组合 35"/>
          <p:cNvGrpSpPr/>
          <p:nvPr/>
        </p:nvGrpSpPr>
        <p:grpSpPr>
          <a:xfrm>
            <a:off x="1473835" y="2621280"/>
            <a:ext cx="9519920" cy="2008505"/>
            <a:chOff x="2321" y="4128"/>
            <a:chExt cx="14992" cy="3163"/>
          </a:xfrm>
        </p:grpSpPr>
        <p:sp>
          <p:nvSpPr>
            <p:cNvPr id="45" name="TextBox 25"/>
            <p:cNvSpPr txBox="1"/>
            <p:nvPr>
              <p:custDataLst>
                <p:tags r:id="rId6"/>
              </p:custDataLst>
            </p:nvPr>
          </p:nvSpPr>
          <p:spPr>
            <a:xfrm>
              <a:off x="2321" y="4128"/>
              <a:ext cx="14993" cy="972"/>
            </a:xfrm>
            <a:prstGeom prst="rect">
              <a:avLst/>
            </a:prstGeom>
            <a:noFill/>
          </p:spPr>
          <p:txBody>
            <a:bodyPr wrap="square" rtlCol="0">
              <a:noAutofit/>
            </a:bodyPr>
            <a:lstStyle/>
            <a:p>
              <a:pPr>
                <a:lnSpc>
                  <a:spcPct val="150000"/>
                </a:lnSpc>
              </a:pPr>
              <a:r>
                <a:rPr lang="zh-CN" altLang="en-US" dirty="0"/>
                <a:t>除了notRepairedDamage 为object类型其他都为数字，查看其值情况。</a:t>
              </a:r>
              <a:endParaRPr lang="zh-CN" altLang="en-US" dirty="0"/>
            </a:p>
          </p:txBody>
        </p:sp>
        <p:pic>
          <p:nvPicPr>
            <p:cNvPr id="33" name="图片 32"/>
            <p:cNvPicPr>
              <a:picLocks noChangeAspect="1"/>
            </p:cNvPicPr>
            <p:nvPr>
              <p:custDataLst>
                <p:tags r:id="rId7"/>
              </p:custDataLst>
            </p:nvPr>
          </p:nvPicPr>
          <p:blipFill>
            <a:blip r:embed="rId8"/>
            <a:stretch>
              <a:fillRect/>
            </a:stretch>
          </p:blipFill>
          <p:spPr>
            <a:xfrm>
              <a:off x="2499" y="4933"/>
              <a:ext cx="5548" cy="2359"/>
            </a:xfrm>
            <a:prstGeom prst="rect">
              <a:avLst/>
            </a:prstGeom>
          </p:spPr>
        </p:pic>
      </p:grpSp>
      <p:grpSp>
        <p:nvGrpSpPr>
          <p:cNvPr id="37" name="组合 36"/>
          <p:cNvGrpSpPr/>
          <p:nvPr/>
        </p:nvGrpSpPr>
        <p:grpSpPr>
          <a:xfrm>
            <a:off x="1561465" y="4750435"/>
            <a:ext cx="9729252" cy="1198880"/>
            <a:chOff x="2459" y="7481"/>
            <a:chExt cx="14992" cy="1888"/>
          </a:xfrm>
        </p:grpSpPr>
        <p:sp>
          <p:nvSpPr>
            <p:cNvPr id="34" name="TextBox 25"/>
            <p:cNvSpPr txBox="1"/>
            <p:nvPr>
              <p:custDataLst>
                <p:tags r:id="rId9"/>
              </p:custDataLst>
            </p:nvPr>
          </p:nvSpPr>
          <p:spPr>
            <a:xfrm>
              <a:off x="2459" y="7481"/>
              <a:ext cx="14993" cy="972"/>
            </a:xfrm>
            <a:prstGeom prst="rect">
              <a:avLst/>
            </a:prstGeom>
            <a:noFill/>
          </p:spPr>
          <p:txBody>
            <a:bodyPr wrap="square" rtlCol="0">
              <a:noAutofit/>
            </a:bodyPr>
            <a:lstStyle/>
            <a:p>
              <a:pPr>
                <a:lnSpc>
                  <a:spcPct val="150000"/>
                </a:lnSpc>
              </a:pPr>
              <a:r>
                <a:rPr lang="zh-CN" altLang="en-US" dirty="0"/>
                <a:t>‘ - ’也为空缺值，因为很多模型对nan有直接的处理，这里我们先不做处理，先替换成nan。</a:t>
              </a:r>
              <a:endParaRPr lang="zh-CN" altLang="en-US" dirty="0"/>
            </a:p>
          </p:txBody>
        </p:sp>
        <p:pic>
          <p:nvPicPr>
            <p:cNvPr id="35" name="图片 34"/>
            <p:cNvPicPr>
              <a:picLocks noChangeAspect="1"/>
            </p:cNvPicPr>
            <p:nvPr>
              <p:custDataLst>
                <p:tags r:id="rId10"/>
              </p:custDataLst>
            </p:nvPr>
          </p:nvPicPr>
          <p:blipFill>
            <a:blip r:embed="rId11"/>
            <a:stretch>
              <a:fillRect/>
            </a:stretch>
          </p:blipFill>
          <p:spPr>
            <a:xfrm>
              <a:off x="2499" y="8393"/>
              <a:ext cx="10289" cy="976"/>
            </a:xfrm>
            <a:prstGeom prst="rect">
              <a:avLst/>
            </a:prstGeom>
          </p:spPr>
        </p:pic>
      </p:grpSp>
      <p:sp>
        <p:nvSpPr>
          <p:cNvPr id="3" name="Rectangle: Rounded Corners 1"/>
          <p:cNvSpPr/>
          <p:nvPr>
            <p:custDataLst>
              <p:tags r:id="rId1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p:tgtEl>
                                          <p:spTgt spid="36"/>
                                        </p:tgtEl>
                                        <p:attrNameLst>
                                          <p:attrName>ppt_y</p:attrName>
                                        </p:attrNameLst>
                                      </p:cBhvr>
                                      <p:tavLst>
                                        <p:tav tm="0">
                                          <p:val>
                                            <p:strVal val="#ppt_y+#ppt_h*1.125000"/>
                                          </p:val>
                                        </p:tav>
                                        <p:tav tm="100000">
                                          <p:val>
                                            <p:strVal val="#ppt_y"/>
                                          </p:val>
                                        </p:tav>
                                      </p:tavLst>
                                    </p:anim>
                                    <p:animEffect transition="in" filter="wipe(up)">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500"/>
                                        <p:tgtEl>
                                          <p:spTgt spid="37"/>
                                        </p:tgtEl>
                                        <p:attrNameLst>
                                          <p:attrName>ppt_y</p:attrName>
                                        </p:attrNameLst>
                                      </p:cBhvr>
                                      <p:tavLst>
                                        <p:tav tm="0">
                                          <p:val>
                                            <p:strVal val="#ppt_y+#ppt_h*1.125000"/>
                                          </p:val>
                                        </p:tav>
                                        <p:tav tm="100000">
                                          <p:val>
                                            <p:strVal val="#ppt_y"/>
                                          </p:val>
                                        </p:tav>
                                      </p:tavLst>
                                    </p:anim>
                                    <p:animEffect transition="in" filter="wipe(up)">
                                      <p:cBhvr>
                                        <p:cTn id="2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578840" cy="458242"/>
            <a:chOff x="5370731" y="1721511"/>
            <a:chExt cx="15788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4598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7</a:t>
              </a:r>
              <a:r>
                <a:rPr lang="zh-CN" altLang="en-US" dirty="0">
                  <a:latin typeface="+mn-ea"/>
                  <a:cs typeface="Arial" panose="020B0604020202020204" pitchFamily="34" charset="0"/>
                </a:rPr>
                <a:t>）数据特征</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处理严重倾斜类别特征</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23" name="组合 22"/>
          <p:cNvGrpSpPr/>
          <p:nvPr/>
        </p:nvGrpSpPr>
        <p:grpSpPr>
          <a:xfrm>
            <a:off x="1682750" y="2642870"/>
            <a:ext cx="9519920" cy="3522345"/>
            <a:chOff x="2650" y="4162"/>
            <a:chExt cx="14992" cy="5547"/>
          </a:xfrm>
        </p:grpSpPr>
        <p:sp>
          <p:nvSpPr>
            <p:cNvPr id="34" name="TextBox 25"/>
            <p:cNvSpPr txBox="1"/>
            <p:nvPr>
              <p:custDataLst>
                <p:tags r:id="rId6"/>
              </p:custDataLst>
            </p:nvPr>
          </p:nvSpPr>
          <p:spPr>
            <a:xfrm>
              <a:off x="2650" y="7997"/>
              <a:ext cx="14993" cy="1712"/>
            </a:xfrm>
            <a:prstGeom prst="rect">
              <a:avLst/>
            </a:prstGeom>
            <a:noFill/>
          </p:spPr>
          <p:txBody>
            <a:bodyPr wrap="square" rtlCol="0">
              <a:noAutofit/>
            </a:bodyPr>
            <a:lstStyle/>
            <a:p>
              <a:pPr>
                <a:lnSpc>
                  <a:spcPct val="150000"/>
                </a:lnSpc>
              </a:pPr>
              <a:r>
                <a:rPr lang="zh-CN" altLang="en-US" dirty="0"/>
                <a:t>可删除小量且严重倾斜类别特征，一般不会对预测造成影响，也可以继续挖掘，但是一般意义不大。</a:t>
              </a:r>
              <a:endParaRPr lang="zh-CN" altLang="en-US" dirty="0"/>
            </a:p>
          </p:txBody>
        </p:sp>
        <p:pic>
          <p:nvPicPr>
            <p:cNvPr id="3" name="图片 2"/>
            <p:cNvPicPr>
              <a:picLocks noChangeAspect="1"/>
            </p:cNvPicPr>
            <p:nvPr>
              <p:custDataLst>
                <p:tags r:id="rId7"/>
              </p:custDataLst>
            </p:nvPr>
          </p:nvPicPr>
          <p:blipFill>
            <a:blip r:embed="rId8"/>
            <a:stretch>
              <a:fillRect/>
            </a:stretch>
          </p:blipFill>
          <p:spPr>
            <a:xfrm>
              <a:off x="7442" y="4162"/>
              <a:ext cx="5556" cy="3730"/>
            </a:xfrm>
            <a:prstGeom prst="rect">
              <a:avLst/>
            </a:prstGeom>
          </p:spPr>
        </p:pic>
      </p:grpSp>
      <p:sp>
        <p:nvSpPr>
          <p:cNvPr id="26" name="Rectangle: Rounded Corners 1"/>
          <p:cNvSpPr/>
          <p:nvPr>
            <p:custDataLst>
              <p:tags r:id="rId9"/>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p:tgtEl>
                                          <p:spTgt spid="23"/>
                                        </p:tgtEl>
                                        <p:attrNameLst>
                                          <p:attrName>ppt_y</p:attrName>
                                        </p:attrNameLst>
                                      </p:cBhvr>
                                      <p:tavLst>
                                        <p:tav tm="0">
                                          <p:val>
                                            <p:strVal val="#ppt_y+#ppt_h*1.125000"/>
                                          </p:val>
                                        </p:tav>
                                        <p:tav tm="100000">
                                          <p:val>
                                            <p:strVal val="#ppt_y"/>
                                          </p:val>
                                        </p:tav>
                                      </p:tavLst>
                                    </p:anim>
                                    <p:animEffect transition="in" filter="wipe(up)">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726940"/>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8</a:t>
              </a:r>
              <a:r>
                <a:rPr lang="zh-CN" altLang="en-US" dirty="0">
                  <a:latin typeface="+mn-ea"/>
                  <a:cs typeface="Arial" panose="020B0604020202020204" pitchFamily="34" charset="0"/>
                </a:rPr>
                <a:t>）预测值分布分析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dirty="0">
                  <a:solidFill>
                    <a:schemeClr val="tx1"/>
                  </a:solidFill>
                  <a:effectLst/>
                  <a:ea typeface="+mn-lt"/>
                  <a:sym typeface="+mn-ea"/>
                </a:rPr>
                <a:t>可视化预测值分布情况</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5" name="组合 34"/>
          <p:cNvGrpSpPr/>
          <p:nvPr/>
        </p:nvGrpSpPr>
        <p:grpSpPr>
          <a:xfrm>
            <a:off x="998855" y="2745740"/>
            <a:ext cx="10405745" cy="2663190"/>
            <a:chOff x="1573" y="4082"/>
            <a:chExt cx="16387" cy="4194"/>
          </a:xfrm>
        </p:grpSpPr>
        <p:pic>
          <p:nvPicPr>
            <p:cNvPr id="26" name="图片 25"/>
            <p:cNvPicPr>
              <a:picLocks noChangeAspect="1"/>
            </p:cNvPicPr>
            <p:nvPr>
              <p:custDataLst>
                <p:tags r:id="rId6"/>
              </p:custDataLst>
            </p:nvPr>
          </p:nvPicPr>
          <p:blipFill>
            <a:blip r:embed="rId7"/>
            <a:stretch>
              <a:fillRect/>
            </a:stretch>
          </p:blipFill>
          <p:spPr>
            <a:xfrm>
              <a:off x="1573" y="4082"/>
              <a:ext cx="8609" cy="4195"/>
            </a:xfrm>
            <a:prstGeom prst="rect">
              <a:avLst/>
            </a:prstGeom>
          </p:spPr>
        </p:pic>
        <p:sp>
          <p:nvSpPr>
            <p:cNvPr id="34" name="TextBox 25"/>
            <p:cNvSpPr txBox="1"/>
            <p:nvPr>
              <p:custDataLst>
                <p:tags r:id="rId8"/>
              </p:custDataLst>
            </p:nvPr>
          </p:nvSpPr>
          <p:spPr>
            <a:xfrm>
              <a:off x="10752" y="6792"/>
              <a:ext cx="7166" cy="1485"/>
            </a:xfrm>
            <a:prstGeom prst="rect">
              <a:avLst/>
            </a:prstGeom>
            <a:noFill/>
          </p:spPr>
          <p:txBody>
            <a:bodyPr wrap="square" rtlCol="0">
              <a:noAutofit/>
            </a:bodyPr>
            <a:lstStyle/>
            <a:p>
              <a:pPr>
                <a:lnSpc>
                  <a:spcPct val="150000"/>
                </a:lnSpc>
              </a:pPr>
              <a:r>
                <a:rPr lang="zh-CN" altLang="en-US" dirty="0"/>
                <a:t>通过数值查看，价格不服从正态分布，所以在进行回归之前，它必须进行转换。</a:t>
              </a:r>
              <a:endParaRPr lang="zh-CN" altLang="en-US" dirty="0"/>
            </a:p>
          </p:txBody>
        </p:sp>
        <p:pic>
          <p:nvPicPr>
            <p:cNvPr id="33" name="图片 32"/>
            <p:cNvPicPr>
              <a:picLocks noChangeAspect="1"/>
            </p:cNvPicPr>
            <p:nvPr>
              <p:custDataLst>
                <p:tags r:id="rId9"/>
              </p:custDataLst>
            </p:nvPr>
          </p:nvPicPr>
          <p:blipFill>
            <a:blip r:embed="rId10"/>
            <a:stretch>
              <a:fillRect/>
            </a:stretch>
          </p:blipFill>
          <p:spPr>
            <a:xfrm>
              <a:off x="10834" y="4082"/>
              <a:ext cx="7127" cy="819"/>
            </a:xfrm>
            <a:prstGeom prst="rect">
              <a:avLst/>
            </a:prstGeom>
          </p:spPr>
        </p:pic>
      </p:grpSp>
      <p:sp>
        <p:nvSpPr>
          <p:cNvPr id="3" name="Rectangle: Rounded Corners 1"/>
          <p:cNvSpPr/>
          <p:nvPr>
            <p:custDataLst>
              <p:tags r:id="rId11"/>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p:tgtEl>
                                          <p:spTgt spid="35"/>
                                        </p:tgtEl>
                                        <p:attrNameLst>
                                          <p:attrName>ppt_y</p:attrName>
                                        </p:attrNameLst>
                                      </p:cBhvr>
                                      <p:tavLst>
                                        <p:tav tm="0">
                                          <p:val>
                                            <p:strVal val="#ppt_y+#ppt_h*1.125000"/>
                                          </p:val>
                                        </p:tav>
                                        <p:tav tm="100000">
                                          <p:val>
                                            <p:strVal val="#ppt_y"/>
                                          </p:val>
                                        </p:tav>
                                      </p:tavLst>
                                    </p:anim>
                                    <p:animEffect transition="in" filter="wipe(up)">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726940"/>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8</a:t>
              </a:r>
              <a:r>
                <a:rPr lang="zh-CN" altLang="en-US" dirty="0">
                  <a:latin typeface="+mn-ea"/>
                  <a:cs typeface="Arial" panose="020B0604020202020204" pitchFamily="34" charset="0"/>
                </a:rPr>
                <a:t>）预测值分布分析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dirty="0">
                  <a:solidFill>
                    <a:schemeClr val="tx1"/>
                  </a:solidFill>
                  <a:effectLst/>
                  <a:ea typeface="+mn-lt"/>
                  <a:sym typeface="+mn-ea"/>
                </a:rPr>
                <a:t>可视化预测值分布情况</a:t>
              </a:r>
              <a:endParaRPr lang="zh-CN"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1" name="组合 30"/>
          <p:cNvGrpSpPr/>
          <p:nvPr/>
        </p:nvGrpSpPr>
        <p:grpSpPr>
          <a:xfrm>
            <a:off x="884555" y="2813685"/>
            <a:ext cx="10754360" cy="3180080"/>
            <a:chOff x="1393" y="4431"/>
            <a:chExt cx="16936" cy="5008"/>
          </a:xfrm>
        </p:grpSpPr>
        <p:pic>
          <p:nvPicPr>
            <p:cNvPr id="3" name="图片 2"/>
            <p:cNvPicPr>
              <a:picLocks noChangeAspect="1"/>
            </p:cNvPicPr>
            <p:nvPr>
              <p:custDataLst>
                <p:tags r:id="rId6"/>
              </p:custDataLst>
            </p:nvPr>
          </p:nvPicPr>
          <p:blipFill>
            <a:blip r:embed="rId7"/>
            <a:srcRect l="1994"/>
            <a:stretch>
              <a:fillRect/>
            </a:stretch>
          </p:blipFill>
          <p:spPr>
            <a:xfrm>
              <a:off x="1393" y="4431"/>
              <a:ext cx="6193" cy="4188"/>
            </a:xfrm>
            <a:prstGeom prst="rect">
              <a:avLst/>
            </a:prstGeom>
          </p:spPr>
        </p:pic>
        <p:pic>
          <p:nvPicPr>
            <p:cNvPr id="23" name="图片 22"/>
            <p:cNvPicPr>
              <a:picLocks noChangeAspect="1"/>
            </p:cNvPicPr>
            <p:nvPr>
              <p:custDataLst>
                <p:tags r:id="rId8"/>
              </p:custDataLst>
            </p:nvPr>
          </p:nvPicPr>
          <p:blipFill>
            <a:blip r:embed="rId9"/>
            <a:srcRect l="2716" b="867"/>
            <a:stretch>
              <a:fillRect/>
            </a:stretch>
          </p:blipFill>
          <p:spPr>
            <a:xfrm>
              <a:off x="7105" y="4462"/>
              <a:ext cx="6091" cy="4116"/>
            </a:xfrm>
            <a:prstGeom prst="rect">
              <a:avLst/>
            </a:prstGeom>
          </p:spPr>
        </p:pic>
        <p:pic>
          <p:nvPicPr>
            <p:cNvPr id="28" name="图片 27"/>
            <p:cNvPicPr>
              <a:picLocks noChangeAspect="1"/>
            </p:cNvPicPr>
            <p:nvPr>
              <p:custDataLst>
                <p:tags r:id="rId10"/>
              </p:custDataLst>
            </p:nvPr>
          </p:nvPicPr>
          <p:blipFill>
            <a:blip r:embed="rId11"/>
            <a:srcRect l="2810" r="5283" b="-123"/>
            <a:stretch>
              <a:fillRect/>
            </a:stretch>
          </p:blipFill>
          <p:spPr>
            <a:xfrm>
              <a:off x="12881" y="4493"/>
              <a:ext cx="5448" cy="4085"/>
            </a:xfrm>
            <a:prstGeom prst="rect">
              <a:avLst/>
            </a:prstGeom>
          </p:spPr>
        </p:pic>
        <p:sp>
          <p:nvSpPr>
            <p:cNvPr id="29" name="TextBox 25"/>
            <p:cNvSpPr txBox="1"/>
            <p:nvPr>
              <p:custDataLst>
                <p:tags r:id="rId12"/>
              </p:custDataLst>
            </p:nvPr>
          </p:nvSpPr>
          <p:spPr>
            <a:xfrm>
              <a:off x="3437" y="8619"/>
              <a:ext cx="13877" cy="820"/>
            </a:xfrm>
            <a:prstGeom prst="rect">
              <a:avLst/>
            </a:prstGeom>
            <a:noFill/>
          </p:spPr>
          <p:txBody>
            <a:bodyPr wrap="square" rtlCol="0">
              <a:noAutofit/>
            </a:bodyPr>
            <a:lstStyle/>
            <a:p>
              <a:pPr>
                <a:lnSpc>
                  <a:spcPct val="150000"/>
                </a:lnSpc>
              </a:pPr>
              <a:r>
                <a:rPr lang="zh-CN" altLang="en-US" dirty="0"/>
                <a:t>虽然对数变换做得很好，但最佳拟合为无界约翰逊分布。</a:t>
              </a:r>
              <a:endParaRPr lang="zh-CN" altLang="en-US" dirty="0"/>
            </a:p>
          </p:txBody>
        </p:sp>
      </p:grpSp>
      <p:sp>
        <p:nvSpPr>
          <p:cNvPr id="26" name="Rectangle: Rounded Corners 1"/>
          <p:cNvSpPr/>
          <p:nvPr>
            <p:custDataLst>
              <p:tags r:id="rId13"/>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additive="base">
                                        <p:cTn id="18" dur="500"/>
                                        <p:tgtEl>
                                          <p:spTgt spid="31"/>
                                        </p:tgtEl>
                                        <p:attrNameLst>
                                          <p:attrName>ppt_y</p:attrName>
                                        </p:attrNameLst>
                                      </p:cBhvr>
                                      <p:tavLst>
                                        <p:tav tm="0">
                                          <p:val>
                                            <p:strVal val="#ppt_y+#ppt_h*1.125000"/>
                                          </p:val>
                                        </p:tav>
                                        <p:tav tm="100000">
                                          <p:val>
                                            <p:strVal val="#ppt_y"/>
                                          </p:val>
                                        </p:tav>
                                      </p:tavLst>
                                    </p:anim>
                                    <p:animEffect transition="in" filter="wipe(up)">
                                      <p:cBhvr>
                                        <p:cTn id="1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8</a:t>
              </a:r>
              <a:r>
                <a:rPr lang="zh-CN" altLang="en-US" dirty="0">
                  <a:latin typeface="+mn-ea"/>
                  <a:cs typeface="Arial" panose="020B0604020202020204" pitchFamily="34" charset="0"/>
                </a:rPr>
                <a:t>）预测值分布分析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查看偏离度和峰度</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4" name="组合 33"/>
          <p:cNvGrpSpPr/>
          <p:nvPr/>
        </p:nvGrpSpPr>
        <p:grpSpPr>
          <a:xfrm>
            <a:off x="1540510" y="2642870"/>
            <a:ext cx="10163810" cy="971550"/>
            <a:chOff x="2426" y="4162"/>
            <a:chExt cx="16006" cy="1530"/>
          </a:xfrm>
        </p:grpSpPr>
        <p:sp>
          <p:nvSpPr>
            <p:cNvPr id="26" name="TextBox 25"/>
            <p:cNvSpPr txBox="1"/>
            <p:nvPr>
              <p:custDataLst>
                <p:tags r:id="rId6"/>
              </p:custDataLst>
            </p:nvPr>
          </p:nvSpPr>
          <p:spPr>
            <a:xfrm>
              <a:off x="2426" y="4162"/>
              <a:ext cx="15986" cy="820"/>
            </a:xfrm>
            <a:prstGeom prst="rect">
              <a:avLst/>
            </a:prstGeom>
            <a:noFill/>
          </p:spPr>
          <p:txBody>
            <a:bodyPr wrap="square" rtlCol="0">
              <a:noAutofit/>
            </a:bodyPr>
            <a:lstStyle/>
            <a:p>
              <a:pPr>
                <a:lnSpc>
                  <a:spcPct val="150000"/>
                </a:lnSpc>
              </a:pPr>
              <a:r>
                <a:rPr lang="zh-CN" altLang="en-US" dirty="0"/>
                <a:t>偏离度是描述数据分布形态的统计量，描述的是某总体取值分布的对称性，即数据的不对称程度。</a:t>
              </a:r>
              <a:endParaRPr lang="zh-CN" altLang="en-US" dirty="0"/>
            </a:p>
          </p:txBody>
        </p:sp>
        <p:sp>
          <p:nvSpPr>
            <p:cNvPr id="31" name="TextBox 25"/>
            <p:cNvSpPr txBox="1"/>
            <p:nvPr>
              <p:custDataLst>
                <p:tags r:id="rId7"/>
              </p:custDataLst>
            </p:nvPr>
          </p:nvSpPr>
          <p:spPr>
            <a:xfrm>
              <a:off x="2446" y="4872"/>
              <a:ext cx="15986" cy="820"/>
            </a:xfrm>
            <a:prstGeom prst="rect">
              <a:avLst/>
            </a:prstGeom>
            <a:noFill/>
          </p:spPr>
          <p:txBody>
            <a:bodyPr wrap="square" rtlCol="0">
              <a:noAutofit/>
            </a:bodyPr>
            <a:lstStyle/>
            <a:p>
              <a:pPr>
                <a:lnSpc>
                  <a:spcPct val="150000"/>
                </a:lnSpc>
              </a:pPr>
              <a:r>
                <a:rPr lang="zh-CN" altLang="en-US" dirty="0"/>
                <a:t>峰度某变量所有取值分布形态陡缓程度的统计量，简单来说就是数据分布顶的尖锐程度。</a:t>
              </a:r>
              <a:endParaRPr lang="zh-CN" altLang="en-US" dirty="0"/>
            </a:p>
          </p:txBody>
        </p:sp>
      </p:grpSp>
      <p:grpSp>
        <p:nvGrpSpPr>
          <p:cNvPr id="35" name="组合 34"/>
          <p:cNvGrpSpPr/>
          <p:nvPr/>
        </p:nvGrpSpPr>
        <p:grpSpPr>
          <a:xfrm>
            <a:off x="1673225" y="3671570"/>
            <a:ext cx="8866505" cy="2468880"/>
            <a:chOff x="2635" y="5782"/>
            <a:chExt cx="13963" cy="3888"/>
          </a:xfrm>
        </p:grpSpPr>
        <p:pic>
          <p:nvPicPr>
            <p:cNvPr id="32" name="图片 31"/>
            <p:cNvPicPr>
              <a:picLocks noChangeAspect="1"/>
            </p:cNvPicPr>
            <p:nvPr>
              <p:custDataLst>
                <p:tags r:id="rId8"/>
              </p:custDataLst>
            </p:nvPr>
          </p:nvPicPr>
          <p:blipFill>
            <a:blip r:embed="rId9"/>
            <a:stretch>
              <a:fillRect/>
            </a:stretch>
          </p:blipFill>
          <p:spPr>
            <a:xfrm>
              <a:off x="2635" y="6111"/>
              <a:ext cx="6947" cy="2696"/>
            </a:xfrm>
            <a:prstGeom prst="rect">
              <a:avLst/>
            </a:prstGeom>
          </p:spPr>
        </p:pic>
        <p:pic>
          <p:nvPicPr>
            <p:cNvPr id="33" name="图片 32"/>
            <p:cNvPicPr>
              <a:picLocks noChangeAspect="1"/>
            </p:cNvPicPr>
            <p:nvPr>
              <p:custDataLst>
                <p:tags r:id="rId10"/>
              </p:custDataLst>
            </p:nvPr>
          </p:nvPicPr>
          <p:blipFill>
            <a:blip r:embed="rId11"/>
            <a:stretch>
              <a:fillRect/>
            </a:stretch>
          </p:blipFill>
          <p:spPr>
            <a:xfrm>
              <a:off x="10598" y="5782"/>
              <a:ext cx="6000" cy="3888"/>
            </a:xfrm>
            <a:prstGeom prst="rect">
              <a:avLst/>
            </a:prstGeom>
          </p:spPr>
        </p:pic>
      </p:grpSp>
      <p:sp>
        <p:nvSpPr>
          <p:cNvPr id="36" name="Rectangle: Rounded Corners 1"/>
          <p:cNvSpPr/>
          <p:nvPr>
            <p:custDataLst>
              <p:tags r:id="rId1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p:tgtEl>
                                          <p:spTgt spid="34"/>
                                        </p:tgtEl>
                                        <p:attrNameLst>
                                          <p:attrName>ppt_y</p:attrName>
                                        </p:attrNameLst>
                                      </p:cBhvr>
                                      <p:tavLst>
                                        <p:tav tm="0">
                                          <p:val>
                                            <p:strVal val="#ppt_y+#ppt_h*1.125000"/>
                                          </p:val>
                                        </p:tav>
                                        <p:tav tm="100000">
                                          <p:val>
                                            <p:strVal val="#ppt_y"/>
                                          </p:val>
                                        </p:tav>
                                      </p:tavLst>
                                    </p:anim>
                                    <p:animEffect transition="in" filter="wipe(up)">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p:tgtEl>
                                          <p:spTgt spid="35"/>
                                        </p:tgtEl>
                                        <p:attrNameLst>
                                          <p:attrName>ppt_y</p:attrName>
                                        </p:attrNameLst>
                                      </p:cBhvr>
                                      <p:tavLst>
                                        <p:tav tm="0">
                                          <p:val>
                                            <p:strVal val="#ppt_y+#ppt_h*1.125000"/>
                                          </p:val>
                                        </p:tav>
                                        <p:tav tm="100000">
                                          <p:val>
                                            <p:strVal val="#ppt_y"/>
                                          </p:val>
                                        </p:tav>
                                      </p:tavLst>
                                    </p:anim>
                                    <p:animEffect transition="in" filter="wipe(up)">
                                      <p:cBhvr>
                                        <p:cTn id="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9</a:t>
              </a:r>
              <a:r>
                <a:rPr lang="zh-CN" altLang="en-US" dirty="0">
                  <a:latin typeface="+mn-ea"/>
                  <a:cs typeface="Arial" panose="020B0604020202020204" pitchFamily="34" charset="0"/>
                </a:rPr>
                <a:t>）非数值变量分析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查看非数值特征不同的值</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pic>
        <p:nvPicPr>
          <p:cNvPr id="23" name="图片 22"/>
          <p:cNvPicPr>
            <a:picLocks noChangeAspect="1"/>
          </p:cNvPicPr>
          <p:nvPr/>
        </p:nvPicPr>
        <p:blipFill>
          <a:blip r:embed="rId6"/>
          <a:stretch>
            <a:fillRect/>
          </a:stretch>
        </p:blipFill>
        <p:spPr>
          <a:xfrm>
            <a:off x="1673225" y="2809240"/>
            <a:ext cx="8938260" cy="1276985"/>
          </a:xfrm>
          <a:prstGeom prst="rect">
            <a:avLst/>
          </a:prstGeom>
        </p:spPr>
      </p:pic>
      <p:pic>
        <p:nvPicPr>
          <p:cNvPr id="29" name="图片 28"/>
          <p:cNvPicPr>
            <a:picLocks noChangeAspect="1"/>
          </p:cNvPicPr>
          <p:nvPr/>
        </p:nvPicPr>
        <p:blipFill>
          <a:blip r:embed="rId7"/>
          <a:stretch>
            <a:fillRect/>
          </a:stretch>
        </p:blipFill>
        <p:spPr>
          <a:xfrm>
            <a:off x="1673225" y="4194810"/>
            <a:ext cx="8937625" cy="1748790"/>
          </a:xfrm>
          <a:prstGeom prst="rect">
            <a:avLst/>
          </a:prstGeom>
        </p:spPr>
      </p:pic>
      <p:sp>
        <p:nvSpPr>
          <p:cNvPr id="32" name="Rectangle: Rounded Corners 1"/>
          <p:cNvSpPr/>
          <p:nvPr>
            <p:custDataLst>
              <p:tags r:id="rId8"/>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p:tgtEl>
                                          <p:spTgt spid="23"/>
                                        </p:tgtEl>
                                        <p:attrNameLst>
                                          <p:attrName>ppt_y</p:attrName>
                                        </p:attrNameLst>
                                      </p:cBhvr>
                                      <p:tavLst>
                                        <p:tav tm="0">
                                          <p:val>
                                            <p:strVal val="#ppt_y+#ppt_h*1.125000"/>
                                          </p:val>
                                        </p:tav>
                                        <p:tav tm="100000">
                                          <p:val>
                                            <p:strVal val="#ppt_y"/>
                                          </p:val>
                                        </p:tav>
                                      </p:tavLst>
                                    </p:anim>
                                    <p:animEffect transition="in" filter="wipe(up)">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p:tgtEl>
                                          <p:spTgt spid="29"/>
                                        </p:tgtEl>
                                        <p:attrNameLst>
                                          <p:attrName>ppt_y</p:attrName>
                                        </p:attrNameLst>
                                      </p:cBhvr>
                                      <p:tavLst>
                                        <p:tav tm="0">
                                          <p:val>
                                            <p:strVal val="#ppt_y+#ppt_h*1.125000"/>
                                          </p:val>
                                        </p:tav>
                                        <p:tav tm="100000">
                                          <p:val>
                                            <p:strVal val="#ppt_y"/>
                                          </p:val>
                                        </p:tav>
                                      </p:tavLst>
                                    </p:anim>
                                    <p:animEffect transition="in" filter="wipe(up)">
                                      <p:cBhvr>
                                        <p:cTn id="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9</a:t>
              </a:r>
              <a:r>
                <a:rPr lang="zh-CN" altLang="en-US" dirty="0">
                  <a:latin typeface="+mn-ea"/>
                  <a:cs typeface="Arial" panose="020B0604020202020204" pitchFamily="34" charset="0"/>
                </a:rPr>
                <a:t>）非数值变量分析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类别特征可视化分析</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2" name="组合 1"/>
          <p:cNvGrpSpPr/>
          <p:nvPr/>
        </p:nvGrpSpPr>
        <p:grpSpPr>
          <a:xfrm>
            <a:off x="2422525" y="2577465"/>
            <a:ext cx="7849870" cy="3436620"/>
            <a:chOff x="3815" y="4059"/>
            <a:chExt cx="12362" cy="5412"/>
          </a:xfrm>
        </p:grpSpPr>
        <p:pic>
          <p:nvPicPr>
            <p:cNvPr id="3" name="图片 2"/>
            <p:cNvPicPr>
              <a:picLocks noChangeAspect="1"/>
            </p:cNvPicPr>
            <p:nvPr>
              <p:custDataLst>
                <p:tags r:id="rId6"/>
              </p:custDataLst>
            </p:nvPr>
          </p:nvPicPr>
          <p:blipFill>
            <a:blip r:embed="rId7"/>
            <a:srcRect l="-1025" t="39378"/>
            <a:stretch>
              <a:fillRect/>
            </a:stretch>
          </p:blipFill>
          <p:spPr>
            <a:xfrm>
              <a:off x="3815" y="5235"/>
              <a:ext cx="12363" cy="4236"/>
            </a:xfrm>
            <a:prstGeom prst="rect">
              <a:avLst/>
            </a:prstGeom>
          </p:spPr>
        </p:pic>
        <p:pic>
          <p:nvPicPr>
            <p:cNvPr id="26" name="图片 25"/>
            <p:cNvPicPr>
              <a:picLocks noChangeAspect="1"/>
            </p:cNvPicPr>
            <p:nvPr>
              <p:custDataLst>
                <p:tags r:id="rId8"/>
              </p:custDataLst>
            </p:nvPr>
          </p:nvPicPr>
          <p:blipFill>
            <a:blip r:embed="rId9"/>
            <a:stretch>
              <a:fillRect/>
            </a:stretch>
          </p:blipFill>
          <p:spPr>
            <a:xfrm>
              <a:off x="3924" y="4059"/>
              <a:ext cx="8096" cy="1054"/>
            </a:xfrm>
            <a:prstGeom prst="rect">
              <a:avLst/>
            </a:prstGeom>
          </p:spPr>
        </p:pic>
      </p:grpSp>
      <p:sp>
        <p:nvSpPr>
          <p:cNvPr id="28" name="Rectangle: Rounded Corners 1"/>
          <p:cNvSpPr/>
          <p:nvPr>
            <p:custDataLst>
              <p:tags r:id="rId10"/>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264640" cy="458242"/>
            <a:chOff x="5370731" y="1721511"/>
            <a:chExt cx="2264640"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14566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9</a:t>
              </a:r>
              <a:r>
                <a:rPr lang="zh-CN" altLang="en-US" dirty="0">
                  <a:latin typeface="+mn-ea"/>
                  <a:cs typeface="Arial" panose="020B0604020202020204" pitchFamily="34" charset="0"/>
                </a:rPr>
                <a:t>）非数值变量分析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4635500" cy="596900"/>
            <a:chOff x="1722" y="4304"/>
            <a:chExt cx="7300" cy="940"/>
          </a:xfrm>
        </p:grpSpPr>
        <p:sp>
          <p:nvSpPr>
            <p:cNvPr id="24" name="圆角矩形 24"/>
            <p:cNvSpPr/>
            <p:nvPr>
              <p:custDataLst>
                <p:tags r:id="rId2"/>
              </p:custDataLst>
            </p:nvPr>
          </p:nvSpPr>
          <p:spPr>
            <a:xfrm>
              <a:off x="2626" y="4304"/>
              <a:ext cx="6396"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类别特征可视化分析</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31" name="组合 30"/>
          <p:cNvGrpSpPr/>
          <p:nvPr/>
        </p:nvGrpSpPr>
        <p:grpSpPr>
          <a:xfrm>
            <a:off x="920750" y="2840355"/>
            <a:ext cx="10720705" cy="2894330"/>
            <a:chOff x="1450" y="4473"/>
            <a:chExt cx="16883" cy="4558"/>
          </a:xfrm>
        </p:grpSpPr>
        <p:pic>
          <p:nvPicPr>
            <p:cNvPr id="28" name="图片 27"/>
            <p:cNvPicPr>
              <a:picLocks noChangeAspect="1"/>
            </p:cNvPicPr>
            <p:nvPr>
              <p:custDataLst>
                <p:tags r:id="rId6"/>
              </p:custDataLst>
            </p:nvPr>
          </p:nvPicPr>
          <p:blipFill>
            <a:blip r:embed="rId7"/>
            <a:stretch>
              <a:fillRect/>
            </a:stretch>
          </p:blipFill>
          <p:spPr>
            <a:xfrm>
              <a:off x="1450" y="4473"/>
              <a:ext cx="8328" cy="4349"/>
            </a:xfrm>
            <a:prstGeom prst="rect">
              <a:avLst/>
            </a:prstGeom>
          </p:spPr>
        </p:pic>
        <p:pic>
          <p:nvPicPr>
            <p:cNvPr id="29" name="图片 28"/>
            <p:cNvPicPr>
              <a:picLocks noChangeAspect="1"/>
            </p:cNvPicPr>
            <p:nvPr>
              <p:custDataLst>
                <p:tags r:id="rId8"/>
              </p:custDataLst>
            </p:nvPr>
          </p:nvPicPr>
          <p:blipFill>
            <a:blip r:embed="rId9"/>
            <a:stretch>
              <a:fillRect/>
            </a:stretch>
          </p:blipFill>
          <p:spPr>
            <a:xfrm>
              <a:off x="9779" y="4555"/>
              <a:ext cx="8554" cy="4477"/>
            </a:xfrm>
            <a:prstGeom prst="rect">
              <a:avLst/>
            </a:prstGeom>
          </p:spPr>
        </p:pic>
      </p:grpSp>
      <p:sp>
        <p:nvSpPr>
          <p:cNvPr id="33" name="Rectangle: Rounded Corners 1"/>
          <p:cNvSpPr/>
          <p:nvPr>
            <p:custDataLst>
              <p:tags r:id="rId10"/>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additive="base">
                                        <p:cTn id="18" dur="500"/>
                                        <p:tgtEl>
                                          <p:spTgt spid="31"/>
                                        </p:tgtEl>
                                        <p:attrNameLst>
                                          <p:attrName>ppt_y</p:attrName>
                                        </p:attrNameLst>
                                      </p:cBhvr>
                                      <p:tavLst>
                                        <p:tav tm="0">
                                          <p:val>
                                            <p:strVal val="#ppt_y+#ppt_h*1.125000"/>
                                          </p:val>
                                        </p:tav>
                                        <p:tav tm="100000">
                                          <p:val>
                                            <p:strVal val="#ppt_y"/>
                                          </p:val>
                                        </p:tav>
                                      </p:tavLst>
                                    </p:anim>
                                    <p:animEffect transition="in" filter="wipe(up)">
                                      <p:cBhvr>
                                        <p:cTn id="1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50035"/>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170025" cy="458242"/>
            <a:chOff x="5370731" y="1721511"/>
            <a:chExt cx="21700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0510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10</a:t>
              </a:r>
              <a:r>
                <a:rPr lang="zh-CN" altLang="en-US" dirty="0">
                  <a:latin typeface="+mn-ea"/>
                  <a:cs typeface="Arial" panose="020B0604020202020204" pitchFamily="34" charset="0"/>
                </a:rPr>
                <a:t>）数值特征分析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5418455" cy="596900"/>
            <a:chOff x="1722" y="4304"/>
            <a:chExt cx="8533" cy="940"/>
          </a:xfrm>
        </p:grpSpPr>
        <p:sp>
          <p:nvSpPr>
            <p:cNvPr id="24" name="圆角矩形 24"/>
            <p:cNvSpPr/>
            <p:nvPr>
              <p:custDataLst>
                <p:tags r:id="rId2"/>
              </p:custDataLst>
            </p:nvPr>
          </p:nvSpPr>
          <p:spPr>
            <a:xfrm>
              <a:off x="2626" y="4304"/>
              <a:ext cx="7629"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分析数值特征与预测值相关性</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sp>
        <p:nvSpPr>
          <p:cNvPr id="28" name="文本框 27"/>
          <p:cNvSpPr txBox="1"/>
          <p:nvPr/>
        </p:nvSpPr>
        <p:spPr>
          <a:xfrm>
            <a:off x="1321435" y="3243580"/>
            <a:ext cx="3704590" cy="1938020"/>
          </a:xfrm>
          <a:prstGeom prst="rect">
            <a:avLst/>
          </a:prstGeom>
          <a:noFill/>
          <a:ln w="19050">
            <a:noFill/>
          </a:ln>
          <a:extLst>
            <a:ext uri="{909E8E84-426E-40DD-AFC4-6F175D3DCCD1}">
              <a14:hiddenFill xmlns:a14="http://schemas.microsoft.com/office/drawing/2010/main">
                <a:solidFill>
                  <a:srgbClr val="92D050"/>
                </a:solidFill>
              </a14:hiddenFill>
            </a:ext>
          </a:extLst>
        </p:spPr>
        <p:txBody>
          <a:bodyPr wrap="square" rtlCol="0">
            <a:spAutoFit/>
          </a:bodyPr>
          <a:lstStyle/>
          <a:p>
            <a:pPr>
              <a:lnSpc>
                <a:spcPct val="150000"/>
              </a:lnSpc>
            </a:pPr>
            <a:r>
              <a:rPr sz="1600" b="1">
                <a:solidFill>
                  <a:srgbClr val="FF0000"/>
                </a:solidFill>
              </a:rPr>
              <a:t>相关分析</a:t>
            </a:r>
            <a:r>
              <a:rPr sz="1600" b="1"/>
              <a:t>是指对两个或多个具备相关性的变量元素进行分析，从而衡量两个因素的相关密切程度，相关性的元素之间需要存在一定的联系或者概率才可以进行相关性分析。</a:t>
            </a:r>
            <a:endParaRPr sz="1600" b="1"/>
          </a:p>
        </p:txBody>
      </p:sp>
      <p:grpSp>
        <p:nvGrpSpPr>
          <p:cNvPr id="33" name="组合 32"/>
          <p:cNvGrpSpPr/>
          <p:nvPr/>
        </p:nvGrpSpPr>
        <p:grpSpPr>
          <a:xfrm>
            <a:off x="5237480" y="2733040"/>
            <a:ext cx="6192520" cy="3025140"/>
            <a:chOff x="8248" y="4304"/>
            <a:chExt cx="9752" cy="4764"/>
          </a:xfrm>
        </p:grpSpPr>
        <p:pic>
          <p:nvPicPr>
            <p:cNvPr id="26" name="图片 25"/>
            <p:cNvPicPr>
              <a:picLocks noChangeAspect="1"/>
            </p:cNvPicPr>
            <p:nvPr>
              <p:custDataLst>
                <p:tags r:id="rId6"/>
              </p:custDataLst>
            </p:nvPr>
          </p:nvPicPr>
          <p:blipFill>
            <a:blip r:embed="rId7"/>
            <a:stretch>
              <a:fillRect/>
            </a:stretch>
          </p:blipFill>
          <p:spPr>
            <a:xfrm>
              <a:off x="8248" y="4304"/>
              <a:ext cx="9752" cy="1724"/>
            </a:xfrm>
            <a:prstGeom prst="rect">
              <a:avLst/>
            </a:prstGeom>
          </p:spPr>
        </p:pic>
        <p:pic>
          <p:nvPicPr>
            <p:cNvPr id="31" name="图片 30"/>
            <p:cNvPicPr>
              <a:picLocks noChangeAspect="1"/>
            </p:cNvPicPr>
            <p:nvPr>
              <p:custDataLst>
                <p:tags r:id="rId8"/>
              </p:custDataLst>
            </p:nvPr>
          </p:nvPicPr>
          <p:blipFill>
            <a:blip r:embed="rId9"/>
            <a:stretch>
              <a:fillRect/>
            </a:stretch>
          </p:blipFill>
          <p:spPr>
            <a:xfrm>
              <a:off x="9049" y="6064"/>
              <a:ext cx="3170" cy="3004"/>
            </a:xfrm>
            <a:prstGeom prst="rect">
              <a:avLst/>
            </a:prstGeom>
          </p:spPr>
        </p:pic>
        <p:pic>
          <p:nvPicPr>
            <p:cNvPr id="32" name="图片 31"/>
            <p:cNvPicPr>
              <a:picLocks noChangeAspect="1"/>
            </p:cNvPicPr>
            <p:nvPr>
              <p:custDataLst>
                <p:tags r:id="rId10"/>
              </p:custDataLst>
            </p:nvPr>
          </p:nvPicPr>
          <p:blipFill>
            <a:blip r:embed="rId11"/>
            <a:stretch>
              <a:fillRect/>
            </a:stretch>
          </p:blipFill>
          <p:spPr>
            <a:xfrm>
              <a:off x="13102" y="6396"/>
              <a:ext cx="3494" cy="2672"/>
            </a:xfrm>
            <a:prstGeom prst="rect">
              <a:avLst/>
            </a:prstGeom>
          </p:spPr>
        </p:pic>
      </p:grpSp>
      <p:sp>
        <p:nvSpPr>
          <p:cNvPr id="34" name="Rectangle: Rounded Corners 1"/>
          <p:cNvSpPr/>
          <p:nvPr>
            <p:custDataLst>
              <p:tags r:id="rId1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p:tgtEl>
                                          <p:spTgt spid="28"/>
                                        </p:tgtEl>
                                        <p:attrNameLst>
                                          <p:attrName>ppt_y</p:attrName>
                                        </p:attrNameLst>
                                      </p:cBhvr>
                                      <p:tavLst>
                                        <p:tav tm="0">
                                          <p:val>
                                            <p:strVal val="#ppt_y+#ppt_h*1.125000"/>
                                          </p:val>
                                        </p:tav>
                                        <p:tav tm="100000">
                                          <p:val>
                                            <p:strVal val="#ppt_y"/>
                                          </p:val>
                                        </p:tav>
                                      </p:tavLst>
                                    </p:anim>
                                    <p:animEffect transition="in" filter="wipe(up)">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ppt_y</p:attrName>
                                        </p:attrNameLst>
                                      </p:cBhvr>
                                      <p:tavLst>
                                        <p:tav tm="0">
                                          <p:val>
                                            <p:strVal val="#ppt_y+#ppt_h*1.125000"/>
                                          </p:val>
                                        </p:tav>
                                        <p:tav tm="100000">
                                          <p:val>
                                            <p:strVal val="#ppt_y"/>
                                          </p:val>
                                        </p:tav>
                                      </p:tavLst>
                                    </p:anim>
                                    <p:animEffect transition="in" filter="wipe(up)">
                                      <p:cBhvr>
                                        <p:cTn id="2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2170025" cy="458242"/>
            <a:chOff x="5370731" y="1721511"/>
            <a:chExt cx="21700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0510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10</a:t>
              </a:r>
              <a:r>
                <a:rPr lang="zh-CN" altLang="en-US" dirty="0">
                  <a:latin typeface="+mn-ea"/>
                  <a:cs typeface="Arial" panose="020B0604020202020204" pitchFamily="34" charset="0"/>
                </a:rPr>
                <a:t>）数值特征分析</a:t>
              </a:r>
              <a:endParaRPr lang="zh-CN" altLang="en-US" dirty="0">
                <a:latin typeface="+mn-ea"/>
                <a:cs typeface="Arial" panose="020B0604020202020204" pitchFamily="34" charset="0"/>
              </a:endParaRPr>
            </a:p>
          </p:txBody>
        </p:sp>
      </p:grpSp>
      <p:grpSp>
        <p:nvGrpSpPr>
          <p:cNvPr id="25" name="组合 24"/>
          <p:cNvGrpSpPr/>
          <p:nvPr/>
        </p:nvGrpSpPr>
        <p:grpSpPr>
          <a:xfrm>
            <a:off x="4048760" y="1902460"/>
            <a:ext cx="5418455" cy="596900"/>
            <a:chOff x="1722" y="4304"/>
            <a:chExt cx="8533" cy="940"/>
          </a:xfrm>
        </p:grpSpPr>
        <p:sp>
          <p:nvSpPr>
            <p:cNvPr id="24" name="圆角矩形 24"/>
            <p:cNvSpPr/>
            <p:nvPr>
              <p:custDataLst>
                <p:tags r:id="rId2"/>
              </p:custDataLst>
            </p:nvPr>
          </p:nvSpPr>
          <p:spPr>
            <a:xfrm>
              <a:off x="2626" y="4304"/>
              <a:ext cx="7629" cy="940"/>
            </a:xfrm>
            <a:prstGeom prst="roundRect">
              <a:avLst/>
            </a:prstGeom>
            <a:solidFill>
              <a:schemeClr val="accent5">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dirty="0">
                  <a:solidFill>
                    <a:schemeClr val="tx1"/>
                  </a:solidFill>
                  <a:latin typeface="-apple-system"/>
                  <a:sym typeface="+mn-ea"/>
                </a:rPr>
                <a:t>提示</a:t>
              </a:r>
              <a:r>
                <a:rPr lang="en-US" altLang="zh-CN" dirty="0">
                  <a:solidFill>
                    <a:schemeClr val="tx1"/>
                  </a:solidFill>
                  <a:effectLst/>
                  <a:latin typeface="-apple-system"/>
                  <a:sym typeface="+mn-ea"/>
                </a:rPr>
                <a:t> </a:t>
              </a:r>
              <a:r>
                <a:rPr lang="en-US" altLang="zh-CN" dirty="0">
                  <a:solidFill>
                    <a:schemeClr val="tx1"/>
                  </a:solidFill>
                  <a:effectLst/>
                  <a:ea typeface="+mn-lt"/>
                  <a:sym typeface="+mn-ea"/>
                </a:rPr>
                <a:t>|   </a:t>
              </a:r>
              <a:r>
                <a:rPr lang="zh-CN" altLang="en-US" dirty="0">
                  <a:solidFill>
                    <a:schemeClr val="tx1"/>
                  </a:solidFill>
                  <a:effectLst/>
                  <a:ea typeface="+mn-lt"/>
                  <a:sym typeface="+mn-ea"/>
                </a:rPr>
                <a:t>相关性可视化</a:t>
              </a:r>
              <a:endParaRPr lang="zh-CN" altLang="en-US" dirty="0">
                <a:solidFill>
                  <a:schemeClr val="tx1"/>
                </a:solidFill>
                <a:effectLst/>
                <a:ea typeface="+mn-lt"/>
                <a:sym typeface="+mn-ea"/>
              </a:endParaRPr>
            </a:p>
          </p:txBody>
        </p:sp>
        <p:pic>
          <p:nvPicPr>
            <p:cNvPr id="22" name="图片 21" descr="3b32303235303634303bd1dbbea6cad3bef5"/>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22" y="4409"/>
              <a:ext cx="729" cy="729"/>
            </a:xfrm>
            <a:prstGeom prst="rect">
              <a:avLst/>
            </a:prstGeom>
          </p:spPr>
        </p:pic>
      </p:grpSp>
      <p:grpSp>
        <p:nvGrpSpPr>
          <p:cNvPr id="29" name="组合 28"/>
          <p:cNvGrpSpPr/>
          <p:nvPr/>
        </p:nvGrpSpPr>
        <p:grpSpPr>
          <a:xfrm>
            <a:off x="1108075" y="2517775"/>
            <a:ext cx="10311130" cy="3628390"/>
            <a:chOff x="1745" y="3965"/>
            <a:chExt cx="16238" cy="5714"/>
          </a:xfrm>
        </p:grpSpPr>
        <p:pic>
          <p:nvPicPr>
            <p:cNvPr id="3" name="图片 2"/>
            <p:cNvPicPr>
              <a:picLocks noChangeAspect="1"/>
            </p:cNvPicPr>
            <p:nvPr>
              <p:custDataLst>
                <p:tags r:id="rId6"/>
              </p:custDataLst>
            </p:nvPr>
          </p:nvPicPr>
          <p:blipFill>
            <a:blip r:embed="rId7"/>
            <a:stretch>
              <a:fillRect/>
            </a:stretch>
          </p:blipFill>
          <p:spPr>
            <a:xfrm>
              <a:off x="1745" y="5486"/>
              <a:ext cx="9603" cy="1952"/>
            </a:xfrm>
            <a:prstGeom prst="rect">
              <a:avLst/>
            </a:prstGeom>
          </p:spPr>
        </p:pic>
        <p:pic>
          <p:nvPicPr>
            <p:cNvPr id="23" name="图片 22"/>
            <p:cNvPicPr>
              <a:picLocks noChangeAspect="1"/>
            </p:cNvPicPr>
            <p:nvPr>
              <p:custDataLst>
                <p:tags r:id="rId8"/>
              </p:custDataLst>
            </p:nvPr>
          </p:nvPicPr>
          <p:blipFill>
            <a:blip r:embed="rId9"/>
            <a:stretch>
              <a:fillRect/>
            </a:stretch>
          </p:blipFill>
          <p:spPr>
            <a:xfrm>
              <a:off x="11651" y="3965"/>
              <a:ext cx="6332" cy="5714"/>
            </a:xfrm>
            <a:prstGeom prst="rect">
              <a:avLst/>
            </a:prstGeom>
          </p:spPr>
        </p:pic>
      </p:grpSp>
      <p:sp>
        <p:nvSpPr>
          <p:cNvPr id="34" name="Rectangle: Rounded Corners 1"/>
          <p:cNvSpPr/>
          <p:nvPr>
            <p:custDataLst>
              <p:tags r:id="rId10"/>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p:tgtEl>
                                          <p:spTgt spid="25"/>
                                        </p:tgtEl>
                                        <p:attrNameLst>
                                          <p:attrName>ppt_y</p:attrName>
                                        </p:attrNameLst>
                                      </p:cBhvr>
                                      <p:tavLst>
                                        <p:tav tm="0">
                                          <p:val>
                                            <p:strVal val="#ppt_y+#ppt_h*1.125000"/>
                                          </p:val>
                                        </p:tav>
                                        <p:tav tm="100000">
                                          <p:val>
                                            <p:strVal val="#ppt_y"/>
                                          </p:val>
                                        </p:tav>
                                      </p:tavLst>
                                    </p:anim>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p:tgtEl>
                                          <p:spTgt spid="29"/>
                                        </p:tgtEl>
                                        <p:attrNameLst>
                                          <p:attrName>ppt_y</p:attrName>
                                        </p:attrNameLst>
                                      </p:cBhvr>
                                      <p:tavLst>
                                        <p:tav tm="0">
                                          <p:val>
                                            <p:strVal val="#ppt_y+#ppt_h*1.125000"/>
                                          </p:val>
                                        </p:tav>
                                        <p:tav tm="100000">
                                          <p:val>
                                            <p:strVal val="#ppt_y"/>
                                          </p:val>
                                        </p:tav>
                                      </p:tavLst>
                                    </p:anim>
                                    <p:animEffect transition="in" filter="wipe(up)">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6450013" y="3268980"/>
            <a:ext cx="5575935" cy="20320"/>
          </a:xfrm>
          <a:prstGeom prst="line">
            <a:avLst/>
          </a:prstGeom>
          <a:ln w="76200">
            <a:solidFill>
              <a:srgbClr val="1F557C"/>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0330" y="3465830"/>
            <a:ext cx="5594350" cy="1210945"/>
          </a:xfrm>
          <a:prstGeom prst="rect">
            <a:avLst/>
          </a:prstGeom>
          <a:solidFill>
            <a:srgbClr val="84AD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6" name="文本框 5"/>
          <p:cNvSpPr txBox="1"/>
          <p:nvPr/>
        </p:nvSpPr>
        <p:spPr>
          <a:xfrm>
            <a:off x="6480493" y="3734802"/>
            <a:ext cx="5545455" cy="553085"/>
          </a:xfrm>
          <a:prstGeom prst="rect">
            <a:avLst/>
          </a:prstGeom>
          <a:noFill/>
        </p:spPr>
        <p:txBody>
          <a:bodyPr wrap="square">
            <a:spAutoFit/>
          </a:bodyPr>
          <a:lstStyle/>
          <a:p>
            <a:pPr eaLnBrk="1" fontAlgn="auto" hangingPunct="1">
              <a:lnSpc>
                <a:spcPct val="150000"/>
              </a:lnSpc>
              <a:spcBef>
                <a:spcPts val="0"/>
              </a:spcBef>
              <a:spcAft>
                <a:spcPts val="0"/>
              </a:spcAft>
              <a:defRPr/>
            </a:pPr>
            <a:r>
              <a:rPr sz="2000" b="1" dirty="0">
                <a:solidFill>
                  <a:schemeClr val="bg1"/>
                </a:solidFill>
                <a:latin typeface="+mn-lt"/>
                <a:ea typeface="+mn-ea"/>
                <a:cs typeface="+mn-ea"/>
                <a:sym typeface="+mn-lt"/>
              </a:rPr>
              <a:t>处理</a:t>
            </a:r>
            <a:r>
              <a:rPr lang="zh-CN" sz="2000" b="1" dirty="0">
                <a:solidFill>
                  <a:schemeClr val="bg1"/>
                </a:solidFill>
                <a:latin typeface="+mn-lt"/>
                <a:ea typeface="+mn-ea"/>
                <a:cs typeface="+mn-ea"/>
                <a:sym typeface="+mn-lt"/>
              </a:rPr>
              <a:t>数据探索</a:t>
            </a:r>
            <a:r>
              <a:rPr sz="2000" b="1" dirty="0">
                <a:solidFill>
                  <a:schemeClr val="bg1"/>
                </a:solidFill>
                <a:latin typeface="+mn-lt"/>
                <a:ea typeface="+mn-ea"/>
                <a:cs typeface="+mn-ea"/>
                <a:sym typeface="+mn-lt"/>
              </a:rPr>
              <a:t>阶段分析出来的问题</a:t>
            </a:r>
            <a:endParaRPr sz="2000" b="1" dirty="0">
              <a:solidFill>
                <a:schemeClr val="bg1"/>
              </a:solidFill>
              <a:latin typeface="+mn-lt"/>
              <a:ea typeface="+mn-ea"/>
              <a:cs typeface="+mn-ea"/>
              <a:sym typeface="+mn-lt"/>
            </a:endParaRPr>
          </a:p>
        </p:txBody>
      </p:sp>
      <p:sp>
        <p:nvSpPr>
          <p:cNvPr id="26" name="文本框 25"/>
          <p:cNvSpPr txBox="1"/>
          <p:nvPr/>
        </p:nvSpPr>
        <p:spPr>
          <a:xfrm>
            <a:off x="6324600" y="2341880"/>
            <a:ext cx="6001385" cy="922020"/>
          </a:xfrm>
          <a:prstGeom prst="rect">
            <a:avLst/>
          </a:prstGeom>
          <a:noFill/>
        </p:spPr>
        <p:txBody>
          <a:bodyPr wrap="square">
            <a:spAutoFit/>
          </a:bodyPr>
          <a:lstStyle/>
          <a:p>
            <a:pPr algn="l" eaLnBrk="1" fontAlgn="auto" hangingPunct="1">
              <a:lnSpc>
                <a:spcPct val="150000"/>
              </a:lnSpc>
              <a:spcBef>
                <a:spcPts val="0"/>
              </a:spcBef>
              <a:spcAft>
                <a:spcPts val="0"/>
              </a:spcAft>
              <a:buClrTx/>
              <a:buSzTx/>
              <a:buFontTx/>
              <a:defRPr/>
            </a:pPr>
            <a:r>
              <a:rPr lang="zh-CN" altLang="en-US" sz="3600" b="1" dirty="0">
                <a:solidFill>
                  <a:schemeClr val="tx1"/>
                </a:solidFill>
                <a:latin typeface="+mn-lt"/>
                <a:ea typeface="+mn-ea"/>
                <a:cs typeface="+mn-ea"/>
                <a:sym typeface="+mn-ea"/>
              </a:rPr>
              <a:t>数据特征预处理</a:t>
            </a:r>
            <a:endParaRPr lang="zh-CN" altLang="en-US" sz="3600" b="1" dirty="0">
              <a:solidFill>
                <a:schemeClr val="tx1"/>
              </a:solidFill>
              <a:latin typeface="+mn-lt"/>
              <a:ea typeface="+mn-ea"/>
              <a:cs typeface="+mn-ea"/>
              <a:sym typeface="+mn-ea"/>
            </a:endParaRPr>
          </a:p>
        </p:txBody>
      </p:sp>
      <p:sp>
        <p:nvSpPr>
          <p:cNvPr id="3" name="椭圆 2"/>
          <p:cNvSpPr/>
          <p:nvPr/>
        </p:nvSpPr>
        <p:spPr>
          <a:xfrm>
            <a:off x="2319338" y="1179513"/>
            <a:ext cx="3973512" cy="397351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50184"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3163" y="598488"/>
            <a:ext cx="7134226" cy="533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3575050" y="2444750"/>
            <a:ext cx="2844800" cy="1783715"/>
          </a:xfrm>
          <a:prstGeom prst="rect">
            <a:avLst/>
          </a:prstGeom>
          <a:noFill/>
          <a:effectLst>
            <a:outerShdw blurRad="50800" dist="38100" dir="5400000" algn="t" rotWithShape="0">
              <a:prstClr val="black">
                <a:alpha val="40000"/>
              </a:prstClr>
            </a:outerShdw>
          </a:effectLst>
        </p:spPr>
        <p:txBody>
          <a:bodyPr>
            <a:spAutoFit/>
          </a:bodyPr>
          <a:lstStyle/>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PART  </a:t>
            </a:r>
            <a:endParaRPr lang="en-US" altLang="zh-CN" sz="5500" b="1" dirty="0">
              <a:solidFill>
                <a:schemeClr val="bg1"/>
              </a:solidFill>
              <a:latin typeface="+mn-lt"/>
              <a:ea typeface="+mn-ea"/>
              <a:cs typeface="+mn-ea"/>
              <a:sym typeface="+mn-lt"/>
            </a:endParaRPr>
          </a:p>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FOUR</a:t>
            </a:r>
            <a:endParaRPr lang="en-US" altLang="zh-CN" sz="5500" b="1" dirty="0">
              <a:solidFill>
                <a:schemeClr val="bg1"/>
              </a:solidFill>
              <a:latin typeface="+mn-lt"/>
              <a:ea typeface="+mn-ea"/>
              <a:cs typeface="+mn-ea"/>
              <a:sym typeface="+mn-lt"/>
            </a:endParaRPr>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animEffect transition="in" filter="wipe(left)">
                                      <p:cBhvr>
                                        <p:cTn id="15" dur="500"/>
                                        <p:tgtEl>
                                          <p:spTgt spid="30">
                                            <p:txEl>
                                              <p:pRg st="0" end="0"/>
                                            </p:txEl>
                                          </p:spTgt>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Effect transition="in" filter="wipe(left)">
                                      <p:cBhvr>
                                        <p:cTn id="19" dur="500"/>
                                        <p:tgtEl>
                                          <p:spTgt spid="3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941425" cy="458242"/>
            <a:chOff x="5370731" y="1721511"/>
            <a:chExt cx="19414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8224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11</a:t>
              </a:r>
              <a:r>
                <a:rPr lang="zh-CN" altLang="en-US" dirty="0">
                  <a:latin typeface="+mn-ea"/>
                  <a:cs typeface="Arial" panose="020B0604020202020204" pitchFamily="34" charset="0"/>
                </a:rPr>
                <a:t>）特征预处理</a:t>
              </a:r>
              <a:endParaRPr lang="zh-CN" altLang="en-US" dirty="0">
                <a:latin typeface="+mn-ea"/>
                <a:cs typeface="Arial" panose="020B0604020202020204" pitchFamily="34" charset="0"/>
              </a:endParaRPr>
            </a:p>
          </p:txBody>
        </p:sp>
      </p:grpSp>
      <p:sp>
        <p:nvSpPr>
          <p:cNvPr id="3" name="文本框 2"/>
          <p:cNvSpPr txBox="1"/>
          <p:nvPr/>
        </p:nvSpPr>
        <p:spPr>
          <a:xfrm>
            <a:off x="2037080" y="3797300"/>
            <a:ext cx="2654935" cy="583565"/>
          </a:xfrm>
          <a:prstGeom prst="rect">
            <a:avLst/>
          </a:prstGeom>
          <a:noFill/>
          <a:ln w="19050">
            <a:noFill/>
          </a:ln>
          <a:extLst>
            <a:ext uri="{909E8E84-426E-40DD-AFC4-6F175D3DCCD1}">
              <a14:hiddenFill xmlns:a14="http://schemas.microsoft.com/office/drawing/2010/main">
                <a:solidFill>
                  <a:srgbClr val="92D050"/>
                </a:solidFill>
              </a14:hiddenFill>
            </a:ext>
          </a:extLst>
        </p:spPr>
        <p:txBody>
          <a:bodyPr wrap="square" rtlCol="0">
            <a:spAutoFit/>
          </a:bodyPr>
          <a:lstStyle/>
          <a:p>
            <a:r>
              <a:rPr lang="zh-CN" sz="1600" b="1"/>
              <a:t>导入数据预处理以及算法模型三方包</a:t>
            </a:r>
            <a:endParaRPr lang="zh-CN" sz="1600" b="1"/>
          </a:p>
        </p:txBody>
      </p:sp>
      <p:sp>
        <p:nvSpPr>
          <p:cNvPr id="29" name="文本框 28"/>
          <p:cNvSpPr txBox="1"/>
          <p:nvPr/>
        </p:nvSpPr>
        <p:spPr>
          <a:xfrm>
            <a:off x="1599565" y="2482215"/>
            <a:ext cx="9429750" cy="368300"/>
          </a:xfrm>
          <a:prstGeom prst="rect">
            <a:avLst/>
          </a:prstGeom>
          <a:solidFill>
            <a:schemeClr val="accent5">
              <a:lumMod val="40000"/>
              <a:lumOff val="60000"/>
            </a:schemeClr>
          </a:solidFill>
          <a:ln w="19050">
            <a:solidFill>
              <a:schemeClr val="accent5">
                <a:lumMod val="60000"/>
                <a:lumOff val="40000"/>
              </a:schemeClr>
            </a:solidFill>
          </a:ln>
        </p:spPr>
        <p:txBody>
          <a:bodyPr wrap="square" rtlCol="0">
            <a:spAutoFit/>
          </a:bodyPr>
          <a:lstStyle/>
          <a:p>
            <a:r>
              <a:rPr lang="zh-CN" sz="1800" b="1"/>
              <a:t>数据预处理包括清理、转换和整理原始数据，以确保数据质量和可用性。</a:t>
            </a:r>
            <a:endParaRPr lang="zh-CN" sz="1800" b="1"/>
          </a:p>
        </p:txBody>
      </p:sp>
      <p:grpSp>
        <p:nvGrpSpPr>
          <p:cNvPr id="25" name="组合 24"/>
          <p:cNvGrpSpPr/>
          <p:nvPr/>
        </p:nvGrpSpPr>
        <p:grpSpPr>
          <a:xfrm>
            <a:off x="5513070" y="3002915"/>
            <a:ext cx="5742940" cy="2750185"/>
            <a:chOff x="8682" y="4729"/>
            <a:chExt cx="9044" cy="4331"/>
          </a:xfrm>
        </p:grpSpPr>
        <p:pic>
          <p:nvPicPr>
            <p:cNvPr id="22" name="图片 21"/>
            <p:cNvPicPr>
              <a:picLocks noChangeAspect="1"/>
            </p:cNvPicPr>
            <p:nvPr>
              <p:custDataLst>
                <p:tags r:id="rId2"/>
              </p:custDataLst>
            </p:nvPr>
          </p:nvPicPr>
          <p:blipFill>
            <a:blip r:embed="rId3"/>
            <a:stretch>
              <a:fillRect/>
            </a:stretch>
          </p:blipFill>
          <p:spPr>
            <a:xfrm>
              <a:off x="8682" y="4729"/>
              <a:ext cx="5932" cy="3420"/>
            </a:xfrm>
            <a:prstGeom prst="rect">
              <a:avLst/>
            </a:prstGeom>
          </p:spPr>
        </p:pic>
        <p:pic>
          <p:nvPicPr>
            <p:cNvPr id="24" name="图片 23"/>
            <p:cNvPicPr>
              <a:picLocks noChangeAspect="1"/>
            </p:cNvPicPr>
            <p:nvPr>
              <p:custDataLst>
                <p:tags r:id="rId4"/>
              </p:custDataLst>
            </p:nvPr>
          </p:nvPicPr>
          <p:blipFill>
            <a:blip r:embed="rId5"/>
            <a:stretch>
              <a:fillRect/>
            </a:stretch>
          </p:blipFill>
          <p:spPr>
            <a:xfrm>
              <a:off x="8682" y="8134"/>
              <a:ext cx="9044" cy="926"/>
            </a:xfrm>
            <a:prstGeom prst="rect">
              <a:avLst/>
            </a:prstGeom>
          </p:spPr>
        </p:pic>
      </p:grpSp>
      <p:sp>
        <p:nvSpPr>
          <p:cNvPr id="28" name="Rectangle: Rounded Corners 1"/>
          <p:cNvSpPr/>
          <p:nvPr>
            <p:custDataLst>
              <p:tags r:id="rId6"/>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p:tgtEl>
                                          <p:spTgt spid="29"/>
                                        </p:tgtEl>
                                        <p:attrNameLst>
                                          <p:attrName>ppt_y</p:attrName>
                                        </p:attrNameLst>
                                      </p:cBhvr>
                                      <p:tavLst>
                                        <p:tav tm="0">
                                          <p:val>
                                            <p:strVal val="#ppt_y+#ppt_h*1.125000"/>
                                          </p:val>
                                        </p:tav>
                                        <p:tav tm="100000">
                                          <p:val>
                                            <p:strVal val="#ppt_y"/>
                                          </p:val>
                                        </p:tav>
                                      </p:tavLst>
                                    </p:anim>
                                    <p:animEffect transition="in" filter="wipe(up)">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p:tgtEl>
                                          <p:spTgt spid="3"/>
                                        </p:tgtEl>
                                        <p:attrNameLst>
                                          <p:attrName>ppt_y</p:attrName>
                                        </p:attrNameLst>
                                      </p:cBhvr>
                                      <p:tavLst>
                                        <p:tav tm="0">
                                          <p:val>
                                            <p:strVal val="#ppt_y+#ppt_h*1.125000"/>
                                          </p:val>
                                        </p:tav>
                                        <p:tav tm="100000">
                                          <p:val>
                                            <p:strVal val="#ppt_y"/>
                                          </p:val>
                                        </p:tav>
                                      </p:tavLst>
                                    </p:anim>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ppt_y</p:attrName>
                                        </p:attrNameLst>
                                      </p:cBhvr>
                                      <p:tavLst>
                                        <p:tav tm="0">
                                          <p:val>
                                            <p:strVal val="#ppt_y+#ppt_h*1.125000"/>
                                          </p:val>
                                        </p:tav>
                                        <p:tav tm="100000">
                                          <p:val>
                                            <p:strVal val="#ppt_y"/>
                                          </p:val>
                                        </p:tav>
                                      </p:tavLst>
                                    </p:anim>
                                    <p:animEffect transition="in" filter="wipe(up)">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9" grpId="0" bldLvl="0" animBg="1"/>
      <p:bldP spid="29"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26" name="图片 25"/>
          <p:cNvPicPr>
            <a:picLocks noChangeAspect="1"/>
          </p:cNvPicPr>
          <p:nvPr>
            <p:custDataLst>
              <p:tags r:id="rId1"/>
            </p:custDataLst>
          </p:nvPr>
        </p:nvPicPr>
        <p:blipFill>
          <a:blip r:embed="rId2"/>
          <a:stretch>
            <a:fillRect/>
          </a:stretch>
        </p:blipFill>
        <p:spPr>
          <a:xfrm>
            <a:off x="5340985" y="107950"/>
            <a:ext cx="4991100" cy="6492875"/>
          </a:xfrm>
          <a:prstGeom prst="rect">
            <a:avLst/>
          </a:prstGeom>
        </p:spPr>
      </p:pic>
      <p:grpSp>
        <p:nvGrpSpPr>
          <p:cNvPr id="28" name="组合 21"/>
          <p:cNvGrpSpPr/>
          <p:nvPr/>
        </p:nvGrpSpPr>
        <p:grpSpPr>
          <a:xfrm>
            <a:off x="568117" y="476136"/>
            <a:ext cx="2771370" cy="458242"/>
            <a:chOff x="5370731" y="1721511"/>
            <a:chExt cx="2771370" cy="528196"/>
          </a:xfrm>
        </p:grpSpPr>
        <p:sp>
          <p:nvSpPr>
            <p:cNvPr id="29" name="矩形 22"/>
            <p:cNvSpPr/>
            <p:nvPr>
              <p:custDataLst>
                <p:tags r:id="rId3"/>
              </p:custDataLst>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23"/>
            <p:cNvSpPr/>
            <p:nvPr>
              <p:custDataLst>
                <p:tags r:id="rId4"/>
              </p:custDataLst>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8"/>
            <p:cNvSpPr txBox="1"/>
            <p:nvPr>
              <p:custDataLst>
                <p:tags r:id="rId5"/>
              </p:custDataLst>
            </p:nvPr>
          </p:nvSpPr>
          <p:spPr>
            <a:xfrm>
              <a:off x="5489706" y="1767340"/>
              <a:ext cx="2652395"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12) </a:t>
              </a:r>
              <a:r>
                <a:rPr lang="zh-CN" dirty="0">
                  <a:latin typeface="+mn-ea"/>
                  <a:cs typeface="Arial" panose="020B0604020202020204" pitchFamily="34" charset="0"/>
                </a:rPr>
                <a:t>异常值处理代码展示</a:t>
              </a:r>
              <a:endParaRPr lang="zh-CN" dirty="0">
                <a:latin typeface="+mn-ea"/>
                <a:cs typeface="Arial" panose="020B0604020202020204" pitchFamily="34" charset="0"/>
              </a:endParaRPr>
            </a:p>
          </p:txBody>
        </p:sp>
      </p:grpSp>
      <p:pic>
        <p:nvPicPr>
          <p:cNvPr id="35" name="图片 34"/>
          <p:cNvPicPr>
            <a:picLocks noChangeAspect="1"/>
          </p:cNvPicPr>
          <p:nvPr>
            <p:custDataLst>
              <p:tags r:id="rId6"/>
            </p:custDataLst>
          </p:nvPr>
        </p:nvPicPr>
        <p:blipFill>
          <a:blip r:embed="rId7"/>
          <a:stretch>
            <a:fillRect/>
          </a:stretch>
        </p:blipFill>
        <p:spPr>
          <a:xfrm>
            <a:off x="948690" y="1313815"/>
            <a:ext cx="4246245" cy="1020445"/>
          </a:xfrm>
          <a:prstGeom prst="rect">
            <a:avLst/>
          </a:prstGeom>
        </p:spPr>
      </p:pic>
      <p:pic>
        <p:nvPicPr>
          <p:cNvPr id="36" name="图片 35"/>
          <p:cNvPicPr>
            <a:picLocks noChangeAspect="1"/>
          </p:cNvPicPr>
          <p:nvPr>
            <p:custDataLst>
              <p:tags r:id="rId8"/>
            </p:custDataLst>
          </p:nvPr>
        </p:nvPicPr>
        <p:blipFill>
          <a:blip r:embed="rId9"/>
          <a:stretch>
            <a:fillRect/>
          </a:stretch>
        </p:blipFill>
        <p:spPr>
          <a:xfrm>
            <a:off x="948690" y="2448560"/>
            <a:ext cx="4180840" cy="3962400"/>
          </a:xfrm>
          <a:prstGeom prst="rect">
            <a:avLst/>
          </a:prstGeom>
        </p:spPr>
      </p:pic>
    </p:spTree>
  </p:cSld>
  <p:clrMapOvr>
    <a:masterClrMapping/>
  </p:clrMapOvr>
  <p:transition spd="slow" advTm="500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13</a:t>
              </a:r>
              <a:r>
                <a:rPr lang="zh-CN" altLang="en-US" dirty="0">
                  <a:latin typeface="+mn-ea"/>
                  <a:cs typeface="Arial" panose="020B0604020202020204" pitchFamily="34" charset="0"/>
                </a:rPr>
                <a:t>）特征构造</a:t>
              </a:r>
              <a:endParaRPr lang="en-US" altLang="zh-CN" dirty="0">
                <a:latin typeface="+mn-ea"/>
                <a:cs typeface="Arial" panose="020B0604020202020204" pitchFamily="34" charset="0"/>
              </a:endParaRPr>
            </a:p>
          </p:txBody>
        </p:sp>
      </p:grpSp>
      <p:pic>
        <p:nvPicPr>
          <p:cNvPr id="23" name="图片 22"/>
          <p:cNvPicPr>
            <a:picLocks noChangeAspect="1"/>
          </p:cNvPicPr>
          <p:nvPr>
            <p:custDataLst>
              <p:tags r:id="rId2"/>
            </p:custDataLst>
          </p:nvPr>
        </p:nvPicPr>
        <p:blipFill>
          <a:blip r:embed="rId3"/>
          <a:stretch>
            <a:fillRect/>
          </a:stretch>
        </p:blipFill>
        <p:spPr>
          <a:xfrm>
            <a:off x="1379220" y="2743200"/>
            <a:ext cx="5464810" cy="970915"/>
          </a:xfrm>
          <a:prstGeom prst="rect">
            <a:avLst/>
          </a:prstGeom>
        </p:spPr>
      </p:pic>
      <p:pic>
        <p:nvPicPr>
          <p:cNvPr id="26" name="图片 25"/>
          <p:cNvPicPr>
            <a:picLocks noChangeAspect="1"/>
          </p:cNvPicPr>
          <p:nvPr>
            <p:custDataLst>
              <p:tags r:id="rId4"/>
            </p:custDataLst>
          </p:nvPr>
        </p:nvPicPr>
        <p:blipFill>
          <a:blip r:embed="rId5"/>
          <a:stretch>
            <a:fillRect/>
          </a:stretch>
        </p:blipFill>
        <p:spPr>
          <a:xfrm>
            <a:off x="1379220" y="3795395"/>
            <a:ext cx="9345930" cy="1113155"/>
          </a:xfrm>
          <a:prstGeom prst="rect">
            <a:avLst/>
          </a:prstGeom>
        </p:spPr>
      </p:pic>
      <p:pic>
        <p:nvPicPr>
          <p:cNvPr id="28" name="图片 27"/>
          <p:cNvPicPr>
            <a:picLocks noChangeAspect="1"/>
          </p:cNvPicPr>
          <p:nvPr>
            <p:custDataLst>
              <p:tags r:id="rId6"/>
            </p:custDataLst>
          </p:nvPr>
        </p:nvPicPr>
        <p:blipFill>
          <a:blip r:embed="rId7"/>
          <a:stretch>
            <a:fillRect/>
          </a:stretch>
        </p:blipFill>
        <p:spPr>
          <a:xfrm>
            <a:off x="1379220" y="4918075"/>
            <a:ext cx="8422005" cy="1054100"/>
          </a:xfrm>
          <a:prstGeom prst="rect">
            <a:avLst/>
          </a:prstGeom>
        </p:spPr>
      </p:pic>
      <p:sp>
        <p:nvSpPr>
          <p:cNvPr id="29" name="Rectangle: Rounded Corners 1"/>
          <p:cNvSpPr/>
          <p:nvPr>
            <p:custDataLst>
              <p:tags r:id="rId8"/>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13</a:t>
              </a:r>
              <a:r>
                <a:rPr lang="zh-CN" altLang="en-US" dirty="0">
                  <a:latin typeface="+mn-ea"/>
                  <a:cs typeface="Arial" panose="020B0604020202020204" pitchFamily="34" charset="0"/>
                </a:rPr>
                <a:t>）特征构造</a:t>
              </a:r>
              <a:endParaRPr lang="en-US" altLang="zh-CN" dirty="0">
                <a:latin typeface="+mn-ea"/>
                <a:cs typeface="Arial" panose="020B0604020202020204" pitchFamily="34" charset="0"/>
              </a:endParaRPr>
            </a:p>
          </p:txBody>
        </p:sp>
      </p:grpSp>
      <p:pic>
        <p:nvPicPr>
          <p:cNvPr id="3" name="图片 2"/>
          <p:cNvPicPr>
            <a:picLocks noChangeAspect="1"/>
          </p:cNvPicPr>
          <p:nvPr>
            <p:custDataLst>
              <p:tags r:id="rId2"/>
            </p:custDataLst>
          </p:nvPr>
        </p:nvPicPr>
        <p:blipFill>
          <a:blip r:embed="rId3"/>
          <a:stretch>
            <a:fillRect/>
          </a:stretch>
        </p:blipFill>
        <p:spPr>
          <a:xfrm>
            <a:off x="4013200" y="1788160"/>
            <a:ext cx="5779135" cy="759460"/>
          </a:xfrm>
          <a:prstGeom prst="rect">
            <a:avLst/>
          </a:prstGeom>
        </p:spPr>
      </p:pic>
      <p:pic>
        <p:nvPicPr>
          <p:cNvPr id="22" name="图片 21"/>
          <p:cNvPicPr>
            <a:picLocks noChangeAspect="1"/>
          </p:cNvPicPr>
          <p:nvPr>
            <p:custDataLst>
              <p:tags r:id="rId4"/>
            </p:custDataLst>
          </p:nvPr>
        </p:nvPicPr>
        <p:blipFill>
          <a:blip r:embed="rId5"/>
          <a:stretch>
            <a:fillRect/>
          </a:stretch>
        </p:blipFill>
        <p:spPr>
          <a:xfrm>
            <a:off x="4013200" y="2637155"/>
            <a:ext cx="7278370" cy="3442970"/>
          </a:xfrm>
          <a:prstGeom prst="rect">
            <a:avLst/>
          </a:prstGeom>
        </p:spPr>
      </p:pic>
      <p:sp>
        <p:nvSpPr>
          <p:cNvPr id="24" name="Rectangle: Rounded Corners 1"/>
          <p:cNvSpPr/>
          <p:nvPr>
            <p:custDataLst>
              <p:tags r:id="rId6"/>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6450013" y="3268980"/>
            <a:ext cx="5575935" cy="20320"/>
          </a:xfrm>
          <a:prstGeom prst="line">
            <a:avLst/>
          </a:prstGeom>
          <a:ln w="76200">
            <a:solidFill>
              <a:srgbClr val="1F557C"/>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450330" y="3465830"/>
            <a:ext cx="5594350" cy="1210945"/>
          </a:xfrm>
          <a:prstGeom prst="rect">
            <a:avLst/>
          </a:prstGeom>
          <a:solidFill>
            <a:srgbClr val="84AD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6" name="文本框 5"/>
          <p:cNvSpPr txBox="1"/>
          <p:nvPr/>
        </p:nvSpPr>
        <p:spPr>
          <a:xfrm>
            <a:off x="6480493" y="3734802"/>
            <a:ext cx="5545455" cy="553085"/>
          </a:xfrm>
          <a:prstGeom prst="rect">
            <a:avLst/>
          </a:prstGeom>
          <a:noFill/>
        </p:spPr>
        <p:txBody>
          <a:bodyPr wrap="square">
            <a:spAutoFit/>
          </a:bodyPr>
          <a:lstStyle/>
          <a:p>
            <a:pPr eaLnBrk="1" fontAlgn="auto" hangingPunct="1">
              <a:lnSpc>
                <a:spcPct val="150000"/>
              </a:lnSpc>
              <a:spcBef>
                <a:spcPts val="0"/>
              </a:spcBef>
              <a:spcAft>
                <a:spcPts val="0"/>
              </a:spcAft>
              <a:defRPr/>
            </a:pPr>
            <a:r>
              <a:rPr lang="zh-CN" sz="2000" b="1" dirty="0">
                <a:solidFill>
                  <a:schemeClr val="bg1"/>
                </a:solidFill>
                <a:latin typeface="+mn-lt"/>
                <a:ea typeface="+mn-ea"/>
                <a:cs typeface="+mn-ea"/>
                <a:sym typeface="+mn-lt"/>
              </a:rPr>
              <a:t>根据</a:t>
            </a:r>
            <a:r>
              <a:rPr lang="zh-CN" sz="2000" b="1" dirty="0">
                <a:solidFill>
                  <a:srgbClr val="FF0000"/>
                </a:solidFill>
                <a:latin typeface="+mn-lt"/>
                <a:ea typeface="+mn-ea"/>
                <a:cs typeface="+mn-ea"/>
                <a:sym typeface="+mn-lt"/>
              </a:rPr>
              <a:t>数据特征</a:t>
            </a:r>
            <a:r>
              <a:rPr lang="zh-CN" sz="2000" b="1" dirty="0">
                <a:solidFill>
                  <a:schemeClr val="bg1"/>
                </a:solidFill>
                <a:latin typeface="+mn-lt"/>
                <a:ea typeface="+mn-ea"/>
                <a:cs typeface="+mn-ea"/>
                <a:sym typeface="+mn-lt"/>
              </a:rPr>
              <a:t>建立合适的数据模型</a:t>
            </a:r>
            <a:endParaRPr lang="zh-CN" sz="2000" b="1" dirty="0">
              <a:solidFill>
                <a:schemeClr val="bg1"/>
              </a:solidFill>
              <a:latin typeface="+mn-lt"/>
              <a:ea typeface="+mn-ea"/>
              <a:cs typeface="+mn-ea"/>
              <a:sym typeface="+mn-lt"/>
            </a:endParaRPr>
          </a:p>
        </p:txBody>
      </p:sp>
      <p:sp>
        <p:nvSpPr>
          <p:cNvPr id="26" name="文本框 25"/>
          <p:cNvSpPr txBox="1"/>
          <p:nvPr/>
        </p:nvSpPr>
        <p:spPr>
          <a:xfrm>
            <a:off x="6324600" y="2341880"/>
            <a:ext cx="6001385" cy="922020"/>
          </a:xfrm>
          <a:prstGeom prst="rect">
            <a:avLst/>
          </a:prstGeom>
          <a:noFill/>
        </p:spPr>
        <p:txBody>
          <a:bodyPr wrap="square">
            <a:spAutoFit/>
          </a:bodyPr>
          <a:lstStyle/>
          <a:p>
            <a:pPr algn="l" eaLnBrk="1" fontAlgn="auto" hangingPunct="1">
              <a:lnSpc>
                <a:spcPct val="150000"/>
              </a:lnSpc>
              <a:spcBef>
                <a:spcPts val="0"/>
              </a:spcBef>
              <a:spcAft>
                <a:spcPts val="0"/>
              </a:spcAft>
              <a:buClrTx/>
              <a:buSzTx/>
              <a:buFontTx/>
              <a:defRPr/>
            </a:pPr>
            <a:r>
              <a:rPr lang="zh-CN" altLang="en-US" sz="3600" b="1" dirty="0">
                <a:solidFill>
                  <a:schemeClr val="tx1"/>
                </a:solidFill>
                <a:latin typeface="+mn-lt"/>
                <a:ea typeface="+mn-ea"/>
                <a:cs typeface="+mn-ea"/>
                <a:sym typeface="+mn-ea"/>
              </a:rPr>
              <a:t>数据建模</a:t>
            </a:r>
            <a:endParaRPr lang="zh-CN" altLang="en-US" sz="3600" b="1" dirty="0">
              <a:solidFill>
                <a:schemeClr val="tx1"/>
              </a:solidFill>
              <a:latin typeface="+mn-lt"/>
              <a:ea typeface="+mn-ea"/>
              <a:cs typeface="+mn-ea"/>
              <a:sym typeface="+mn-ea"/>
            </a:endParaRPr>
          </a:p>
        </p:txBody>
      </p:sp>
      <p:sp>
        <p:nvSpPr>
          <p:cNvPr id="3" name="椭圆 2"/>
          <p:cNvSpPr/>
          <p:nvPr/>
        </p:nvSpPr>
        <p:spPr>
          <a:xfrm>
            <a:off x="2319338" y="1179513"/>
            <a:ext cx="3973512" cy="397351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50184"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3163" y="598488"/>
            <a:ext cx="7134226" cy="533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文本框 29"/>
          <p:cNvSpPr txBox="1"/>
          <p:nvPr/>
        </p:nvSpPr>
        <p:spPr>
          <a:xfrm>
            <a:off x="3575050" y="2444750"/>
            <a:ext cx="2844800" cy="1783715"/>
          </a:xfrm>
          <a:prstGeom prst="rect">
            <a:avLst/>
          </a:prstGeom>
          <a:noFill/>
          <a:effectLst>
            <a:outerShdw blurRad="50800" dist="38100" dir="5400000" algn="t" rotWithShape="0">
              <a:prstClr val="black">
                <a:alpha val="40000"/>
              </a:prstClr>
            </a:outerShdw>
          </a:effectLst>
        </p:spPr>
        <p:txBody>
          <a:bodyPr>
            <a:spAutoFit/>
          </a:bodyPr>
          <a:lstStyle/>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PART  </a:t>
            </a:r>
            <a:endParaRPr lang="en-US" altLang="zh-CN" sz="5500" b="1" dirty="0">
              <a:solidFill>
                <a:schemeClr val="bg1"/>
              </a:solidFill>
              <a:latin typeface="+mn-lt"/>
              <a:ea typeface="+mn-ea"/>
              <a:cs typeface="+mn-ea"/>
              <a:sym typeface="+mn-lt"/>
            </a:endParaRPr>
          </a:p>
          <a:p>
            <a:pPr eaLnBrk="1" fontAlgn="auto" hangingPunct="1">
              <a:spcBef>
                <a:spcPts val="0"/>
              </a:spcBef>
              <a:spcAft>
                <a:spcPts val="0"/>
              </a:spcAft>
              <a:defRPr/>
            </a:pPr>
            <a:r>
              <a:rPr lang="en-US" altLang="zh-CN" sz="5500" b="1" dirty="0">
                <a:solidFill>
                  <a:schemeClr val="bg1"/>
                </a:solidFill>
                <a:latin typeface="+mn-lt"/>
                <a:ea typeface="+mn-ea"/>
                <a:cs typeface="+mn-ea"/>
                <a:sym typeface="+mn-lt"/>
              </a:rPr>
              <a:t>FOUR</a:t>
            </a:r>
            <a:endParaRPr lang="en-US" altLang="zh-CN" sz="5500" b="1" dirty="0">
              <a:solidFill>
                <a:schemeClr val="bg1"/>
              </a:solidFill>
              <a:latin typeface="+mn-lt"/>
              <a:ea typeface="+mn-ea"/>
              <a:cs typeface="+mn-ea"/>
              <a:sym typeface="+mn-lt"/>
            </a:endParaRPr>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0">
                                            <p:txEl>
                                              <p:pRg st="0" end="0"/>
                                            </p:txEl>
                                          </p:spTgt>
                                        </p:tgtEl>
                                        <p:attrNameLst>
                                          <p:attrName>style.visibility</p:attrName>
                                        </p:attrNameLst>
                                      </p:cBhvr>
                                      <p:to>
                                        <p:strVal val="visible"/>
                                      </p:to>
                                    </p:set>
                                    <p:animEffect transition="in" filter="wipe(left)">
                                      <p:cBhvr>
                                        <p:cTn id="15" dur="500"/>
                                        <p:tgtEl>
                                          <p:spTgt spid="30">
                                            <p:txEl>
                                              <p:pRg st="0" end="0"/>
                                            </p:txEl>
                                          </p:spTgt>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Effect transition="in" filter="wipe(left)">
                                      <p:cBhvr>
                                        <p:cTn id="19" dur="500"/>
                                        <p:tgtEl>
                                          <p:spTgt spid="3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2170025" cy="458242"/>
            <a:chOff x="5370731" y="1721511"/>
            <a:chExt cx="21700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0510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14</a:t>
              </a:r>
              <a:r>
                <a:rPr lang="zh-CN" altLang="en-US" dirty="0">
                  <a:latin typeface="+mn-ea"/>
                  <a:cs typeface="Arial" panose="020B0604020202020204" pitchFamily="34" charset="0"/>
                </a:rPr>
                <a:t>）特征筛选方式</a:t>
              </a:r>
              <a:endParaRPr lang="zh-CN" altLang="en-US" dirty="0">
                <a:latin typeface="+mn-ea"/>
                <a:cs typeface="Arial" panose="020B0604020202020204" pitchFamily="34" charset="0"/>
              </a:endParaRPr>
            </a:p>
          </p:txBody>
        </p:sp>
      </p:grpSp>
      <p:grpSp>
        <p:nvGrpSpPr>
          <p:cNvPr id="9" name="组合 8"/>
          <p:cNvGrpSpPr/>
          <p:nvPr/>
        </p:nvGrpSpPr>
        <p:grpSpPr>
          <a:xfrm>
            <a:off x="998855" y="2715260"/>
            <a:ext cx="5196840" cy="2091690"/>
            <a:chOff x="1573" y="4276"/>
            <a:chExt cx="8184" cy="3294"/>
          </a:xfrm>
        </p:grpSpPr>
        <p:sp>
          <p:nvSpPr>
            <p:cNvPr id="28" name="文本框 27"/>
            <p:cNvSpPr txBox="1"/>
            <p:nvPr>
              <p:custDataLst>
                <p:tags r:id="rId2"/>
              </p:custDataLst>
            </p:nvPr>
          </p:nvSpPr>
          <p:spPr>
            <a:xfrm>
              <a:off x="1573" y="4276"/>
              <a:ext cx="4430" cy="725"/>
            </a:xfrm>
            <a:prstGeom prst="rect">
              <a:avLst/>
            </a:prstGeom>
            <a:noFill/>
            <a:ln w="19050">
              <a:noFill/>
            </a:ln>
            <a:extLst>
              <a:ext uri="{909E8E84-426E-40DD-AFC4-6F175D3DCCD1}">
                <a14:hiddenFill xmlns:a14="http://schemas.microsoft.com/office/drawing/2010/main">
                  <a:solidFill>
                    <a:srgbClr val="92D050"/>
                  </a:solidFill>
                </a14:hiddenFill>
              </a:ext>
            </a:extLst>
          </p:spPr>
          <p:txBody>
            <a:bodyPr wrap="square" rtlCol="0">
              <a:spAutoFit/>
            </a:bodyPr>
            <a:lstStyle/>
            <a:p>
              <a:pPr>
                <a:lnSpc>
                  <a:spcPct val="150000"/>
                </a:lnSpc>
              </a:pPr>
              <a:r>
                <a:rPr lang="en-US" sz="1600"/>
                <a:t>1. </a:t>
              </a:r>
              <a:r>
                <a:rPr lang="zh-CN" altLang="en-US" sz="1600"/>
                <a:t>过滤式</a:t>
              </a:r>
              <a:endParaRPr lang="zh-CN" altLang="en-US" sz="1600"/>
            </a:p>
          </p:txBody>
        </p:sp>
        <p:pic>
          <p:nvPicPr>
            <p:cNvPr id="26" name="图片 25"/>
            <p:cNvPicPr>
              <a:picLocks noChangeAspect="1"/>
            </p:cNvPicPr>
            <p:nvPr>
              <p:custDataLst>
                <p:tags r:id="rId3"/>
              </p:custDataLst>
            </p:nvPr>
          </p:nvPicPr>
          <p:blipFill>
            <a:blip r:embed="rId4"/>
            <a:stretch>
              <a:fillRect/>
            </a:stretch>
          </p:blipFill>
          <p:spPr>
            <a:xfrm>
              <a:off x="1573" y="5398"/>
              <a:ext cx="8184" cy="2172"/>
            </a:xfrm>
            <a:prstGeom prst="rect">
              <a:avLst/>
            </a:prstGeom>
          </p:spPr>
        </p:pic>
      </p:grpSp>
      <p:grpSp>
        <p:nvGrpSpPr>
          <p:cNvPr id="10" name="组合 9"/>
          <p:cNvGrpSpPr/>
          <p:nvPr/>
        </p:nvGrpSpPr>
        <p:grpSpPr>
          <a:xfrm>
            <a:off x="6507480" y="2733040"/>
            <a:ext cx="4922520" cy="2797810"/>
            <a:chOff x="10248" y="4304"/>
            <a:chExt cx="7752" cy="4406"/>
          </a:xfrm>
        </p:grpSpPr>
        <p:pic>
          <p:nvPicPr>
            <p:cNvPr id="23" name="图片 22"/>
            <p:cNvPicPr>
              <a:picLocks noChangeAspect="1"/>
            </p:cNvPicPr>
            <p:nvPr>
              <p:custDataLst>
                <p:tags r:id="rId5"/>
              </p:custDataLst>
            </p:nvPr>
          </p:nvPicPr>
          <p:blipFill>
            <a:blip r:embed="rId6"/>
            <a:stretch>
              <a:fillRect/>
            </a:stretch>
          </p:blipFill>
          <p:spPr>
            <a:xfrm>
              <a:off x="10248" y="5398"/>
              <a:ext cx="7752" cy="3312"/>
            </a:xfrm>
            <a:prstGeom prst="rect">
              <a:avLst/>
            </a:prstGeom>
          </p:spPr>
        </p:pic>
        <p:sp>
          <p:nvSpPr>
            <p:cNvPr id="32" name="文本框 31"/>
            <p:cNvSpPr txBox="1"/>
            <p:nvPr>
              <p:custDataLst>
                <p:tags r:id="rId7"/>
              </p:custDataLst>
            </p:nvPr>
          </p:nvSpPr>
          <p:spPr>
            <a:xfrm>
              <a:off x="10248" y="4304"/>
              <a:ext cx="4430" cy="725"/>
            </a:xfrm>
            <a:prstGeom prst="rect">
              <a:avLst/>
            </a:prstGeom>
            <a:noFill/>
            <a:ln w="19050">
              <a:noFill/>
            </a:ln>
            <a:extLst>
              <a:ext uri="{909E8E84-426E-40DD-AFC4-6F175D3DCCD1}">
                <a14:hiddenFill xmlns:a14="http://schemas.microsoft.com/office/drawing/2010/main">
                  <a:solidFill>
                    <a:srgbClr val="92D050"/>
                  </a:solidFill>
                </a14:hiddenFill>
              </a:ext>
            </a:extLst>
          </p:spPr>
          <p:txBody>
            <a:bodyPr wrap="square" rtlCol="0">
              <a:spAutoFit/>
            </a:bodyPr>
            <a:lstStyle/>
            <a:p>
              <a:pPr>
                <a:lnSpc>
                  <a:spcPct val="150000"/>
                </a:lnSpc>
              </a:pPr>
              <a:r>
                <a:rPr lang="en-US" sz="1600"/>
                <a:t>2. </a:t>
              </a:r>
              <a:r>
                <a:rPr lang="zh-CN" altLang="en-US" sz="1600"/>
                <a:t>包裹式</a:t>
              </a:r>
              <a:endParaRPr lang="zh-CN" altLang="en-US" sz="1600"/>
            </a:p>
          </p:txBody>
        </p:sp>
      </p:grpSp>
      <p:sp>
        <p:nvSpPr>
          <p:cNvPr id="3" name="Rectangle: Rounded Corners 1"/>
          <p:cNvSpPr/>
          <p:nvPr>
            <p:custDataLst>
              <p:tags r:id="rId8"/>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ppt_y</p:attrName>
                                        </p:attrNameLst>
                                      </p:cBhvr>
                                      <p:tavLst>
                                        <p:tav tm="0">
                                          <p:val>
                                            <p:strVal val="#ppt_y+#ppt_h*1.125000"/>
                                          </p:val>
                                        </p:tav>
                                        <p:tav tm="100000">
                                          <p:val>
                                            <p:strVal val="#ppt_y"/>
                                          </p:val>
                                        </p:tav>
                                      </p:tavLst>
                                    </p:anim>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p:tgtEl>
                                          <p:spTgt spid="10"/>
                                        </p:tgtEl>
                                        <p:attrNameLst>
                                          <p:attrName>ppt_y</p:attrName>
                                        </p:attrNameLst>
                                      </p:cBhvr>
                                      <p:tavLst>
                                        <p:tav tm="0">
                                          <p:val>
                                            <p:strVal val="#ppt_y+#ppt_h*1.125000"/>
                                          </p:val>
                                        </p:tav>
                                        <p:tav tm="100000">
                                          <p:val>
                                            <p:strVal val="#ppt_y"/>
                                          </p:val>
                                        </p:tav>
                                      </p:tavLst>
                                    </p:anim>
                                    <p:animEffect transition="in" filter="wipe(up)">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15</a:t>
              </a:r>
              <a:r>
                <a:rPr lang="zh-CN" altLang="en-US" dirty="0">
                  <a:latin typeface="+mn-ea"/>
                  <a:cs typeface="Arial" panose="020B0604020202020204" pitchFamily="34" charset="0"/>
                </a:rPr>
                <a:t>）特征选择</a:t>
              </a:r>
              <a:endParaRPr lang="zh-CN" altLang="en-US" dirty="0">
                <a:latin typeface="+mn-ea"/>
                <a:cs typeface="Arial" panose="020B0604020202020204" pitchFamily="34" charset="0"/>
              </a:endParaRPr>
            </a:p>
          </p:txBody>
        </p:sp>
      </p:grpSp>
      <p:sp>
        <p:nvSpPr>
          <p:cNvPr id="3" name="Rectangle: Rounded Corners 1"/>
          <p:cNvSpPr/>
          <p:nvPr>
            <p:custDataLst>
              <p:tags r:id="rId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p>
            <a:pPr lvl="0" algn="ctr"/>
            <a:r>
              <a:rPr lang="zh-CN" altLang="en-US" b="0" i="0" dirty="0">
                <a:solidFill>
                  <a:srgbClr val="373D41"/>
                </a:solidFill>
                <a:effectLst/>
                <a:latin typeface="PingFangSC-Regular"/>
              </a:rPr>
              <a:t>二手车交易价格预测</a:t>
            </a:r>
            <a:endParaRPr lang="zh-CN" altLang="en-US" dirty="0"/>
          </a:p>
        </p:txBody>
      </p:sp>
      <p:pic>
        <p:nvPicPr>
          <p:cNvPr id="9" name="图片 8"/>
          <p:cNvPicPr>
            <a:picLocks noChangeAspect="1"/>
          </p:cNvPicPr>
          <p:nvPr>
            <p:custDataLst>
              <p:tags r:id="rId3"/>
            </p:custDataLst>
          </p:nvPr>
        </p:nvPicPr>
        <p:blipFill>
          <a:blip r:embed="rId4"/>
          <a:stretch>
            <a:fillRect/>
          </a:stretch>
        </p:blipFill>
        <p:spPr>
          <a:xfrm>
            <a:off x="1936750" y="2418080"/>
            <a:ext cx="9262745" cy="3441700"/>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grpSp>
        <p:nvGrpSpPr>
          <p:cNvPr id="5" name="组合 21"/>
          <p:cNvGrpSpPr/>
          <p:nvPr/>
        </p:nvGrpSpPr>
        <p:grpSpPr>
          <a:xfrm>
            <a:off x="998647" y="1286396"/>
            <a:ext cx="2627225" cy="458242"/>
            <a:chOff x="5370731" y="1721511"/>
            <a:chExt cx="26272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5082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16</a:t>
              </a:r>
              <a:r>
                <a:rPr lang="zh-CN" altLang="en-US" dirty="0">
                  <a:latin typeface="+mn-ea"/>
                  <a:cs typeface="Arial" panose="020B0604020202020204" pitchFamily="34" charset="0"/>
                </a:rPr>
                <a:t>）模型参数效果查看</a:t>
              </a:r>
              <a:endParaRPr lang="zh-CN" altLang="en-US" dirty="0">
                <a:latin typeface="+mn-ea"/>
                <a:cs typeface="Arial" panose="020B0604020202020204" pitchFamily="34" charset="0"/>
              </a:endParaRPr>
            </a:p>
          </p:txBody>
        </p:sp>
      </p:grpSp>
      <p:pic>
        <p:nvPicPr>
          <p:cNvPr id="3" name="图片 2"/>
          <p:cNvPicPr>
            <a:picLocks noChangeAspect="1"/>
          </p:cNvPicPr>
          <p:nvPr>
            <p:custDataLst>
              <p:tags r:id="rId2"/>
            </p:custDataLst>
          </p:nvPr>
        </p:nvPicPr>
        <p:blipFill>
          <a:blip r:embed="rId3"/>
          <a:srcRect l="-350" b="7590"/>
          <a:stretch>
            <a:fillRect/>
          </a:stretch>
        </p:blipFill>
        <p:spPr>
          <a:xfrm>
            <a:off x="3773170" y="672465"/>
            <a:ext cx="6734175" cy="5512435"/>
          </a:xfrm>
          <a:prstGeom prst="rect">
            <a:avLst/>
          </a:prstGeom>
        </p:spPr>
      </p:pic>
      <p:pic>
        <p:nvPicPr>
          <p:cNvPr id="23" name="图片 22"/>
          <p:cNvPicPr>
            <a:picLocks noChangeAspect="1"/>
          </p:cNvPicPr>
          <p:nvPr>
            <p:custDataLst>
              <p:tags r:id="rId4"/>
            </p:custDataLst>
          </p:nvPr>
        </p:nvPicPr>
        <p:blipFill>
          <a:blip r:embed="rId5"/>
          <a:stretch>
            <a:fillRect/>
          </a:stretch>
        </p:blipFill>
        <p:spPr>
          <a:xfrm>
            <a:off x="815975" y="3239135"/>
            <a:ext cx="2731135" cy="71818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17</a:t>
              </a:r>
              <a:r>
                <a:rPr lang="zh-CN" altLang="en-US" dirty="0">
                  <a:latin typeface="+mn-ea"/>
                  <a:cs typeface="Arial" panose="020B0604020202020204" pitchFamily="34" charset="0"/>
                </a:rPr>
                <a:t>）模型定义</a:t>
              </a:r>
              <a:endParaRPr lang="zh-CN" altLang="en-US" dirty="0">
                <a:latin typeface="+mn-ea"/>
                <a:cs typeface="Arial" panose="020B0604020202020204" pitchFamily="34" charset="0"/>
              </a:endParaRPr>
            </a:p>
          </p:txBody>
        </p:sp>
      </p:grpSp>
      <p:pic>
        <p:nvPicPr>
          <p:cNvPr id="3" name="图片 2"/>
          <p:cNvPicPr>
            <a:picLocks noChangeAspect="1"/>
          </p:cNvPicPr>
          <p:nvPr>
            <p:custDataLst>
              <p:tags r:id="rId2"/>
            </p:custDataLst>
          </p:nvPr>
        </p:nvPicPr>
        <p:blipFill>
          <a:blip r:embed="rId3"/>
          <a:stretch>
            <a:fillRect/>
          </a:stretch>
        </p:blipFill>
        <p:spPr>
          <a:xfrm>
            <a:off x="1673225" y="2688590"/>
            <a:ext cx="7909560" cy="3059430"/>
          </a:xfrm>
          <a:prstGeom prst="rect">
            <a:avLst/>
          </a:prstGeom>
        </p:spPr>
      </p:pic>
      <p:sp>
        <p:nvSpPr>
          <p:cNvPr id="23" name="Rectangle: Rounded Corners 1"/>
          <p:cNvSpPr/>
          <p:nvPr>
            <p:custDataLst>
              <p:tags r:id="rId4"/>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18</a:t>
              </a:r>
              <a:r>
                <a:rPr lang="zh-CN" altLang="en-US" dirty="0">
                  <a:latin typeface="+mn-ea"/>
                  <a:cs typeface="Arial" panose="020B0604020202020204" pitchFamily="34" charset="0"/>
                </a:rPr>
                <a:t>）模型训练</a:t>
              </a:r>
              <a:endParaRPr lang="zh-CN" altLang="en-US" dirty="0">
                <a:latin typeface="+mn-ea"/>
                <a:cs typeface="Arial" panose="020B0604020202020204" pitchFamily="34" charset="0"/>
              </a:endParaRPr>
            </a:p>
          </p:txBody>
        </p:sp>
      </p:grpSp>
      <p:pic>
        <p:nvPicPr>
          <p:cNvPr id="3" name="图片 2"/>
          <p:cNvPicPr>
            <a:picLocks noChangeAspect="1"/>
          </p:cNvPicPr>
          <p:nvPr>
            <p:custDataLst>
              <p:tags r:id="rId2"/>
            </p:custDataLst>
          </p:nvPr>
        </p:nvPicPr>
        <p:blipFill>
          <a:blip r:embed="rId3"/>
          <a:stretch>
            <a:fillRect/>
          </a:stretch>
        </p:blipFill>
        <p:spPr>
          <a:xfrm>
            <a:off x="1379220" y="2734310"/>
            <a:ext cx="5731510" cy="2995295"/>
          </a:xfrm>
          <a:prstGeom prst="rect">
            <a:avLst/>
          </a:prstGeom>
        </p:spPr>
      </p:pic>
      <p:sp>
        <p:nvSpPr>
          <p:cNvPr id="22" name="Rectangle: Rounded Corners 1"/>
          <p:cNvSpPr/>
          <p:nvPr>
            <p:custDataLst>
              <p:tags r:id="rId4"/>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pic>
        <p:nvPicPr>
          <p:cNvPr id="24" name="图片 23"/>
          <p:cNvPicPr>
            <a:picLocks noChangeAspect="1"/>
          </p:cNvPicPr>
          <p:nvPr>
            <p:custDataLst>
              <p:tags r:id="rId5"/>
            </p:custDataLst>
          </p:nvPr>
        </p:nvPicPr>
        <p:blipFill>
          <a:blip r:embed="rId6"/>
          <a:stretch>
            <a:fillRect/>
          </a:stretch>
        </p:blipFill>
        <p:spPr>
          <a:xfrm>
            <a:off x="7399020" y="3658870"/>
            <a:ext cx="4292600" cy="207073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18</a:t>
              </a:r>
              <a:r>
                <a:rPr lang="zh-CN" altLang="en-US" dirty="0">
                  <a:latin typeface="+mn-ea"/>
                  <a:cs typeface="Arial" panose="020B0604020202020204" pitchFamily="34" charset="0"/>
                </a:rPr>
                <a:t>）模型训练</a:t>
              </a:r>
              <a:endParaRPr lang="zh-CN" altLang="en-US" dirty="0">
                <a:latin typeface="+mn-ea"/>
                <a:cs typeface="Arial" panose="020B0604020202020204" pitchFamily="34" charset="0"/>
              </a:endParaRPr>
            </a:p>
          </p:txBody>
        </p:sp>
      </p:grpSp>
      <p:sp>
        <p:nvSpPr>
          <p:cNvPr id="22" name="Rectangle: Rounded Corners 1"/>
          <p:cNvSpPr/>
          <p:nvPr>
            <p:custDataLst>
              <p:tags r:id="rId2"/>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pic>
        <p:nvPicPr>
          <p:cNvPr id="9" name="图片 8"/>
          <p:cNvPicPr>
            <a:picLocks noChangeAspect="1"/>
          </p:cNvPicPr>
          <p:nvPr>
            <p:custDataLst>
              <p:tags r:id="rId3"/>
            </p:custDataLst>
          </p:nvPr>
        </p:nvPicPr>
        <p:blipFill>
          <a:blip r:embed="rId4"/>
          <a:stretch>
            <a:fillRect/>
          </a:stretch>
        </p:blipFill>
        <p:spPr>
          <a:xfrm>
            <a:off x="1544955" y="2729230"/>
            <a:ext cx="5151120" cy="2736215"/>
          </a:xfrm>
          <a:prstGeom prst="rect">
            <a:avLst/>
          </a:prstGeom>
        </p:spPr>
      </p:pic>
      <p:pic>
        <p:nvPicPr>
          <p:cNvPr id="10" name="图片 9"/>
          <p:cNvPicPr>
            <a:picLocks noChangeAspect="1"/>
          </p:cNvPicPr>
          <p:nvPr>
            <p:custDataLst>
              <p:tags r:id="rId5"/>
            </p:custDataLst>
          </p:nvPr>
        </p:nvPicPr>
        <p:blipFill>
          <a:blip r:embed="rId6"/>
          <a:stretch>
            <a:fillRect/>
          </a:stretch>
        </p:blipFill>
        <p:spPr>
          <a:xfrm>
            <a:off x="7174865" y="3407410"/>
            <a:ext cx="4060825" cy="205803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2170025" cy="458242"/>
            <a:chOff x="5370731" y="1721511"/>
            <a:chExt cx="21700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20510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19</a:t>
              </a:r>
              <a:r>
                <a:rPr lang="zh-CN" altLang="en-US" dirty="0">
                  <a:latin typeface="+mn-ea"/>
                  <a:cs typeface="Arial" panose="020B0604020202020204" pitchFamily="34" charset="0"/>
                </a:rPr>
                <a:t>）模型加权融合</a:t>
              </a:r>
              <a:endParaRPr lang="zh-CN" altLang="en-US" dirty="0">
                <a:latin typeface="+mn-ea"/>
                <a:cs typeface="Arial" panose="020B0604020202020204" pitchFamily="34" charset="0"/>
              </a:endParaRPr>
            </a:p>
          </p:txBody>
        </p:sp>
      </p:grpSp>
      <p:pic>
        <p:nvPicPr>
          <p:cNvPr id="3" name="图片 2"/>
          <p:cNvPicPr>
            <a:picLocks noChangeAspect="1"/>
          </p:cNvPicPr>
          <p:nvPr>
            <p:custDataLst>
              <p:tags r:id="rId2"/>
            </p:custDataLst>
          </p:nvPr>
        </p:nvPicPr>
        <p:blipFill>
          <a:blip r:embed="rId3"/>
          <a:stretch>
            <a:fillRect/>
          </a:stretch>
        </p:blipFill>
        <p:spPr>
          <a:xfrm>
            <a:off x="2040255" y="2418080"/>
            <a:ext cx="8882380" cy="1149350"/>
          </a:xfrm>
          <a:prstGeom prst="rect">
            <a:avLst/>
          </a:prstGeom>
        </p:spPr>
      </p:pic>
      <p:pic>
        <p:nvPicPr>
          <p:cNvPr id="23" name="图片 22"/>
          <p:cNvPicPr>
            <a:picLocks noChangeAspect="1"/>
          </p:cNvPicPr>
          <p:nvPr>
            <p:custDataLst>
              <p:tags r:id="rId4"/>
            </p:custDataLst>
          </p:nvPr>
        </p:nvPicPr>
        <p:blipFill>
          <a:blip r:embed="rId5"/>
          <a:stretch>
            <a:fillRect/>
          </a:stretch>
        </p:blipFill>
        <p:spPr>
          <a:xfrm>
            <a:off x="2040255" y="3617595"/>
            <a:ext cx="7559675" cy="1160145"/>
          </a:xfrm>
          <a:prstGeom prst="rect">
            <a:avLst/>
          </a:prstGeom>
        </p:spPr>
      </p:pic>
      <p:pic>
        <p:nvPicPr>
          <p:cNvPr id="26" name="图片 25"/>
          <p:cNvPicPr>
            <a:picLocks noChangeAspect="1"/>
          </p:cNvPicPr>
          <p:nvPr>
            <p:custDataLst>
              <p:tags r:id="rId6"/>
            </p:custDataLst>
          </p:nvPr>
        </p:nvPicPr>
        <p:blipFill>
          <a:blip r:embed="rId7"/>
          <a:stretch>
            <a:fillRect/>
          </a:stretch>
        </p:blipFill>
        <p:spPr>
          <a:xfrm>
            <a:off x="8117840" y="3936365"/>
            <a:ext cx="3490595" cy="2195195"/>
          </a:xfrm>
          <a:prstGeom prst="rect">
            <a:avLst/>
          </a:prstGeom>
        </p:spPr>
      </p:pic>
      <p:pic>
        <p:nvPicPr>
          <p:cNvPr id="22" name="图片 21"/>
          <p:cNvPicPr>
            <a:picLocks noChangeAspect="1"/>
          </p:cNvPicPr>
          <p:nvPr>
            <p:custDataLst>
              <p:tags r:id="rId8"/>
            </p:custDataLst>
          </p:nvPr>
        </p:nvPicPr>
        <p:blipFill>
          <a:blip r:embed="rId9"/>
          <a:stretch>
            <a:fillRect/>
          </a:stretch>
        </p:blipFill>
        <p:spPr>
          <a:xfrm>
            <a:off x="2040255" y="4968240"/>
            <a:ext cx="5607685" cy="454025"/>
          </a:xfrm>
          <a:prstGeom prst="rect">
            <a:avLst/>
          </a:prstGeom>
        </p:spPr>
      </p:pic>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0"/>
          <p:cNvSpPr/>
          <p:nvPr/>
        </p:nvSpPr>
        <p:spPr>
          <a:xfrm>
            <a:off x="802640" y="1540510"/>
            <a:ext cx="10888980" cy="462470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7" name="矩形 26"/>
          <p:cNvSpPr/>
          <p:nvPr/>
        </p:nvSpPr>
        <p:spPr>
          <a:xfrm>
            <a:off x="0" y="6648450"/>
            <a:ext cx="12192000" cy="2095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pic>
        <p:nvPicPr>
          <p:cNvPr id="30" name="图片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6525" y="219075"/>
            <a:ext cx="110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组合 37"/>
          <p:cNvGrpSpPr/>
          <p:nvPr/>
        </p:nvGrpSpPr>
        <p:grpSpPr bwMode="auto">
          <a:xfrm>
            <a:off x="1012190" y="478155"/>
            <a:ext cx="1580808" cy="461665"/>
            <a:chOff x="980570" y="478485"/>
            <a:chExt cx="3757981" cy="460649"/>
          </a:xfrm>
        </p:grpSpPr>
        <p:sp>
          <p:nvSpPr>
            <p:cNvPr id="41" name="矩形 40"/>
            <p:cNvSpPr/>
            <p:nvPr/>
          </p:nvSpPr>
          <p:spPr>
            <a:xfrm>
              <a:off x="980570" y="478485"/>
              <a:ext cx="3757981" cy="416911"/>
            </a:xfrm>
            <a:prstGeom prst="rect">
              <a:avLst/>
            </a:prstGeom>
            <a:solidFill>
              <a:srgbClr val="FFC20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42"/>
            <p:cNvSpPr txBox="1"/>
            <p:nvPr/>
          </p:nvSpPr>
          <p:spPr>
            <a:xfrm>
              <a:off x="1103280" y="478485"/>
              <a:ext cx="3573141" cy="460649"/>
            </a:xfrm>
            <a:prstGeom prst="rect">
              <a:avLst/>
            </a:prstGeom>
            <a:noFill/>
          </p:spPr>
          <p:txBody>
            <a:bodyPr wrap="square">
              <a:spAutoFit/>
            </a:bodyPr>
            <a:lstStyle/>
            <a:p>
              <a:pPr algn="l" eaLnBrk="1" fontAlgn="auto" hangingPunct="1">
                <a:spcBef>
                  <a:spcPts val="0"/>
                </a:spcBef>
                <a:spcAft>
                  <a:spcPts val="0"/>
                </a:spcAft>
                <a:defRPr/>
              </a:pPr>
              <a:r>
                <a:rPr lang="zh-CN" altLang="en-US" sz="2400" b="1" dirty="0">
                  <a:solidFill>
                    <a:srgbClr val="0277BD"/>
                  </a:solidFill>
                  <a:latin typeface="+mn-lt"/>
                  <a:ea typeface="+mn-ea"/>
                  <a:cs typeface="+mn-ea"/>
                  <a:sym typeface="+mn-lt"/>
                </a:rPr>
                <a:t>案例实战</a:t>
              </a:r>
              <a:endParaRPr lang="zh-CN" altLang="en-US" sz="2400" b="1" dirty="0">
                <a:solidFill>
                  <a:srgbClr val="0277BD"/>
                </a:solidFill>
                <a:latin typeface="+mn-lt"/>
                <a:ea typeface="+mn-ea"/>
                <a:cs typeface="+mn-ea"/>
                <a:sym typeface="+mn-lt"/>
              </a:endParaRPr>
            </a:p>
          </p:txBody>
        </p:sp>
      </p:grpSp>
      <p:sp>
        <p:nvSpPr>
          <p:cNvPr id="2" name="Rectangle: Rounded Corners 1"/>
          <p:cNvSpPr/>
          <p:nvPr/>
        </p:nvSpPr>
        <p:spPr>
          <a:xfrm>
            <a:off x="430586" y="1293109"/>
            <a:ext cx="1810590"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金融风控</a:t>
            </a:r>
            <a:endParaRPr lang="zh-CN" altLang="en-US" dirty="0"/>
          </a:p>
        </p:txBody>
      </p:sp>
      <p:grpSp>
        <p:nvGrpSpPr>
          <p:cNvPr id="5" name="组合 21"/>
          <p:cNvGrpSpPr/>
          <p:nvPr/>
        </p:nvGrpSpPr>
        <p:grpSpPr>
          <a:xfrm>
            <a:off x="998647" y="1960131"/>
            <a:ext cx="1712825" cy="458242"/>
            <a:chOff x="5370731" y="1721511"/>
            <a:chExt cx="1712825" cy="528196"/>
          </a:xfrm>
        </p:grpSpPr>
        <p:sp>
          <p:nvSpPr>
            <p:cNvPr id="6" name="矩形 22"/>
            <p:cNvSpPr/>
            <p:nvPr/>
          </p:nvSpPr>
          <p:spPr>
            <a:xfrm>
              <a:off x="5370731" y="1721511"/>
              <a:ext cx="380616" cy="52819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23"/>
            <p:cNvSpPr/>
            <p:nvPr/>
          </p:nvSpPr>
          <p:spPr>
            <a:xfrm>
              <a:off x="5457495" y="1872795"/>
              <a:ext cx="587704"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p:cNvSpPr txBox="1"/>
            <p:nvPr/>
          </p:nvSpPr>
          <p:spPr>
            <a:xfrm>
              <a:off x="5489706" y="1767340"/>
              <a:ext cx="1593850" cy="424524"/>
            </a:xfrm>
            <a:prstGeom prst="rect">
              <a:avLst/>
            </a:prstGeom>
            <a:solidFill>
              <a:schemeClr val="bg1"/>
            </a:solidFill>
          </p:spPr>
          <p:txBody>
            <a:bodyPr wrap="none" rtlCol="0">
              <a:spAutoFit/>
            </a:bodyPr>
            <a:lstStyle/>
            <a:p>
              <a:r>
                <a:rPr lang="en-US" altLang="zh-CN" dirty="0">
                  <a:latin typeface="+mn-ea"/>
                  <a:cs typeface="Arial" panose="020B0604020202020204" pitchFamily="34" charset="0"/>
                </a:rPr>
                <a:t>20</a:t>
              </a:r>
              <a:r>
                <a:rPr lang="zh-CN" altLang="en-US" dirty="0">
                  <a:latin typeface="+mn-ea"/>
                  <a:cs typeface="Arial" panose="020B0604020202020204" pitchFamily="34" charset="0"/>
                </a:rPr>
                <a:t>）结果输出</a:t>
              </a:r>
              <a:endParaRPr lang="zh-CN" altLang="en-US" dirty="0">
                <a:latin typeface="+mn-ea"/>
                <a:cs typeface="Arial" panose="020B0604020202020204" pitchFamily="34" charset="0"/>
              </a:endParaRPr>
            </a:p>
          </p:txBody>
        </p:sp>
      </p:grpSp>
      <p:pic>
        <p:nvPicPr>
          <p:cNvPr id="22" name="图片 21"/>
          <p:cNvPicPr>
            <a:picLocks noChangeAspect="1"/>
          </p:cNvPicPr>
          <p:nvPr>
            <p:custDataLst>
              <p:tags r:id="rId2"/>
            </p:custDataLst>
          </p:nvPr>
        </p:nvPicPr>
        <p:blipFill>
          <a:blip r:embed="rId3"/>
          <a:stretch>
            <a:fillRect/>
          </a:stretch>
        </p:blipFill>
        <p:spPr>
          <a:xfrm>
            <a:off x="1912620" y="2773680"/>
            <a:ext cx="4210050" cy="1874520"/>
          </a:xfrm>
          <a:prstGeom prst="rect">
            <a:avLst/>
          </a:prstGeom>
        </p:spPr>
      </p:pic>
      <p:pic>
        <p:nvPicPr>
          <p:cNvPr id="24" name="图片 23"/>
          <p:cNvPicPr>
            <a:picLocks noChangeAspect="1"/>
          </p:cNvPicPr>
          <p:nvPr>
            <p:custDataLst>
              <p:tags r:id="rId4"/>
            </p:custDataLst>
          </p:nvPr>
        </p:nvPicPr>
        <p:blipFill>
          <a:blip r:embed="rId5"/>
          <a:stretch>
            <a:fillRect/>
          </a:stretch>
        </p:blipFill>
        <p:spPr>
          <a:xfrm>
            <a:off x="7522210" y="2091690"/>
            <a:ext cx="2422525" cy="3543935"/>
          </a:xfrm>
          <a:prstGeom prst="rect">
            <a:avLst/>
          </a:prstGeom>
        </p:spPr>
      </p:pic>
      <p:sp>
        <p:nvSpPr>
          <p:cNvPr id="3" name="Rectangle: Rounded Corners 1"/>
          <p:cNvSpPr/>
          <p:nvPr>
            <p:custDataLst>
              <p:tags r:id="rId6"/>
            </p:custDataLst>
          </p:nvPr>
        </p:nvSpPr>
        <p:spPr>
          <a:xfrm>
            <a:off x="430586" y="1293109"/>
            <a:ext cx="2231932" cy="495260"/>
          </a:xfrm>
          <a:prstGeom prst="roundRect">
            <a:avLst>
              <a:gd name="adj" fmla="val 50000"/>
            </a:avLst>
          </a:prstGeom>
          <a:solidFill>
            <a:schemeClr val="accent4"/>
          </a:solidFill>
          <a:ln w="12700" cap="flat">
            <a:noFill/>
            <a:miter lim="400000"/>
          </a:ln>
          <a:effectLst/>
        </p:spPr>
        <p:txBody>
          <a:bodyPr wrap="none" lIns="25400" tIns="25400" rIns="25400" bIns="25400" anchor="ctr">
            <a:noAutofit/>
          </a:bodyPr>
          <a:lstStyle/>
          <a:p>
            <a:pPr lvl="0" algn="ctr"/>
            <a:r>
              <a:rPr lang="zh-CN" altLang="en-US" b="0" i="0" dirty="0">
                <a:solidFill>
                  <a:srgbClr val="373D41"/>
                </a:solidFill>
                <a:effectLst/>
                <a:latin typeface="PingFangSC-Regular"/>
              </a:rPr>
              <a:t>二手车交易价格预测</a:t>
            </a:r>
            <a:endParaRPr lang="zh-CN" altLang="en-US" dirty="0"/>
          </a:p>
        </p:txBody>
      </p:sp>
    </p:spTree>
  </p:cSld>
  <p:clrMapOvr>
    <a:masterClrMapping/>
  </p:clrMapOvr>
  <p:transition spd="slow" advTm="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91050" y="3105150"/>
            <a:ext cx="7586663" cy="379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3" name="图片 23"/>
          <p:cNvPicPr>
            <a:picLocks noChangeAspect="1" noChangeArrowheads="1"/>
          </p:cNvPicPr>
          <p:nvPr/>
        </p:nvPicPr>
        <p:blipFill>
          <a:blip r:embed="rId2">
            <a:extLst>
              <a:ext uri="{28A0092B-C50C-407E-A947-70E740481C1C}">
                <a14:useLocalDpi xmlns:a14="http://schemas.microsoft.com/office/drawing/2010/main" val="0"/>
              </a:ext>
            </a:extLst>
          </a:blip>
          <a:srcRect t="12720"/>
          <a:stretch>
            <a:fillRect/>
          </a:stretch>
        </p:blipFill>
        <p:spPr bwMode="auto">
          <a:xfrm>
            <a:off x="4591050" y="0"/>
            <a:ext cx="7551738"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椭圆 25"/>
          <p:cNvSpPr/>
          <p:nvPr/>
        </p:nvSpPr>
        <p:spPr>
          <a:xfrm>
            <a:off x="11884025" y="5637213"/>
            <a:ext cx="15240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27" name="椭圆 26"/>
          <p:cNvSpPr/>
          <p:nvPr/>
        </p:nvSpPr>
        <p:spPr>
          <a:xfrm>
            <a:off x="11884025" y="5927725"/>
            <a:ext cx="15240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28" name="椭圆 27"/>
          <p:cNvSpPr/>
          <p:nvPr/>
        </p:nvSpPr>
        <p:spPr>
          <a:xfrm>
            <a:off x="11884025" y="6216650"/>
            <a:ext cx="15240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29" name="文本框 28"/>
          <p:cNvSpPr txBox="1"/>
          <p:nvPr/>
        </p:nvSpPr>
        <p:spPr>
          <a:xfrm>
            <a:off x="4340225" y="2509838"/>
            <a:ext cx="7851775" cy="923925"/>
          </a:xfrm>
          <a:prstGeom prst="rect">
            <a:avLst/>
          </a:prstGeom>
          <a:solidFill>
            <a:schemeClr val="tx2">
              <a:lumMod val="75000"/>
            </a:schemeClr>
          </a:solidFill>
        </p:spPr>
        <p:txBody>
          <a:bodyPr>
            <a:spAutoFit/>
          </a:bodyPr>
          <a:lstStyle/>
          <a:p>
            <a:pPr eaLnBrk="1" fontAlgn="auto" hangingPunct="1">
              <a:spcBef>
                <a:spcPts val="0"/>
              </a:spcBef>
              <a:spcAft>
                <a:spcPts val="0"/>
              </a:spcAft>
              <a:defRPr/>
            </a:pPr>
            <a:endParaRPr lang="zh-CN" altLang="en-US" sz="5400" b="1" dirty="0">
              <a:solidFill>
                <a:schemeClr val="tx2">
                  <a:lumMod val="60000"/>
                  <a:lumOff val="40000"/>
                </a:schemeClr>
              </a:solidFill>
              <a:latin typeface="+mn-lt"/>
              <a:ea typeface="+mn-ea"/>
              <a:cs typeface="+mn-ea"/>
              <a:sym typeface="+mn-lt"/>
            </a:endParaRPr>
          </a:p>
        </p:txBody>
      </p:sp>
      <p:sp>
        <p:nvSpPr>
          <p:cNvPr id="31" name="文本框 30"/>
          <p:cNvSpPr txBox="1"/>
          <p:nvPr/>
        </p:nvSpPr>
        <p:spPr>
          <a:xfrm>
            <a:off x="4633913" y="1336675"/>
            <a:ext cx="9312275" cy="2093913"/>
          </a:xfrm>
          <a:prstGeom prst="rect">
            <a:avLst/>
          </a:prstGeom>
          <a:noFill/>
        </p:spPr>
        <p:txBody>
          <a:bodyPr>
            <a:spAutoFit/>
          </a:bodyPr>
          <a:lstStyle/>
          <a:p>
            <a:pPr eaLnBrk="1" fontAlgn="auto" hangingPunct="1">
              <a:spcBef>
                <a:spcPts val="0"/>
              </a:spcBef>
              <a:spcAft>
                <a:spcPts val="0"/>
              </a:spcAft>
              <a:defRPr/>
            </a:pPr>
            <a:r>
              <a:rPr lang="en-US" altLang="zh-CN" sz="13000" b="1" dirty="0">
                <a:solidFill>
                  <a:schemeClr val="bg1"/>
                </a:solidFill>
                <a:latin typeface="+mn-lt"/>
                <a:ea typeface="+mn-ea"/>
                <a:cs typeface="+mn-ea"/>
                <a:sym typeface="+mn-lt"/>
              </a:rPr>
              <a:t>THANKS</a:t>
            </a:r>
            <a:endParaRPr lang="zh-CN" altLang="en-US" sz="13000" b="1" dirty="0">
              <a:solidFill>
                <a:schemeClr val="bg1"/>
              </a:solidFill>
              <a:latin typeface="+mn-lt"/>
              <a:ea typeface="+mn-ea"/>
              <a:cs typeface="+mn-ea"/>
              <a:sym typeface="+mn-lt"/>
            </a:endParaRPr>
          </a:p>
        </p:txBody>
      </p:sp>
      <p:sp>
        <p:nvSpPr>
          <p:cNvPr id="56" name="矩形 55"/>
          <p:cNvSpPr/>
          <p:nvPr/>
        </p:nvSpPr>
        <p:spPr>
          <a:xfrm>
            <a:off x="8399463" y="3943350"/>
            <a:ext cx="3792537" cy="522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55" name="文本框 54"/>
          <p:cNvSpPr txBox="1"/>
          <p:nvPr/>
        </p:nvSpPr>
        <p:spPr>
          <a:xfrm>
            <a:off x="8634413" y="3940175"/>
            <a:ext cx="4095750" cy="521970"/>
          </a:xfrm>
          <a:prstGeom prst="rect">
            <a:avLst/>
          </a:prstGeom>
          <a:noFill/>
        </p:spPr>
        <p:txBody>
          <a:bodyPr>
            <a:spAutoFit/>
          </a:bodyPr>
          <a:lstStyle/>
          <a:p>
            <a:pPr eaLnBrk="1" fontAlgn="auto" hangingPunct="1">
              <a:spcBef>
                <a:spcPts val="0"/>
              </a:spcBef>
              <a:spcAft>
                <a:spcPts val="0"/>
              </a:spcAft>
              <a:defRPr/>
            </a:pPr>
            <a:r>
              <a:rPr lang="zh-CN" altLang="en-US" sz="2800" b="1" dirty="0">
                <a:latin typeface="+mn-lt"/>
                <a:ea typeface="+mn-ea"/>
                <a:cs typeface="+mn-ea"/>
                <a:sym typeface="+mn-lt"/>
              </a:rPr>
              <a:t>主讲人：胡鸿辉</a:t>
            </a:r>
            <a:endParaRPr lang="zh-CN" altLang="en-US" sz="2800" b="1" dirty="0">
              <a:latin typeface="+mn-lt"/>
              <a:ea typeface="+mn-ea"/>
              <a:cs typeface="+mn-ea"/>
              <a:sym typeface="+mn-lt"/>
            </a:endParaRPr>
          </a:p>
        </p:txBody>
      </p:sp>
      <p:sp>
        <p:nvSpPr>
          <p:cNvPr id="30" name="矩形 29"/>
          <p:cNvSpPr/>
          <p:nvPr/>
        </p:nvSpPr>
        <p:spPr>
          <a:xfrm>
            <a:off x="1250950" y="0"/>
            <a:ext cx="1619250" cy="6858000"/>
          </a:xfrm>
          <a:prstGeom prst="rect">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cs typeface="+mn-ea"/>
              <a:sym typeface="+mn-lt"/>
            </a:endParaRPr>
          </a:p>
        </p:txBody>
      </p:sp>
      <p:sp>
        <p:nvSpPr>
          <p:cNvPr id="32" name="文本框 31"/>
          <p:cNvSpPr txBox="1"/>
          <p:nvPr/>
        </p:nvSpPr>
        <p:spPr>
          <a:xfrm rot="10800000">
            <a:off x="1390968" y="14288"/>
            <a:ext cx="1198245" cy="6753225"/>
          </a:xfrm>
          <a:prstGeom prst="rect">
            <a:avLst/>
          </a:prstGeom>
          <a:noFill/>
        </p:spPr>
        <p:txBody>
          <a:bodyPr vert="vert">
            <a:spAutoFit/>
          </a:bodyPr>
          <a:lstStyle/>
          <a:p>
            <a:pPr eaLnBrk="1" fontAlgn="auto" hangingPunct="1">
              <a:spcBef>
                <a:spcPts val="0"/>
              </a:spcBef>
              <a:spcAft>
                <a:spcPts val="0"/>
              </a:spcAft>
              <a:defRPr/>
            </a:pPr>
            <a:r>
              <a:rPr lang="en-US" altLang="zh-CN" sz="6600" b="1" dirty="0">
                <a:solidFill>
                  <a:schemeClr val="bg1"/>
                </a:solidFill>
                <a:latin typeface="+mn-lt"/>
                <a:ea typeface="+mn-ea"/>
                <a:cs typeface="+mn-ea"/>
                <a:sym typeface="+mn-lt"/>
              </a:rPr>
              <a:t>Python</a:t>
            </a:r>
            <a:r>
              <a:rPr lang="zh-CN" altLang="en-US" sz="6600" b="1" dirty="0">
                <a:solidFill>
                  <a:schemeClr val="bg1"/>
                </a:solidFill>
                <a:latin typeface="+mn-lt"/>
                <a:ea typeface="+mn-ea"/>
                <a:cs typeface="+mn-ea"/>
                <a:sym typeface="+mn-lt"/>
              </a:rPr>
              <a:t>高级应用</a:t>
            </a:r>
            <a:endParaRPr lang="zh-CN" altLang="en-US" sz="6600" b="1" dirty="0">
              <a:solidFill>
                <a:schemeClr val="bg1"/>
              </a:solidFill>
              <a:latin typeface="+mn-lt"/>
              <a:ea typeface="+mn-ea"/>
              <a:cs typeface="+mn-ea"/>
              <a:sym typeface="+mn-lt"/>
            </a:endParaRPr>
          </a:p>
        </p:txBody>
      </p:sp>
    </p:spTree>
  </p:cSld>
  <p:clrMapOvr>
    <a:masterClrMapping/>
  </p:clrMapOvr>
  <p:transition spd="slow" advTm="5000"/>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1587.4992125984252,&quot;width&quot;:1632.5007874015748}"/>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为了演示发布的良好效果，请言简意赅的阐述您的观点。&#10;点击此处添加正文，文字是您思想的提炼，为了演示发布的良好效果，请言简意赅的阐述您的观点。"/>
  <p:tag name="KSO_WM_UNIT_NOCLEAR" val="1"/>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mixed20201947_81*f*1"/>
  <p:tag name="KSO_WM_TEMPLATE_CATEGORY" val="mixed"/>
  <p:tag name="KSO_WM_TEMPLATE_INDEX" val="20201947"/>
  <p:tag name="KSO_WM_UNIT_LAYERLEVEL" val="1"/>
  <p:tag name="KSO_WM_TAG_VERSION" val="1.0"/>
  <p:tag name="KSO_WM_BEAUTIFY_FLAG" val="#wm#"/>
  <p:tag name="KSO_WM_UNIT_TEXTBOXSTYLE_GUID" val="{53a16336-b094-4c75-a354-4df583a7a53b}"/>
  <p:tag name="KSO_WM_UNIT_TEXTBOXSTYLE_TEMPLATEID" val="3132653"/>
  <p:tag name="KSO_WM_UNIT_TEXTBOXSTYLE_TYPE" val="8"/>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PP_MARK_KEY" val="0f9e298b-b23b-4af2-94f1-bba97f6373f2"/>
  <p:tag name="COMMONDATA" val="eyJoZGlkIjoiZTBkNTNhZjQ5OGY1YWNhZjVhODQ5ZmUyYzliMTkyYjYifQ=="/>
  <p:tag name="RESOURCE_RECORD_KEY" val="{&quot;13&quot;:[472204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3kiaezi">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3277</Words>
  <Application>WPS 演示</Application>
  <PresentationFormat>Widescreen</PresentationFormat>
  <Paragraphs>431</Paragraphs>
  <Slides>43</Slides>
  <Notes>52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43</vt:i4>
      </vt:variant>
    </vt:vector>
  </HeadingPairs>
  <TitlesOfParts>
    <vt:vector size="58" baseType="lpstr">
      <vt:lpstr>Arial</vt:lpstr>
      <vt:lpstr>宋体</vt:lpstr>
      <vt:lpstr>Wingdings</vt:lpstr>
      <vt:lpstr>微软雅黑</vt:lpstr>
      <vt:lpstr>纤黑体</vt:lpstr>
      <vt:lpstr>黑体</vt:lpstr>
      <vt:lpstr>Calibri</vt:lpstr>
      <vt:lpstr>思源黑体 CN Light</vt:lpstr>
      <vt:lpstr>Times New Roman</vt:lpstr>
      <vt:lpstr>MicrosoftYaHei-Bold</vt:lpstr>
      <vt:lpstr>Segoe Print</vt:lpstr>
      <vt:lpstr>Arial Unicode MS</vt:lpstr>
      <vt:lpstr>PingFangSC-Regular</vt:lpstr>
      <vt:lpstr>-apple-system</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抽象图案</dc:title>
  <dc:creator>第一PPT</dc:creator>
  <cp:keywords>www.1ppt.com</cp:keywords>
  <dc:description>www.1ppt.com</dc:description>
  <cp:lastModifiedBy>笑？</cp:lastModifiedBy>
  <cp:revision>869</cp:revision>
  <dcterms:created xsi:type="dcterms:W3CDTF">2019-10-14T10:12:00Z</dcterms:created>
  <dcterms:modified xsi:type="dcterms:W3CDTF">2024-01-10T03:12:01Z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FDCFE81ED3BC41C39B1FDBACE3CCF836</vt:lpwstr>
  </property>
  <property fmtid="{D5CDD505-2E9C-101B-9397-08002B2CF9AE}" pid="3" name="KSOProductBuildVer">
    <vt:lpwstr>2052-12.1.0.16120</vt:lpwstr>
  </property>
</Properties>
</file>