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af0ce277f44689" /><Relationship Type="http://schemas.openxmlformats.org/officeDocument/2006/relationships/extended-properties" Target="/docProps/app.xml" Id="Rdde7f4091bf14394" /><Relationship Type="http://schemas.openxmlformats.org/officeDocument/2006/relationships/officeDocument" Target="/ppt/presentation.xml" Id="R97f294bdae8f44d6" /></Relationships>
</file>

<file path=ppt/presentation.xml><?xml version="1.0" encoding="utf-8"?>
<p:presentation xmlns:p="http://schemas.openxmlformats.org/presentationml/2006/main">
  <p:sldMasterIdLst>
    <p:sldMasterId xmlns:r="http://schemas.openxmlformats.org/officeDocument/2006/relationships" id="2147483648" r:id="Refea434e38344c4d"/>
  </p:sldMasterIdLst>
  <p:notesMasterIdLst>
    <p:notesMasterId xmlns:r="http://schemas.openxmlformats.org/officeDocument/2006/relationships" r:id="R80ac6973cc404359"/>
  </p:notesMasterIdLst>
  <p:sldIdLst>
    <p:sldId xmlns:r="http://schemas.openxmlformats.org/officeDocument/2006/relationships" id="256" r:id="Rce6d69cd5afd4db0"/>
    <p:sldId xmlns:r="http://schemas.openxmlformats.org/officeDocument/2006/relationships" id="257" r:id="Ra66b8eb6833143f5"/>
    <p:sldId xmlns:r="http://schemas.openxmlformats.org/officeDocument/2006/relationships" id="258" r:id="Rd8ac9d2753f44fa7"/>
    <p:sldId xmlns:r="http://schemas.openxmlformats.org/officeDocument/2006/relationships" id="259" r:id="R4ab5a09d0efd4544"/>
    <p:sldId xmlns:r="http://schemas.openxmlformats.org/officeDocument/2006/relationships" id="260" r:id="R55ed44b9b4994e7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c7385b028f46c5" /><Relationship Type="http://schemas.openxmlformats.org/officeDocument/2006/relationships/slideMaster" Target="/ppt/slideMasters/slideMaster1.xml" Id="Refea434e38344c4d" /><Relationship Type="http://schemas.openxmlformats.org/officeDocument/2006/relationships/notesMaster" Target="/ppt/notesMasters/notesMaster1.xml" Id="R80ac6973cc404359" /><Relationship Type="http://schemas.openxmlformats.org/officeDocument/2006/relationships/presProps" Target="/ppt/presProps.xml" Id="Rf656aafd71a84c15" /><Relationship Type="http://schemas.openxmlformats.org/officeDocument/2006/relationships/tableStyles" Target="/ppt/tableStyles.xml" Id="Rfa7db426f0574cc9" /><Relationship Type="http://schemas.openxmlformats.org/officeDocument/2006/relationships/slide" Target="/ppt/slides/slide1.xml" Id="Rce6d69cd5afd4db0" /><Relationship Type="http://schemas.openxmlformats.org/officeDocument/2006/relationships/slide" Target="/ppt/slides/slide2.xml" Id="Ra66b8eb6833143f5" /><Relationship Type="http://schemas.openxmlformats.org/officeDocument/2006/relationships/slide" Target="/ppt/slides/slide3.xml" Id="Rd8ac9d2753f44fa7" /><Relationship Type="http://schemas.openxmlformats.org/officeDocument/2006/relationships/slide" Target="/ppt/slides/slide4.xml" Id="R4ab5a09d0efd4544" /><Relationship Type="http://schemas.openxmlformats.org/officeDocument/2006/relationships/slide" Target="/ppt/slides/slide5.xml" Id="R55ed44b9b4994e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e08699d01343b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8d3ce32244411d" /><Relationship Type="http://schemas.openxmlformats.org/officeDocument/2006/relationships/notesMaster" Target="/ppt/notesMasters/notesMaster1.xml" Id="R7e40cb96157e4904"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d89a8608714f81" /><Relationship Type="http://schemas.openxmlformats.org/officeDocument/2006/relationships/notesMaster" Target="/ppt/notesMasters/notesMaster1.xml" Id="Rb2fae119732b48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1a3aac36724f28" /><Relationship Type="http://schemas.openxmlformats.org/officeDocument/2006/relationships/notesMaster" Target="/ppt/notesMasters/notesMaster1.xml" Id="R38c560f228524d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625a623e8b254062" /><Relationship Type="http://schemas.openxmlformats.org/officeDocument/2006/relationships/notesMaster" Target="/ppt/notesMasters/notesMaster1.xml" Id="Re57ac95066aa4f6e" /></Relationships>
</file>

<file path=ppt/notesSlides/_rels/notesSlide5.xml.rels>&#65279;<?xml version="1.0" encoding="utf-8"?><Relationships xmlns="http://schemas.openxmlformats.org/package/2006/relationships"><Relationship Type="http://schemas.openxmlformats.org/officeDocument/2006/relationships/slide" Target="/ppt/slides/slide5.xml" Id="Ra835d72e4a1543c3" /><Relationship Type="http://schemas.openxmlformats.org/officeDocument/2006/relationships/notesMaster" Target="/ppt/notesMasters/notesMaster1.xml" Id="Ra702cc82a4fa48e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dd3065452c540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a658780185423d" /><Relationship Type="http://schemas.openxmlformats.org/officeDocument/2006/relationships/slideLayout" Target="/ppt/slideLayouts/slideLayout1.xml" Id="Ra3b5ad57a8bf4f7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3b5ad57a8bf4f7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faa64f156ab43c6" /><Relationship Type="http://schemas.openxmlformats.org/officeDocument/2006/relationships/notesSlide" Target="/ppt/notesSlides/notesSlide1.xml" Id="R2874fd30a6a34d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fcc85174810440a" /><Relationship Type="http://schemas.openxmlformats.org/officeDocument/2006/relationships/chart" Target="/ppt/slides/charts/chart1.xml" Id="R50a5c87be781450a" /><Relationship Type="http://schemas.openxmlformats.org/officeDocument/2006/relationships/notesSlide" Target="/ppt/notesSlides/notesSlide2.xml" Id="Rf309992f490045b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2f2891a97b4a3c" /><Relationship Type="http://schemas.openxmlformats.org/officeDocument/2006/relationships/image" Target="/ppt/media/image.jpeg" Id="R3b2836d43ce94144" /><Relationship Type="http://schemas.openxmlformats.org/officeDocument/2006/relationships/notesSlide" Target="/ppt/notesSlides/notesSlide3.xml" Id="Re4a1c9555f3b41d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bfefa4b47274b7c" /><Relationship Type="http://schemas.openxmlformats.org/officeDocument/2006/relationships/notesSlide" Target="/ppt/notesSlides/notesSlide4.xml" Id="R12ff407c721c49a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a351c704754598" /><Relationship Type="http://schemas.openxmlformats.org/officeDocument/2006/relationships/notesSlide" Target="/ppt/notesSlides/notesSlide5.xml" Id="Rfcc0f7de75ff4bd0" /></Relationships>
</file>

<file path=ppt/slides/charts/chart1.xml><?xml version="1.0" encoding="utf-8"?>
<c:chartSpace xmlns:c="http://schemas.openxmlformats.org/drawingml/2006/chart">
  <c:lang val="en-US"/>
  <c:roundedCorners val="0"/>
  <c:chart>
    <c:plotArea>
      <c:layout/>
      <c:barChart>
        <c:barDir val="bar"/>
        <c:grouping val="clustered"/>
        <c:varyColors val="0"/>
        <c:ser>
          <c:idx val="0"/>
          <c:order val="0"/>
          <c:tx>
            <c:v>城市日样本</c:v>
          </c:tx>
          <c:spPr>
            <a:solidFill xmlns:a="http://schemas.openxmlformats.org/drawingml/2006/main">
              <a:srgbClr val="0F8F68"/>
            </a:solidFill>
          </c:spPr>
          <c:dLbls>
            <c:showLegendKey val="0"/>
            <c:showVal val="0"/>
            <c:showCatName val="0"/>
            <c:showSerName val="0"/>
            <c:showPercent val="0"/>
            <c:showBubbleSize val="0"/>
            <c:showLeaderLines val="0"/>
          </c:dLbls>
          <c:cat>
            <c:strLit>
              <c:ptCount val="6"/>
              <c:pt idx="0">
                <c:v>优</c:v>
              </c:pt>
              <c:pt idx="1">
                <c:v>良</c:v>
              </c:pt>
              <c:pt idx="2">
                <c:v>轻度污染</c:v>
              </c:pt>
              <c:pt idx="3">
                <c:v>中度污染</c:v>
              </c:pt>
              <c:pt idx="4">
                <c:v>重度污染</c:v>
              </c:pt>
              <c:pt idx="5">
                <c:v>严重污染</c:v>
              </c:pt>
            </c:strLit>
          </c:cat>
          <c:val>
            <c:numLit>
              <c:formatCode>General</c:formatCode>
              <c:ptCount val="6"/>
              <c:pt idx="0">
                <c:v>1168</c:v>
              </c:pt>
              <c:pt idx="1">
                <c:v>1045</c:v>
              </c:pt>
              <c:pt idx="2">
                <c:v>93</c:v>
              </c:pt>
              <c:pt idx="3">
                <c:v>21</c:v>
              </c:pt>
              <c:pt idx="4">
                <c:v>11</c:v>
              </c:pt>
              <c:pt idx="5">
                <c:v>0</c:v>
              </c:pt>
            </c:numLit>
          </c:val>
        </c:ser>
        <c:dLbls>
          <c:txPr>
            <a:bodyPr xmlns:a="http://schemas.openxmlformats.org/drawingml/2006/main" anchorCtr="1"/>
            <a:lstStyle xmlns:a="http://schemas.openxmlformats.org/drawingml/2006/main"/>
            <a:p xmlns:a="http://schemas.openxmlformats.org/drawingml/2006/main">
              <a:pPr>
                <a:defRPr sz="900" b="1">
                  <a:solidFill>
                    <a:srgbClr val="18352D"/>
                  </a:solidFill>
                </a:defRPr>
              </a:pPr>
            </a:p>
          </c:txPr>
          <c:dLblPos val="out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rosses val="autoZero"/>
        <c:lblAlgn val="ctr"/>
        <c:lblOffset val="100"/>
        <c:noMultiLvlLbl val="0"/>
      </c:catAx>
      <c:valAx>
        <c:axId val="48672768"/>
        <c:scaling>
          <c:orientation val="minMax"/>
        </c:scaling>
        <c:delete val="0"/>
        <c:axPos val="b"/>
        <c:numFmt formatCode="General"/>
        <c:majorTickMark val="none"/>
        <c:minorTickMark val="none"/>
        <c:spPr>
          <a:ln xmlns:a="http://schemas.openxmlformats.org/drawingml/2006/main" w="9525">
            <a:solidFill>
              <a:srgbClr val="BBD7C9"/>
            </a:solidFill>
            <a:prstDash val="solid"/>
          </a:ln>
        </c:spPr>
        <c:txPr>
          <a:bodyPr xmlns:a="http://schemas.openxmlformats.org/drawingml/2006/main" anchorCtr="1"/>
          <a:lstStyle xmlns:a="http://schemas.openxmlformats.org/drawingml/2006/main"/>
          <a:p xmlns:a="http://schemas.openxmlformats.org/drawingml/2006/main">
            <a:pPr>
              <a:defRPr sz="900">
                <a:solidFill>
                  <a:srgbClr val="5C756C"/>
                </a:solidFill>
              </a:defRPr>
            </a:pPr>
          </a:p>
        </c:txPr>
        <c:crossAx val="48650112"/>
        <c:crosses val="autoZero"/>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4FB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51011A9-88FD-43E5-BA08-5E07DED04B8E}"/>
              </a:ext>
            </a:extLst>
          </p:cNvPr>
          <p:cNvSpPr>
            <a:spLocks xmlns:a="http://schemas.openxmlformats.org/drawingml/2006/main" noGrp="1"/>
          </p:cNvSpPr>
          <p:nvPr/>
        </p:nvSpPr>
        <p:spPr>
          <a:xfrm xmlns:a="http://schemas.openxmlformats.org/drawingml/2006/main">
            <a:off x="-666750" y="-857250"/>
            <a:ext cx="2571750" cy="2571750"/>
          </a:xfrm>
          <a:prstGeom xmlns:a="http://schemas.openxmlformats.org/drawingml/2006/main" prst="ellipse">
            <a:avLst/>
          </a:prstGeom>
          <a:solidFill xmlns:a="http://schemas.openxmlformats.org/drawingml/2006/main">
            <a:srgbClr val="CDE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140D145-E672-4FF9-8616-394689A116AF}"/>
              </a:ext>
            </a:extLst>
          </p:cNvPr>
          <p:cNvSpPr>
            <a:spLocks xmlns:a="http://schemas.openxmlformats.org/drawingml/2006/main" noGrp="1"/>
          </p:cNvSpPr>
          <p:nvPr/>
        </p:nvSpPr>
        <p:spPr>
          <a:xfrm xmlns:a="http://schemas.openxmlformats.org/drawingml/2006/main">
            <a:off x="9810750" y="-762000"/>
            <a:ext cx="2857500" cy="2857500"/>
          </a:xfrm>
          <a:prstGeom xmlns:a="http://schemas.openxmlformats.org/drawingml/2006/main" prst="ellipse">
            <a:avLst/>
          </a:prstGeom>
          <a:solidFill xmlns:a="http://schemas.openxmlformats.org/drawingml/2006/main">
            <a:srgbClr val="F6E7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EF19B4D-4CCD-4EE7-A69A-FFFFB8A3D930}"/>
              </a:ext>
            </a:extLst>
          </p:cNvPr>
          <p:cNvSpPr>
            <a:spLocks xmlns:a="http://schemas.openxmlformats.org/drawingml/2006/main" noGrp="1"/>
          </p:cNvSpPr>
          <p:nvPr/>
        </p:nvSpPr>
        <p:spPr>
          <a:xfrm xmlns:a="http://schemas.openxmlformats.org/drawingml/2006/main">
            <a:off x="781050" y="8191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0F8F68"/>
                </a:solidFill>
                <a:latin typeface="Aptos Display"/>
                <a:ea typeface="Aptos Display"/>
                <a:cs typeface="Aptos Display"/>
              </a:defRPr>
            </a:pPr>
            <a:r>
              <a:rPr sz="1050" b="1">
                <a:solidFill>
                  <a:srgbClr val="0F8F68"/>
                </a:solidFill>
                <a:latin typeface="Aptos Display"/>
                <a:ea typeface="Aptos Display"/>
                <a:cs typeface="Aptos Display"/>
              </a:rPr>
              <a:t>PROJECT 1 / ENVIRONMENT &amp; HUMAN DEVELOPMENT</a:t>
            </a:r>
          </a:p>
        </p:txBody>
      </p:sp>
      <p:sp>
        <p:nvSpPr>
          <p:cNvPr id="4" name="">
            <a:extLst xmlns:a="http://schemas.openxmlformats.org/drawingml/2006/main">
              <a:ext uri="{FF2B5EF4-FFF2-40B4-BE49-F238E27FC236}">
                <a16:creationId xmlns:a16="http://schemas.microsoft.com/office/drawing/2014/main" id="{68C4CE4B-DD29-4B42-9E53-0F8E2230D72C}"/>
              </a:ext>
            </a:extLst>
          </p:cNvPr>
          <p:cNvSpPr>
            <a:spLocks xmlns:a="http://schemas.openxmlformats.org/drawingml/2006/main" noGrp="1"/>
          </p:cNvSpPr>
          <p:nvPr/>
        </p:nvSpPr>
        <p:spPr>
          <a:xfrm xmlns:a="http://schemas.openxmlformats.org/drawingml/2006/main">
            <a:off x="742950" y="1295400"/>
            <a:ext cx="666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0F513F"/>
                </a:solidFill>
                <a:latin typeface="Aptos Display"/>
                <a:ea typeface="Aptos Display"/>
                <a:cs typeface="Aptos Display"/>
              </a:defRPr>
            </a:pPr>
            <a:r>
              <a:rPr sz="3150" b="1">
                <a:solidFill>
                  <a:srgbClr val="0F513F"/>
                </a:solidFill>
                <a:latin typeface="Aptos Display"/>
                <a:ea typeface="Aptos Display"/>
                <a:cs typeface="Aptos Display"/>
              </a:rPr>
              <a:t>全国空气质量可视化分析大屏</a:t>
            </a:r>
          </a:p>
        </p:txBody>
      </p:sp>
      <p:sp>
        <p:nvSpPr>
          <p:cNvPr id="5" name="">
            <a:extLst xmlns:a="http://schemas.openxmlformats.org/drawingml/2006/main">
              <a:ext uri="{FF2B5EF4-FFF2-40B4-BE49-F238E27FC236}">
                <a16:creationId xmlns:a16="http://schemas.microsoft.com/office/drawing/2014/main" id="{5D53394E-FE63-4D6A-A265-2D607D3F1309}"/>
              </a:ext>
            </a:extLst>
          </p:cNvPr>
          <p:cNvSpPr>
            <a:spLocks xmlns:a="http://schemas.openxmlformats.org/drawingml/2006/main" noGrp="1"/>
          </p:cNvSpPr>
          <p:nvPr/>
        </p:nvSpPr>
        <p:spPr>
          <a:xfrm xmlns:a="http://schemas.openxmlformats.org/drawingml/2006/main">
            <a:off x="781050" y="2362200"/>
            <a:ext cx="666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5C756C"/>
                </a:solidFill>
                <a:latin typeface="Aptos"/>
                <a:ea typeface="Aptos"/>
                <a:cs typeface="Aptos"/>
              </a:defRPr>
            </a:pPr>
            <a:r>
              <a:rPr sz="1650" b="0">
                <a:solidFill>
                  <a:srgbClr val="5C756C"/>
                </a:solidFill>
                <a:latin typeface="Aptos"/>
                <a:ea typeface="Aptos"/>
                <a:cs typeface="Aptos"/>
              </a:rPr>
              <a:t>数据周期：2026-04-01 至 2026-04-07    城市样本：334</a:t>
            </a:r>
          </a:p>
        </p:txBody>
      </p:sp>
      <p:sp>
        <p:nvSpPr>
          <p:cNvPr id="6" name="">
            <a:extLst xmlns:a="http://schemas.openxmlformats.org/drawingml/2006/main">
              <a:ext uri="{FF2B5EF4-FFF2-40B4-BE49-F238E27FC236}">
                <a16:creationId xmlns:a16="http://schemas.microsoft.com/office/drawing/2014/main" id="{22EA9DF2-8931-48AC-81B0-3641856FC1F4}"/>
              </a:ext>
            </a:extLst>
          </p:cNvPr>
          <p:cNvSpPr>
            <a:spLocks xmlns:a="http://schemas.openxmlformats.org/drawingml/2006/main" noGrp="1"/>
          </p:cNvSpPr>
          <p:nvPr/>
        </p:nvSpPr>
        <p:spPr>
          <a:xfrm xmlns:a="http://schemas.openxmlformats.org/drawingml/2006/main">
            <a:off x="781050" y="3105150"/>
            <a:ext cx="6191250" cy="2266950"/>
          </a:xfrm>
          <a:prstGeom xmlns:a="http://schemas.openxmlformats.org/drawingml/2006/main" prst="roundRect">
            <a:avLst>
              <a:gd name="adj" fmla="val 5042"/>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5ECCC708-A016-4CDF-BF2D-09F30EC07C04}"/>
              </a:ext>
            </a:extLst>
          </p:cNvPr>
          <p:cNvSpPr>
            <a:spLocks xmlns:a="http://schemas.openxmlformats.org/drawingml/2006/main" noGrp="1"/>
          </p:cNvSpPr>
          <p:nvPr/>
        </p:nvSpPr>
        <p:spPr>
          <a:xfrm xmlns:a="http://schemas.openxmlformats.org/drawingml/2006/main">
            <a:off x="1066800" y="3352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F513F"/>
                </a:solidFill>
                <a:latin typeface="Aptos"/>
                <a:ea typeface="Aptos"/>
                <a:cs typeface="Aptos"/>
              </a:defRPr>
            </a:pPr>
            <a:r>
              <a:rPr sz="1575" b="1">
                <a:solidFill>
                  <a:srgbClr val="0F513F"/>
                </a:solidFill>
                <a:latin typeface="Aptos"/>
                <a:ea typeface="Aptos"/>
                <a:cs typeface="Aptos"/>
              </a:rPr>
              <a:t>第5组（6人）分工</a:t>
            </a:r>
          </a:p>
        </p:txBody>
      </p:sp>
      <p:sp>
        <p:nvSpPr>
          <p:cNvPr id="8" name="">
            <a:extLst xmlns:a="http://schemas.openxmlformats.org/drawingml/2006/main">
              <a:ext uri="{FF2B5EF4-FFF2-40B4-BE49-F238E27FC236}">
                <a16:creationId xmlns:a16="http://schemas.microsoft.com/office/drawing/2014/main" id="{F487161F-351C-421F-8B08-B93E6E8480D7}"/>
              </a:ext>
            </a:extLst>
          </p:cNvPr>
          <p:cNvSpPr>
            <a:spLocks xmlns:a="http://schemas.openxmlformats.org/drawingml/2006/main" noGrp="1"/>
          </p:cNvSpPr>
          <p:nvPr/>
        </p:nvSpPr>
        <p:spPr>
          <a:xfrm xmlns:a="http://schemas.openxmlformats.org/drawingml/2006/main">
            <a:off x="1066800" y="373380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18352D"/>
                </a:solidFill>
                <a:latin typeface="Aptos"/>
                <a:ea typeface="Aptos"/>
                <a:cs typeface="Aptos"/>
              </a:defRPr>
            </a:pPr>
            <a:r>
              <a:rPr sz="1350" b="1">
                <a:solidFill>
                  <a:srgbClr val="18352D"/>
                </a:solidFill>
                <a:latin typeface="Aptos"/>
                <a:ea typeface="Aptos"/>
                <a:cs typeface="Aptos"/>
              </a:rPr>
              <a:t>主讲 / 核心开发：杨文天</a:t>
            </a:r>
          </a:p>
        </p:txBody>
      </p:sp>
      <p:sp>
        <p:nvSpPr>
          <p:cNvPr id="9" name="">
            <a:extLst xmlns:a="http://schemas.openxmlformats.org/drawingml/2006/main">
              <a:ext uri="{FF2B5EF4-FFF2-40B4-BE49-F238E27FC236}">
                <a16:creationId xmlns:a16="http://schemas.microsoft.com/office/drawing/2014/main" id="{AC374764-76AE-4B64-84EC-33778B63AB61}"/>
              </a:ext>
            </a:extLst>
          </p:cNvPr>
          <p:cNvSpPr>
            <a:spLocks xmlns:a="http://schemas.openxmlformats.org/drawingml/2006/main" noGrp="1"/>
          </p:cNvSpPr>
          <p:nvPr/>
        </p:nvSpPr>
        <p:spPr>
          <a:xfrm xmlns:a="http://schemas.openxmlformats.org/drawingml/2006/main">
            <a:off x="1066800" y="40386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5C756C"/>
                </a:solidFill>
                <a:latin typeface="Aptos"/>
                <a:ea typeface="Aptos"/>
                <a:cs typeface="Aptos"/>
              </a:defRPr>
            </a:pPr>
            <a:r>
              <a:rPr sz="1050" b="0">
                <a:solidFill>
                  <a:srgbClr val="5C756C"/>
                </a:solidFill>
                <a:latin typeface="Aptos"/>
                <a:ea typeface="Aptos"/>
                <a:cs typeface="Aptos"/>
              </a:rPr>
              <a:t>负责系统搭建、数据处理、前端大屏、PPT统筹与现场汇报。</a:t>
            </a:r>
          </a:p>
        </p:txBody>
      </p:sp>
      <p:sp>
        <p:nvSpPr>
          <p:cNvPr id="10" name="">
            <a:extLst xmlns:a="http://schemas.openxmlformats.org/drawingml/2006/main">
              <a:ext uri="{FF2B5EF4-FFF2-40B4-BE49-F238E27FC236}">
                <a16:creationId xmlns:a16="http://schemas.microsoft.com/office/drawing/2014/main" id="{3CBC404D-7726-4996-BF38-C32FA1ECB931}"/>
              </a:ext>
            </a:extLst>
          </p:cNvPr>
          <p:cNvSpPr>
            <a:spLocks xmlns:a="http://schemas.openxmlformats.org/drawingml/2006/main" noGrp="1"/>
          </p:cNvSpPr>
          <p:nvPr/>
        </p:nvSpPr>
        <p:spPr>
          <a:xfrm xmlns:a="http://schemas.openxmlformats.org/drawingml/2006/main">
            <a:off x="1104900" y="4486275"/>
            <a:ext cx="76200" cy="76200"/>
          </a:xfrm>
          <a:prstGeom xmlns:a="http://schemas.openxmlformats.org/drawingml/2006/main" prst="ellipse">
            <a:avLst/>
          </a:prstGeom>
          <a:solidFill xmlns:a="http://schemas.openxmlformats.org/drawingml/2006/main">
            <a:srgbClr val="0F8F6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07912F8-6408-4D8F-B45C-2F4F043DFE19}"/>
              </a:ext>
            </a:extLst>
          </p:cNvPr>
          <p:cNvSpPr>
            <a:spLocks xmlns:a="http://schemas.openxmlformats.org/drawingml/2006/main" noGrp="1"/>
          </p:cNvSpPr>
          <p:nvPr/>
        </p:nvSpPr>
        <p:spPr>
          <a:xfrm xmlns:a="http://schemas.openxmlformats.org/drawingml/2006/main">
            <a:off x="1295400" y="44196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8352D"/>
                </a:solidFill>
                <a:latin typeface="Aptos"/>
                <a:ea typeface="Aptos"/>
                <a:cs typeface="Aptos"/>
              </a:defRPr>
            </a:pPr>
            <a:r>
              <a:rPr sz="1125" b="0">
                <a:solidFill>
                  <a:srgbClr val="18352D"/>
                </a:solidFill>
                <a:latin typeface="Aptos"/>
                <a:ea typeface="Aptos"/>
                <a:cs typeface="Aptos"/>
              </a:rPr>
              <a:t>资料与来源说明：徐慧鹏、唐彬</a:t>
            </a:r>
          </a:p>
        </p:txBody>
      </p:sp>
      <p:sp>
        <p:nvSpPr>
          <p:cNvPr id="12" name="">
            <a:extLst xmlns:a="http://schemas.openxmlformats.org/drawingml/2006/main">
              <a:ext uri="{FF2B5EF4-FFF2-40B4-BE49-F238E27FC236}">
                <a16:creationId xmlns:a16="http://schemas.microsoft.com/office/drawing/2014/main" id="{190BEB1B-A9A0-46B2-840B-65D94EC2128C}"/>
              </a:ext>
            </a:extLst>
          </p:cNvPr>
          <p:cNvSpPr>
            <a:spLocks xmlns:a="http://schemas.openxmlformats.org/drawingml/2006/main" noGrp="1"/>
          </p:cNvSpPr>
          <p:nvPr/>
        </p:nvSpPr>
        <p:spPr>
          <a:xfrm xmlns:a="http://schemas.openxmlformats.org/drawingml/2006/main">
            <a:off x="1104900" y="4772025"/>
            <a:ext cx="76200" cy="76200"/>
          </a:xfrm>
          <a:prstGeom xmlns:a="http://schemas.openxmlformats.org/drawingml/2006/main" prst="ellipse">
            <a:avLst/>
          </a:prstGeom>
          <a:solidFill xmlns:a="http://schemas.openxmlformats.org/drawingml/2006/main">
            <a:srgbClr val="0F8F6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59F8A98-3BBC-4A26-8E2A-E136F1B5441A}"/>
              </a:ext>
            </a:extLst>
          </p:cNvPr>
          <p:cNvSpPr>
            <a:spLocks xmlns:a="http://schemas.openxmlformats.org/drawingml/2006/main" noGrp="1"/>
          </p:cNvSpPr>
          <p:nvPr/>
        </p:nvSpPr>
        <p:spPr>
          <a:xfrm xmlns:a="http://schemas.openxmlformats.org/drawingml/2006/main">
            <a:off x="1295400" y="47053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8352D"/>
                </a:solidFill>
                <a:latin typeface="Aptos"/>
                <a:ea typeface="Aptos"/>
                <a:cs typeface="Aptos"/>
              </a:defRPr>
            </a:pPr>
            <a:r>
              <a:rPr sz="1125" b="0">
                <a:solidFill>
                  <a:srgbClr val="18352D"/>
                </a:solidFill>
                <a:latin typeface="Aptos"/>
                <a:ea typeface="Aptos"/>
                <a:cs typeface="Aptos"/>
              </a:rPr>
              <a:t>截图与PPT素材整理：刘曦、余炳超</a:t>
            </a:r>
          </a:p>
        </p:txBody>
      </p:sp>
      <p:sp>
        <p:nvSpPr>
          <p:cNvPr id="14" name="">
            <a:extLst xmlns:a="http://schemas.openxmlformats.org/drawingml/2006/main">
              <a:ext uri="{FF2B5EF4-FFF2-40B4-BE49-F238E27FC236}">
                <a16:creationId xmlns:a16="http://schemas.microsoft.com/office/drawing/2014/main" id="{44B0FDF6-5159-4176-802B-4C459CE65580}"/>
              </a:ext>
            </a:extLst>
          </p:cNvPr>
          <p:cNvSpPr>
            <a:spLocks xmlns:a="http://schemas.openxmlformats.org/drawingml/2006/main" noGrp="1"/>
          </p:cNvSpPr>
          <p:nvPr/>
        </p:nvSpPr>
        <p:spPr>
          <a:xfrm xmlns:a="http://schemas.openxmlformats.org/drawingml/2006/main">
            <a:off x="1104900" y="5057775"/>
            <a:ext cx="76200" cy="76200"/>
          </a:xfrm>
          <a:prstGeom xmlns:a="http://schemas.openxmlformats.org/drawingml/2006/main" prst="ellipse">
            <a:avLst/>
          </a:prstGeom>
          <a:solidFill xmlns:a="http://schemas.openxmlformats.org/drawingml/2006/main">
            <a:srgbClr val="E39B3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9AC26B08-98BA-4AB1-8D73-73E3F1FAB1CA}"/>
              </a:ext>
            </a:extLst>
          </p:cNvPr>
          <p:cNvSpPr>
            <a:spLocks xmlns:a="http://schemas.openxmlformats.org/drawingml/2006/main" noGrp="1"/>
          </p:cNvSpPr>
          <p:nvPr/>
        </p:nvSpPr>
        <p:spPr>
          <a:xfrm xmlns:a="http://schemas.openxmlformats.org/drawingml/2006/main">
            <a:off x="1295400" y="49911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8352D"/>
                </a:solidFill>
                <a:latin typeface="Aptos"/>
                <a:ea typeface="Aptos"/>
                <a:cs typeface="Aptos"/>
              </a:defRPr>
            </a:pPr>
            <a:r>
              <a:rPr sz="1125" b="0">
                <a:solidFill>
                  <a:srgbClr val="18352D"/>
                </a:solidFill>
                <a:latin typeface="Aptos"/>
                <a:ea typeface="Aptos"/>
                <a:cs typeface="Aptos"/>
              </a:rPr>
              <a:t>测试记录与答辩问题汇总：刘汉江</a:t>
            </a:r>
          </a:p>
        </p:txBody>
      </p:sp>
      <p:sp>
        <p:nvSpPr>
          <p:cNvPr id="16" name="">
            <a:extLst xmlns:a="http://schemas.openxmlformats.org/drawingml/2006/main">
              <a:ext uri="{FF2B5EF4-FFF2-40B4-BE49-F238E27FC236}">
                <a16:creationId xmlns:a16="http://schemas.microsoft.com/office/drawing/2014/main" id="{278F4F50-07B1-4D72-A915-BB642AC148FD}"/>
              </a:ext>
            </a:extLst>
          </p:cNvPr>
          <p:cNvSpPr>
            <a:spLocks xmlns:a="http://schemas.openxmlformats.org/drawingml/2006/main" noGrp="1"/>
          </p:cNvSpPr>
          <p:nvPr/>
        </p:nvSpPr>
        <p:spPr>
          <a:xfrm xmlns:a="http://schemas.openxmlformats.org/drawingml/2006/main">
            <a:off x="7620000" y="990600"/>
            <a:ext cx="3619500" cy="4000500"/>
          </a:xfrm>
          <a:prstGeom xmlns:a="http://schemas.openxmlformats.org/drawingml/2006/main" prst="roundRect">
            <a:avLst>
              <a:gd name="adj" fmla="val 3158"/>
            </a:avLst>
          </a:prstGeom>
          <a:solidFill xmlns:a="http://schemas.openxmlformats.org/drawingml/2006/main">
            <a:srgbClr val="E7F5E8"/>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0157512E-410A-47C6-A15D-F594B9FCB928}"/>
              </a:ext>
            </a:extLst>
          </p:cNvPr>
          <p:cNvSpPr>
            <a:spLocks xmlns:a="http://schemas.openxmlformats.org/drawingml/2006/main" noGrp="1"/>
          </p:cNvSpPr>
          <p:nvPr/>
        </p:nvSpPr>
        <p:spPr>
          <a:xfrm xmlns:a="http://schemas.openxmlformats.org/drawingml/2006/main">
            <a:off x="8382000" y="2000250"/>
            <a:ext cx="209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5400" b="1">
                <a:solidFill>
                  <a:srgbClr val="0F8F68"/>
                </a:solidFill>
                <a:latin typeface="Aptos Display"/>
                <a:ea typeface="Aptos Display"/>
                <a:cs typeface="Aptos Display"/>
              </a:defRPr>
            </a:pPr>
            <a:r>
              <a:rPr sz="5400" b="1">
                <a:solidFill>
                  <a:srgbClr val="0F8F68"/>
                </a:solidFill>
                <a:latin typeface="Aptos Display"/>
                <a:ea typeface="Aptos Display"/>
                <a:cs typeface="Aptos Display"/>
              </a:rPr>
              <a:t>55.7</a:t>
            </a:r>
          </a:p>
        </p:txBody>
      </p:sp>
      <p:sp>
        <p:nvSpPr>
          <p:cNvPr id="18" name="">
            <a:extLst xmlns:a="http://schemas.openxmlformats.org/drawingml/2006/main">
              <a:ext uri="{FF2B5EF4-FFF2-40B4-BE49-F238E27FC236}">
                <a16:creationId xmlns:a16="http://schemas.microsoft.com/office/drawing/2014/main" id="{AA7C1C27-3C2F-4634-8F85-6666ED3EB327}"/>
              </a:ext>
            </a:extLst>
          </p:cNvPr>
          <p:cNvSpPr>
            <a:spLocks xmlns:a="http://schemas.openxmlformats.org/drawingml/2006/main" noGrp="1"/>
          </p:cNvSpPr>
          <p:nvPr/>
        </p:nvSpPr>
        <p:spPr>
          <a:xfrm xmlns:a="http://schemas.openxmlformats.org/drawingml/2006/main">
            <a:off x="8286750" y="2952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F513F"/>
                </a:solidFill>
                <a:latin typeface="Aptos"/>
                <a:ea typeface="Aptos"/>
                <a:cs typeface="Aptos"/>
              </a:defRPr>
            </a:pPr>
            <a:r>
              <a:rPr sz="1800" b="1">
                <a:solidFill>
                  <a:srgbClr val="0F513F"/>
                </a:solidFill>
                <a:latin typeface="Aptos"/>
                <a:ea typeface="Aptos"/>
                <a:cs typeface="Aptos"/>
              </a:rPr>
              <a:t>全国平均 AQI</a:t>
            </a:r>
          </a:p>
        </p:txBody>
      </p:sp>
      <p:sp>
        <p:nvSpPr>
          <p:cNvPr id="19" name="">
            <a:extLst xmlns:a="http://schemas.openxmlformats.org/drawingml/2006/main">
              <a:ext uri="{FF2B5EF4-FFF2-40B4-BE49-F238E27FC236}">
                <a16:creationId xmlns:a16="http://schemas.microsoft.com/office/drawing/2014/main" id="{0B1541B2-1B70-4BFD-9CCC-881A59D57316}"/>
              </a:ext>
            </a:extLst>
          </p:cNvPr>
          <p:cNvSpPr>
            <a:spLocks xmlns:a="http://schemas.openxmlformats.org/drawingml/2006/main" noGrp="1"/>
          </p:cNvSpPr>
          <p:nvPr/>
        </p:nvSpPr>
        <p:spPr>
          <a:xfrm xmlns:a="http://schemas.openxmlformats.org/drawingml/2006/main">
            <a:off x="8286750" y="337185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0">
                <a:solidFill>
                  <a:srgbClr val="5C756C"/>
                </a:solidFill>
                <a:latin typeface="Aptos"/>
                <a:ea typeface="Aptos"/>
                <a:cs typeface="Aptos"/>
              </a:defRPr>
            </a:pPr>
            <a:r>
              <a:rPr sz="1350" b="0">
                <a:solidFill>
                  <a:srgbClr val="5C756C"/>
                </a:solidFill>
                <a:latin typeface="Aptos"/>
                <a:ea typeface="Aptos"/>
                <a:cs typeface="Aptos"/>
              </a:rPr>
              <a:t>主污染物：O3</a:t>
            </a:r>
          </a:p>
        </p:txBody>
      </p:sp>
      <p:sp>
        <p:nvSpPr>
          <p:cNvPr id="20" name="">
            <a:extLst xmlns:a="http://schemas.openxmlformats.org/drawingml/2006/main">
              <a:ext uri="{FF2B5EF4-FFF2-40B4-BE49-F238E27FC236}">
                <a16:creationId xmlns:a16="http://schemas.microsoft.com/office/drawing/2014/main" id="{5AADD5F6-2057-48E6-8B21-5A9ABB505FF8}"/>
              </a:ext>
            </a:extLst>
          </p:cNvPr>
          <p:cNvSpPr>
            <a:spLocks xmlns:a="http://schemas.openxmlformats.org/drawingml/2006/main" noGrp="1"/>
          </p:cNvSpPr>
          <p:nvPr/>
        </p:nvSpPr>
        <p:spPr>
          <a:xfrm xmlns:a="http://schemas.openxmlformats.org/drawingml/2006/main">
            <a:off x="609600" y="64960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C756C"/>
                </a:solidFill>
                <a:latin typeface="Aptos"/>
                <a:ea typeface="Aptos"/>
                <a:cs typeface="Aptos"/>
              </a:defRPr>
            </a:pPr>
            <a:r>
              <a:rPr sz="825" b="0">
                <a:solidFill>
                  <a:srgbClr val="5C756C"/>
                </a:solidFill>
                <a:latin typeface="Aptos"/>
                <a:ea typeface="Aptos"/>
                <a:cs typeface="Aptos"/>
              </a:rPr>
              <a:t>主讲人为杨文天；其他成员承担资料、截图、测试记录等辅助任务，便于答辩说明。</a:t>
            </a:r>
          </a:p>
        </p:txBody>
      </p:sp>
      <p:sp>
        <p:nvSpPr>
          <p:cNvPr id="21" name="">
            <a:extLst xmlns:a="http://schemas.openxmlformats.org/drawingml/2006/main">
              <a:ext uri="{FF2B5EF4-FFF2-40B4-BE49-F238E27FC236}">
                <a16:creationId xmlns:a16="http://schemas.microsoft.com/office/drawing/2014/main" id="{77739014-6B1C-4842-AD00-9155A2A7F44D}"/>
              </a:ext>
            </a:extLst>
          </p:cNvPr>
          <p:cNvSpPr>
            <a:spLocks xmlns:a="http://schemas.openxmlformats.org/drawingml/2006/main" noGrp="1"/>
          </p:cNvSpPr>
          <p:nvPr/>
        </p:nvSpPr>
        <p:spPr>
          <a:xfrm xmlns:a="http://schemas.openxmlformats.org/drawingml/2006/main">
            <a:off x="11125200" y="6419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0F8F68"/>
                </a:solidFill>
                <a:latin typeface="Aptos Display"/>
                <a:ea typeface="Aptos Display"/>
                <a:cs typeface="Aptos Display"/>
              </a:defRPr>
            </a:pPr>
            <a:r>
              <a:rPr sz="1350" b="1">
                <a:solidFill>
                  <a:srgbClr val="0F8F68"/>
                </a:solidFill>
                <a:latin typeface="Aptos Display"/>
                <a:ea typeface="Aptos Display"/>
                <a:cs typeface="Aptos Display"/>
              </a:rPr>
              <a:t>01</a:t>
            </a:r>
          </a:p>
        </p:txBody>
      </p:sp>
    </p:spTree>
    <p:extLst>
      <p:ext uri="{BB962C8B-B14F-4D97-AF65-F5344CB8AC3E}">
        <p14:creationId xmlns:p14="http://schemas.microsoft.com/office/powerpoint/2010/main" val="402220426"/>
      </p:ext>
    </p:extLst>
  </p:cSld>
</p:sld>
</file>

<file path=ppt/slides/slide2.xml><?xml version="1.0" encoding="utf-8"?>
<p:sld xmlns:p="http://schemas.openxmlformats.org/presentationml/2006/main">
  <p:cSld>
    <p:bg>
      <p:bgPr>
        <a:solidFill xmlns:a="http://schemas.openxmlformats.org/drawingml/2006/main">
          <a:srgbClr val="F4FB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924399-B909-4E66-A74B-621836C2E08B}"/>
              </a:ext>
            </a:extLst>
          </p:cNvPr>
          <p:cNvSpPr>
            <a:spLocks xmlns:a="http://schemas.openxmlformats.org/drawingml/2006/main" noGrp="1"/>
          </p:cNvSpPr>
          <p:nvPr/>
        </p:nvSpPr>
        <p:spPr>
          <a:xfrm xmlns:a="http://schemas.openxmlformats.org/drawingml/2006/main">
            <a:off x="-666750" y="-857250"/>
            <a:ext cx="2571750" cy="2571750"/>
          </a:xfrm>
          <a:prstGeom xmlns:a="http://schemas.openxmlformats.org/drawingml/2006/main" prst="ellipse">
            <a:avLst/>
          </a:prstGeom>
          <a:solidFill xmlns:a="http://schemas.openxmlformats.org/drawingml/2006/main">
            <a:srgbClr val="CDE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6C1F80B-0309-4FDA-9649-0CA3631FAD82}"/>
              </a:ext>
            </a:extLst>
          </p:cNvPr>
          <p:cNvSpPr>
            <a:spLocks xmlns:a="http://schemas.openxmlformats.org/drawingml/2006/main" noGrp="1"/>
          </p:cNvSpPr>
          <p:nvPr/>
        </p:nvSpPr>
        <p:spPr>
          <a:xfrm xmlns:a="http://schemas.openxmlformats.org/drawingml/2006/main">
            <a:off x="9810750" y="-762000"/>
            <a:ext cx="2857500" cy="2857500"/>
          </a:xfrm>
          <a:prstGeom xmlns:a="http://schemas.openxmlformats.org/drawingml/2006/main" prst="ellipse">
            <a:avLst/>
          </a:prstGeom>
          <a:solidFill xmlns:a="http://schemas.openxmlformats.org/drawingml/2006/main">
            <a:srgbClr val="F6E7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0A9BB0F-7772-4C09-B2A5-AAE7B9AEB70B}"/>
              </a:ext>
            </a:extLst>
          </p:cNvPr>
          <p:cNvSpPr>
            <a:spLocks xmlns:a="http://schemas.openxmlformats.org/drawingml/2006/main" noGrp="1"/>
          </p:cNvSpPr>
          <p:nvPr/>
        </p:nvSpPr>
        <p:spPr>
          <a:xfrm xmlns:a="http://schemas.openxmlformats.org/drawingml/2006/main">
            <a:off x="609600" y="4572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8F68"/>
                </a:solidFill>
                <a:latin typeface="Aptos Display"/>
                <a:ea typeface="Aptos Display"/>
                <a:cs typeface="Aptos Display"/>
              </a:defRPr>
            </a:pPr>
            <a:r>
              <a:rPr sz="975" b="1">
                <a:solidFill>
                  <a:srgbClr val="0F8F68"/>
                </a:solidFill>
                <a:latin typeface="Aptos Display"/>
                <a:ea typeface="Aptos Display"/>
                <a:cs typeface="Aptos Display"/>
              </a:rPr>
              <a:t>DATA SOURCE &amp; DESIGN</a:t>
            </a:r>
          </a:p>
        </p:txBody>
      </p:sp>
      <p:sp>
        <p:nvSpPr>
          <p:cNvPr id="4" name="">
            <a:extLst xmlns:a="http://schemas.openxmlformats.org/drawingml/2006/main">
              <a:ext uri="{FF2B5EF4-FFF2-40B4-BE49-F238E27FC236}">
                <a16:creationId xmlns:a16="http://schemas.microsoft.com/office/drawing/2014/main" id="{72A47E72-20C3-4189-B7C9-DD1988D550AD}"/>
              </a:ext>
            </a:extLst>
          </p:cNvPr>
          <p:cNvSpPr>
            <a:spLocks xmlns:a="http://schemas.openxmlformats.org/drawingml/2006/main" noGrp="1"/>
          </p:cNvSpPr>
          <p:nvPr/>
        </p:nvSpPr>
        <p:spPr>
          <a:xfrm xmlns:a="http://schemas.openxmlformats.org/drawingml/2006/main">
            <a:off x="609600" y="800100"/>
            <a:ext cx="838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F513F"/>
                </a:solidFill>
                <a:latin typeface="Aptos Display"/>
                <a:ea typeface="Aptos Display"/>
                <a:cs typeface="Aptos Display"/>
              </a:defRPr>
            </a:pPr>
            <a:r>
              <a:rPr sz="2850" b="1">
                <a:solidFill>
                  <a:srgbClr val="0F513F"/>
                </a:solidFill>
                <a:latin typeface="Aptos Display"/>
                <a:ea typeface="Aptos Display"/>
                <a:cs typeface="Aptos Display"/>
              </a:rPr>
              <a:t>数据来源、设计理念与现实意义</a:t>
            </a:r>
          </a:p>
        </p:txBody>
      </p:sp>
      <p:sp>
        <p:nvSpPr>
          <p:cNvPr id="5" name="">
            <a:extLst xmlns:a="http://schemas.openxmlformats.org/drawingml/2006/main">
              <a:ext uri="{FF2B5EF4-FFF2-40B4-BE49-F238E27FC236}">
                <a16:creationId xmlns:a16="http://schemas.microsoft.com/office/drawing/2014/main" id="{71032A91-ED77-4146-BF82-BBD86125A7AE}"/>
              </a:ext>
            </a:extLst>
          </p:cNvPr>
          <p:cNvSpPr>
            <a:spLocks xmlns:a="http://schemas.openxmlformats.org/drawingml/2006/main" noGrp="1"/>
          </p:cNvSpPr>
          <p:nvPr/>
        </p:nvSpPr>
        <p:spPr>
          <a:xfrm xmlns:a="http://schemas.openxmlformats.org/drawingml/2006/main">
            <a:off x="628650" y="13716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C756C"/>
                </a:solidFill>
                <a:latin typeface="Aptos"/>
                <a:ea typeface="Aptos"/>
                <a:cs typeface="Aptos"/>
              </a:defRPr>
            </a:pPr>
            <a:r>
              <a:rPr sz="1125" b="0">
                <a:solidFill>
                  <a:srgbClr val="5C756C"/>
                </a:solidFill>
                <a:latin typeface="Aptos"/>
                <a:ea typeface="Aptos"/>
                <a:cs typeface="Aptos"/>
              </a:rPr>
              <a:t>固定历史周期保证截图、结论和答辩复现；公开数据链路支撑可解释分析。</a:t>
            </a:r>
          </a:p>
        </p:txBody>
      </p:sp>
      <p:sp>
        <p:nvSpPr>
          <p:cNvPr id="6" name="">
            <a:extLst xmlns:a="http://schemas.openxmlformats.org/drawingml/2006/main">
              <a:ext uri="{FF2B5EF4-FFF2-40B4-BE49-F238E27FC236}">
                <a16:creationId xmlns:a16="http://schemas.microsoft.com/office/drawing/2014/main" id="{8FEA4FE3-DDCE-492E-8094-8E2CE7BB7D69}"/>
              </a:ext>
            </a:extLst>
          </p:cNvPr>
          <p:cNvSpPr>
            <a:spLocks xmlns:a="http://schemas.openxmlformats.org/drawingml/2006/main" noGrp="1"/>
          </p:cNvSpPr>
          <p:nvPr/>
        </p:nvSpPr>
        <p:spPr>
          <a:xfrm xmlns:a="http://schemas.openxmlformats.org/drawingml/2006/main">
            <a:off x="609600" y="200025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D889FE86-A974-4BD1-AEE4-C8A9E2B00B1C}"/>
              </a:ext>
            </a:extLst>
          </p:cNvPr>
          <p:cNvSpPr>
            <a:spLocks xmlns:a="http://schemas.openxmlformats.org/drawingml/2006/main" noGrp="1"/>
          </p:cNvSpPr>
          <p:nvPr/>
        </p:nvSpPr>
        <p:spPr>
          <a:xfrm xmlns:a="http://schemas.openxmlformats.org/drawingml/2006/main">
            <a:off x="838200" y="2228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513F"/>
                </a:solidFill>
                <a:latin typeface="Aptos"/>
                <a:ea typeface="Aptos"/>
                <a:cs typeface="Aptos"/>
              </a:defRPr>
            </a:pPr>
            <a:r>
              <a:rPr sz="1650" b="1">
                <a:solidFill>
                  <a:srgbClr val="0F513F"/>
                </a:solidFill>
                <a:latin typeface="Aptos"/>
                <a:ea typeface="Aptos"/>
                <a:cs typeface="Aptos"/>
              </a:rPr>
              <a:t>数据采集</a:t>
            </a:r>
          </a:p>
        </p:txBody>
      </p:sp>
      <p:sp>
        <p:nvSpPr>
          <p:cNvPr id="8" name="">
            <a:extLst xmlns:a="http://schemas.openxmlformats.org/drawingml/2006/main">
              <a:ext uri="{FF2B5EF4-FFF2-40B4-BE49-F238E27FC236}">
                <a16:creationId xmlns:a16="http://schemas.microsoft.com/office/drawing/2014/main" id="{E2981269-DDE0-4C70-84B9-544D3FA4B933}"/>
              </a:ext>
            </a:extLst>
          </p:cNvPr>
          <p:cNvSpPr>
            <a:spLocks xmlns:a="http://schemas.openxmlformats.org/drawingml/2006/main" noGrp="1"/>
          </p:cNvSpPr>
          <p:nvPr/>
        </p:nvSpPr>
        <p:spPr>
          <a:xfrm xmlns:a="http://schemas.openxmlformats.org/drawingml/2006/main">
            <a:off x="838200" y="260985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C756C"/>
                </a:solidFill>
                <a:latin typeface="Aptos"/>
                <a:ea typeface="Aptos"/>
                <a:cs typeface="Aptos"/>
              </a:defRPr>
            </a:pPr>
            <a:r>
              <a:rPr sz="1275" b="0">
                <a:solidFill>
                  <a:srgbClr val="5C756C"/>
                </a:solidFill>
                <a:latin typeface="Aptos"/>
                <a:ea typeface="Aptos"/>
                <a:cs typeface="Aptos"/>
              </a:rPr>
              <a:t>requests 下载每日全国城市 CSV，pandas 解析 AQI 与 6 类污染物。</a:t>
            </a:r>
          </a:p>
        </p:txBody>
      </p:sp>
      <p:sp>
        <p:nvSpPr>
          <p:cNvPr id="9" name="">
            <a:extLst xmlns:a="http://schemas.openxmlformats.org/drawingml/2006/main">
              <a:ext uri="{FF2B5EF4-FFF2-40B4-BE49-F238E27FC236}">
                <a16:creationId xmlns:a16="http://schemas.microsoft.com/office/drawing/2014/main" id="{894873DA-5242-431C-BBDB-FFB3ABB5B7EC}"/>
              </a:ext>
            </a:extLst>
          </p:cNvPr>
          <p:cNvSpPr>
            <a:spLocks xmlns:a="http://schemas.openxmlformats.org/drawingml/2006/main" noGrp="1"/>
          </p:cNvSpPr>
          <p:nvPr/>
        </p:nvSpPr>
        <p:spPr>
          <a:xfrm xmlns:a="http://schemas.openxmlformats.org/drawingml/2006/main">
            <a:off x="4343400" y="200025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09DE4E67-7E58-4421-B418-9519A0362441}"/>
              </a:ext>
            </a:extLst>
          </p:cNvPr>
          <p:cNvSpPr>
            <a:spLocks xmlns:a="http://schemas.openxmlformats.org/drawingml/2006/main" noGrp="1"/>
          </p:cNvSpPr>
          <p:nvPr/>
        </p:nvSpPr>
        <p:spPr>
          <a:xfrm xmlns:a="http://schemas.openxmlformats.org/drawingml/2006/main">
            <a:off x="4572000" y="2228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513F"/>
                </a:solidFill>
                <a:latin typeface="Aptos"/>
                <a:ea typeface="Aptos"/>
                <a:cs typeface="Aptos"/>
              </a:defRPr>
            </a:pPr>
            <a:r>
              <a:rPr sz="1650" b="1">
                <a:solidFill>
                  <a:srgbClr val="0F513F"/>
                </a:solidFill>
                <a:latin typeface="Aptos"/>
                <a:ea typeface="Aptos"/>
                <a:cs typeface="Aptos"/>
              </a:rPr>
              <a:t>数据聚合</a:t>
            </a:r>
          </a:p>
        </p:txBody>
      </p:sp>
      <p:sp>
        <p:nvSpPr>
          <p:cNvPr id="11" name="">
            <a:extLst xmlns:a="http://schemas.openxmlformats.org/drawingml/2006/main">
              <a:ext uri="{FF2B5EF4-FFF2-40B4-BE49-F238E27FC236}">
                <a16:creationId xmlns:a16="http://schemas.microsoft.com/office/drawing/2014/main" id="{9E5CB028-A4BF-48D2-A672-C3B3EED8B614}"/>
              </a:ext>
            </a:extLst>
          </p:cNvPr>
          <p:cNvSpPr>
            <a:spLocks xmlns:a="http://schemas.openxmlformats.org/drawingml/2006/main" noGrp="1"/>
          </p:cNvSpPr>
          <p:nvPr/>
        </p:nvSpPr>
        <p:spPr>
          <a:xfrm xmlns:a="http://schemas.openxmlformats.org/drawingml/2006/main">
            <a:off x="4572000" y="260985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C756C"/>
                </a:solidFill>
                <a:latin typeface="Aptos"/>
                <a:ea typeface="Aptos"/>
                <a:cs typeface="Aptos"/>
              </a:defRPr>
            </a:pPr>
            <a:r>
              <a:rPr sz="1275" b="0">
                <a:solidFill>
                  <a:srgbClr val="5C756C"/>
                </a:solidFill>
                <a:latin typeface="Aptos"/>
                <a:ea typeface="Aptos"/>
                <a:cs typeface="Aptos"/>
              </a:rPr>
              <a:t>按城市与日期计算均值，生成排行、趋势、等级分布和热力矩阵。</a:t>
            </a:r>
          </a:p>
        </p:txBody>
      </p:sp>
      <p:sp>
        <p:nvSpPr>
          <p:cNvPr id="12" name="">
            <a:extLst xmlns:a="http://schemas.openxmlformats.org/drawingml/2006/main">
              <a:ext uri="{FF2B5EF4-FFF2-40B4-BE49-F238E27FC236}">
                <a16:creationId xmlns:a16="http://schemas.microsoft.com/office/drawing/2014/main" id="{203B5069-758D-4984-AFA0-DCE206C3C603}"/>
              </a:ext>
            </a:extLst>
          </p:cNvPr>
          <p:cNvSpPr>
            <a:spLocks xmlns:a="http://schemas.openxmlformats.org/drawingml/2006/main" noGrp="1"/>
          </p:cNvSpPr>
          <p:nvPr/>
        </p:nvSpPr>
        <p:spPr>
          <a:xfrm xmlns:a="http://schemas.openxmlformats.org/drawingml/2006/main">
            <a:off x="8077200" y="2000250"/>
            <a:ext cx="3333750" cy="12573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0EB84930-32EA-4C1B-BABA-A9A73510A32E}"/>
              </a:ext>
            </a:extLst>
          </p:cNvPr>
          <p:cNvSpPr>
            <a:spLocks xmlns:a="http://schemas.openxmlformats.org/drawingml/2006/main" noGrp="1"/>
          </p:cNvSpPr>
          <p:nvPr/>
        </p:nvSpPr>
        <p:spPr>
          <a:xfrm xmlns:a="http://schemas.openxmlformats.org/drawingml/2006/main">
            <a:off x="8305800" y="22288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513F"/>
                </a:solidFill>
                <a:latin typeface="Aptos"/>
                <a:ea typeface="Aptos"/>
                <a:cs typeface="Aptos"/>
              </a:defRPr>
            </a:pPr>
            <a:r>
              <a:rPr sz="1650" b="1">
                <a:solidFill>
                  <a:srgbClr val="0F513F"/>
                </a:solidFill>
                <a:latin typeface="Aptos"/>
                <a:ea typeface="Aptos"/>
                <a:cs typeface="Aptos"/>
              </a:rPr>
              <a:t>现实意义</a:t>
            </a:r>
          </a:p>
        </p:txBody>
      </p:sp>
      <p:sp>
        <p:nvSpPr>
          <p:cNvPr id="14" name="">
            <a:extLst xmlns:a="http://schemas.openxmlformats.org/drawingml/2006/main">
              <a:ext uri="{FF2B5EF4-FFF2-40B4-BE49-F238E27FC236}">
                <a16:creationId xmlns:a16="http://schemas.microsoft.com/office/drawing/2014/main" id="{DDD6C355-AA1B-4DEF-A4BB-2D8371D2BFAB}"/>
              </a:ext>
            </a:extLst>
          </p:cNvPr>
          <p:cNvSpPr>
            <a:spLocks xmlns:a="http://schemas.openxmlformats.org/drawingml/2006/main" noGrp="1"/>
          </p:cNvSpPr>
          <p:nvPr/>
        </p:nvSpPr>
        <p:spPr>
          <a:xfrm xmlns:a="http://schemas.openxmlformats.org/drawingml/2006/main">
            <a:off x="8305800" y="2609850"/>
            <a:ext cx="2800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0">
                <a:solidFill>
                  <a:srgbClr val="5C756C"/>
                </a:solidFill>
                <a:latin typeface="Aptos"/>
                <a:ea typeface="Aptos"/>
                <a:cs typeface="Aptos"/>
              </a:defRPr>
            </a:pPr>
            <a:r>
              <a:rPr sz="1275" b="0">
                <a:solidFill>
                  <a:srgbClr val="5C756C"/>
                </a:solidFill>
                <a:latin typeface="Aptos"/>
                <a:ea typeface="Aptos"/>
                <a:cs typeface="Aptos"/>
              </a:rPr>
              <a:t>识别短期空气质量高风险城市，为出行提示和环境治理观察提供依据。</a:t>
            </a:r>
          </a:p>
        </p:txBody>
      </p:sp>
      <p:graphicFrame>
        <p:nvGraphicFramePr>
          <p:cNvPr id="36" name="Chart"/>
          <p:cNvGraphicFramePr/>
          <p:nvPr/>
        </p:nvGraphicFramePr>
        <p:xfrm>
          <a:off xmlns:a="http://schemas.openxmlformats.org/drawingml/2006/main" x="914400" y="3886200"/>
          <a:ext xmlns:a="http://schemas.openxmlformats.org/drawingml/2006/main" cx="4476750" cy="2000250"/>
        </p:xfrm>
        <a:graphic xmlns:a="http://schemas.openxmlformats.org/drawingml/2006/main">
          <a:graphicData uri="http://schemas.openxmlformats.org/drawingml/2006/chart">
            <c:chart xmlns:r="http://schemas.openxmlformats.org/officeDocument/2006/relationships" xmlns:c="http://schemas.openxmlformats.org/drawingml/2006/chart" r:id="R50a5c87be781450a"/>
          </a:graphicData>
        </a:graphic>
      </p:graphicFrame>
      <p:sp>
        <p:nvSpPr>
          <p:cNvPr id="16" name="">
            <a:extLst xmlns:a="http://schemas.openxmlformats.org/drawingml/2006/main">
              <a:ext uri="{FF2B5EF4-FFF2-40B4-BE49-F238E27FC236}">
                <a16:creationId xmlns:a16="http://schemas.microsoft.com/office/drawing/2014/main" id="{56BAD90F-1B6C-42F4-BF0C-D8C83AF2DF84}"/>
              </a:ext>
            </a:extLst>
          </p:cNvPr>
          <p:cNvSpPr>
            <a:spLocks xmlns:a="http://schemas.openxmlformats.org/drawingml/2006/main" noGrp="1"/>
          </p:cNvSpPr>
          <p:nvPr/>
        </p:nvSpPr>
        <p:spPr>
          <a:xfrm xmlns:a="http://schemas.openxmlformats.org/drawingml/2006/main">
            <a:off x="914400" y="3543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F513F"/>
                </a:solidFill>
                <a:latin typeface="Aptos"/>
                <a:ea typeface="Aptos"/>
                <a:cs typeface="Aptos"/>
              </a:defRPr>
            </a:pPr>
            <a:r>
              <a:rPr sz="1500" b="1">
                <a:solidFill>
                  <a:srgbClr val="0F513F"/>
                </a:solidFill>
                <a:latin typeface="Aptos"/>
                <a:ea typeface="Aptos"/>
                <a:cs typeface="Aptos"/>
              </a:rPr>
              <a:t>AQI等级样本分布</a:t>
            </a:r>
          </a:p>
        </p:txBody>
      </p:sp>
      <p:sp>
        <p:nvSpPr>
          <p:cNvPr id="17" name="">
            <a:extLst xmlns:a="http://schemas.openxmlformats.org/drawingml/2006/main">
              <a:ext uri="{FF2B5EF4-FFF2-40B4-BE49-F238E27FC236}">
                <a16:creationId xmlns:a16="http://schemas.microsoft.com/office/drawing/2014/main" id="{21276062-7E83-4863-B516-F1C11DA18987}"/>
              </a:ext>
            </a:extLst>
          </p:cNvPr>
          <p:cNvSpPr>
            <a:spLocks xmlns:a="http://schemas.openxmlformats.org/drawingml/2006/main" noGrp="1"/>
          </p:cNvSpPr>
          <p:nvPr/>
        </p:nvSpPr>
        <p:spPr>
          <a:xfrm xmlns:a="http://schemas.openxmlformats.org/drawingml/2006/main">
            <a:off x="6191250" y="3771900"/>
            <a:ext cx="4762500" cy="1809750"/>
          </a:xfrm>
          <a:prstGeom xmlns:a="http://schemas.openxmlformats.org/drawingml/2006/main" prst="roundRect">
            <a:avLst>
              <a:gd name="adj" fmla="val 6316"/>
            </a:avLst>
          </a:prstGeom>
          <a:solidFill xmlns:a="http://schemas.openxmlformats.org/drawingml/2006/main">
            <a:srgbClr val="E7F5E8"/>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23D2DAFC-CD74-4C55-ADF7-F214AD5734E5}"/>
              </a:ext>
            </a:extLst>
          </p:cNvPr>
          <p:cNvSpPr>
            <a:spLocks xmlns:a="http://schemas.openxmlformats.org/drawingml/2006/main" noGrp="1"/>
          </p:cNvSpPr>
          <p:nvPr/>
        </p:nvSpPr>
        <p:spPr>
          <a:xfrm xmlns:a="http://schemas.openxmlformats.org/drawingml/2006/main">
            <a:off x="6515100" y="40576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F513F"/>
                </a:solidFill>
                <a:latin typeface="Aptos"/>
                <a:ea typeface="Aptos"/>
                <a:cs typeface="Aptos"/>
              </a:defRPr>
            </a:pPr>
            <a:r>
              <a:rPr sz="1650" b="1">
                <a:solidFill>
                  <a:srgbClr val="0F513F"/>
                </a:solidFill>
                <a:latin typeface="Aptos"/>
                <a:ea typeface="Aptos"/>
                <a:cs typeface="Aptos"/>
              </a:rPr>
              <a:t>来源说明</a:t>
            </a:r>
          </a:p>
        </p:txBody>
      </p:sp>
      <p:sp>
        <p:nvSpPr>
          <p:cNvPr id="19" name="">
            <a:extLst xmlns:a="http://schemas.openxmlformats.org/drawingml/2006/main">
              <a:ext uri="{FF2B5EF4-FFF2-40B4-BE49-F238E27FC236}">
                <a16:creationId xmlns:a16="http://schemas.microsoft.com/office/drawing/2014/main" id="{F4C0F109-64E4-4036-A1CA-9454B8ECB799}"/>
              </a:ext>
            </a:extLst>
          </p:cNvPr>
          <p:cNvSpPr>
            <a:spLocks xmlns:a="http://schemas.openxmlformats.org/drawingml/2006/main" noGrp="1"/>
          </p:cNvSpPr>
          <p:nvPr/>
        </p:nvSpPr>
        <p:spPr>
          <a:xfrm xmlns:a="http://schemas.openxmlformats.org/drawingml/2006/main">
            <a:off x="6515100" y="4438650"/>
            <a:ext cx="3905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C756C"/>
                </a:solidFill>
                <a:latin typeface="Aptos"/>
                <a:ea typeface="Aptos"/>
                <a:cs typeface="Aptos"/>
              </a:defRPr>
            </a:pPr>
            <a:r>
              <a:rPr sz="1350" b="0">
                <a:solidFill>
                  <a:srgbClr val="5C756C"/>
                </a:solidFill>
                <a:latin typeface="Aptos"/>
                <a:ea typeface="Aptos"/>
                <a:cs typeface="Aptos"/>
              </a:rPr>
              <a:t>quotsoft 页面说明全国城市数据来自中国环境监测总站全国城市空气质量实时发布平台；生态环境部月报作为权威背景材料。</a:t>
            </a:r>
          </a:p>
        </p:txBody>
      </p:sp>
      <p:sp>
        <p:nvSpPr>
          <p:cNvPr id="20" name="">
            <a:extLst xmlns:a="http://schemas.openxmlformats.org/drawingml/2006/main">
              <a:ext uri="{FF2B5EF4-FFF2-40B4-BE49-F238E27FC236}">
                <a16:creationId xmlns:a16="http://schemas.microsoft.com/office/drawing/2014/main" id="{104D879E-D587-4A9E-A636-F054B6C320DA}"/>
              </a:ext>
            </a:extLst>
          </p:cNvPr>
          <p:cNvSpPr>
            <a:spLocks xmlns:a="http://schemas.openxmlformats.org/drawingml/2006/main" noGrp="1"/>
          </p:cNvSpPr>
          <p:nvPr/>
        </p:nvSpPr>
        <p:spPr>
          <a:xfrm xmlns:a="http://schemas.openxmlformats.org/drawingml/2006/main">
            <a:off x="609600" y="64960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C756C"/>
                </a:solidFill>
                <a:latin typeface="Aptos"/>
                <a:ea typeface="Aptos"/>
                <a:cs typeface="Aptos"/>
              </a:defRPr>
            </a:pPr>
            <a:r>
              <a:rPr sz="825" b="0">
                <a:solidFill>
                  <a:srgbClr val="5C756C"/>
                </a:solidFill>
                <a:latin typeface="Aptos"/>
                <a:ea typeface="Aptos"/>
                <a:cs typeface="Aptos"/>
              </a:rPr>
              <a:t>数据来源：quotsoft 中国空气质量历史数据；权威说明：生态环境部城市空气质量状况月报</a:t>
            </a:r>
          </a:p>
        </p:txBody>
      </p:sp>
      <p:sp>
        <p:nvSpPr>
          <p:cNvPr id="21" name="">
            <a:extLst xmlns:a="http://schemas.openxmlformats.org/drawingml/2006/main">
              <a:ext uri="{FF2B5EF4-FFF2-40B4-BE49-F238E27FC236}">
                <a16:creationId xmlns:a16="http://schemas.microsoft.com/office/drawing/2014/main" id="{7CDEE29A-5B59-41C2-AAD2-8D3073F90195}"/>
              </a:ext>
            </a:extLst>
          </p:cNvPr>
          <p:cNvSpPr>
            <a:spLocks xmlns:a="http://schemas.openxmlformats.org/drawingml/2006/main" noGrp="1"/>
          </p:cNvSpPr>
          <p:nvPr/>
        </p:nvSpPr>
        <p:spPr>
          <a:xfrm xmlns:a="http://schemas.openxmlformats.org/drawingml/2006/main">
            <a:off x="11125200" y="6419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0F8F68"/>
                </a:solidFill>
                <a:latin typeface="Aptos Display"/>
                <a:ea typeface="Aptos Display"/>
                <a:cs typeface="Aptos Display"/>
              </a:defRPr>
            </a:pPr>
            <a:r>
              <a:rPr sz="1350" b="1">
                <a:solidFill>
                  <a:srgbClr val="0F8F68"/>
                </a:solidFill>
                <a:latin typeface="Aptos Display"/>
                <a:ea typeface="Aptos Display"/>
                <a:cs typeface="Aptos Display"/>
              </a:rPr>
              <a:t>02</a:t>
            </a:r>
          </a:p>
        </p:txBody>
      </p:sp>
    </p:spTree>
    <p:extLst>
      <p:ext uri="{BB962C8B-B14F-4D97-AF65-F5344CB8AC3E}">
        <p14:creationId xmlns:p14="http://schemas.microsoft.com/office/powerpoint/2010/main" val="1788162291"/>
      </p:ext>
    </p:extLst>
  </p:cSld>
</p:sld>
</file>

<file path=ppt/slides/slide3.xml><?xml version="1.0" encoding="utf-8"?>
<p:sld xmlns:p="http://schemas.openxmlformats.org/presentationml/2006/main">
  <p:cSld>
    <p:bg>
      <p:bgPr>
        <a:solidFill xmlns:a="http://schemas.openxmlformats.org/drawingml/2006/main">
          <a:srgbClr val="F4FB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B4997AA-2CC6-4CD7-A010-A0ED044764B5}"/>
              </a:ext>
            </a:extLst>
          </p:cNvPr>
          <p:cNvSpPr>
            <a:spLocks xmlns:a="http://schemas.openxmlformats.org/drawingml/2006/main" noGrp="1"/>
          </p:cNvSpPr>
          <p:nvPr/>
        </p:nvSpPr>
        <p:spPr>
          <a:xfrm xmlns:a="http://schemas.openxmlformats.org/drawingml/2006/main">
            <a:off x="-666750" y="-857250"/>
            <a:ext cx="2571750" cy="2571750"/>
          </a:xfrm>
          <a:prstGeom xmlns:a="http://schemas.openxmlformats.org/drawingml/2006/main" prst="ellipse">
            <a:avLst/>
          </a:prstGeom>
          <a:solidFill xmlns:a="http://schemas.openxmlformats.org/drawingml/2006/main">
            <a:srgbClr val="CDE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7E008CE-4198-4BB1-A8F7-04EC5BB66201}"/>
              </a:ext>
            </a:extLst>
          </p:cNvPr>
          <p:cNvSpPr>
            <a:spLocks xmlns:a="http://schemas.openxmlformats.org/drawingml/2006/main" noGrp="1"/>
          </p:cNvSpPr>
          <p:nvPr/>
        </p:nvSpPr>
        <p:spPr>
          <a:xfrm xmlns:a="http://schemas.openxmlformats.org/drawingml/2006/main">
            <a:off x="9810750" y="-762000"/>
            <a:ext cx="2857500" cy="2857500"/>
          </a:xfrm>
          <a:prstGeom xmlns:a="http://schemas.openxmlformats.org/drawingml/2006/main" prst="ellipse">
            <a:avLst/>
          </a:prstGeom>
          <a:solidFill xmlns:a="http://schemas.openxmlformats.org/drawingml/2006/main">
            <a:srgbClr val="F6E7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06C6EDF-9AD7-4ABE-87BD-878AB16411F3}"/>
              </a:ext>
            </a:extLst>
          </p:cNvPr>
          <p:cNvSpPr>
            <a:spLocks xmlns:a="http://schemas.openxmlformats.org/drawingml/2006/main" noGrp="1"/>
          </p:cNvSpPr>
          <p:nvPr/>
        </p:nvSpPr>
        <p:spPr>
          <a:xfrm xmlns:a="http://schemas.openxmlformats.org/drawingml/2006/main">
            <a:off x="609600" y="4572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8F68"/>
                </a:solidFill>
                <a:latin typeface="Aptos Display"/>
                <a:ea typeface="Aptos Display"/>
                <a:cs typeface="Aptos Display"/>
              </a:defRPr>
            </a:pPr>
            <a:r>
              <a:rPr sz="975" b="1">
                <a:solidFill>
                  <a:srgbClr val="0F8F68"/>
                </a:solidFill>
                <a:latin typeface="Aptos Display"/>
                <a:ea typeface="Aptos Display"/>
                <a:cs typeface="Aptos Display"/>
              </a:rPr>
              <a:t>FINAL RENDER</a:t>
            </a:r>
          </a:p>
        </p:txBody>
      </p:sp>
      <p:sp>
        <p:nvSpPr>
          <p:cNvPr id="4" name="">
            <a:extLst xmlns:a="http://schemas.openxmlformats.org/drawingml/2006/main">
              <a:ext uri="{FF2B5EF4-FFF2-40B4-BE49-F238E27FC236}">
                <a16:creationId xmlns:a16="http://schemas.microsoft.com/office/drawing/2014/main" id="{137A423F-5CA1-474A-A8C4-2198E5A1548E}"/>
              </a:ext>
            </a:extLst>
          </p:cNvPr>
          <p:cNvSpPr>
            <a:spLocks xmlns:a="http://schemas.openxmlformats.org/drawingml/2006/main" noGrp="1"/>
          </p:cNvSpPr>
          <p:nvPr/>
        </p:nvSpPr>
        <p:spPr>
          <a:xfrm xmlns:a="http://schemas.openxmlformats.org/drawingml/2006/main">
            <a:off x="609600" y="800100"/>
            <a:ext cx="838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F513F"/>
                </a:solidFill>
                <a:latin typeface="Aptos Display"/>
                <a:ea typeface="Aptos Display"/>
                <a:cs typeface="Aptos Display"/>
              </a:defRPr>
            </a:pPr>
            <a:r>
              <a:rPr sz="2850" b="1">
                <a:solidFill>
                  <a:srgbClr val="0F513F"/>
                </a:solidFill>
                <a:latin typeface="Aptos Display"/>
                <a:ea typeface="Aptos Display"/>
                <a:cs typeface="Aptos Display"/>
              </a:rPr>
              <a:t>作品最终渲染效果与 3 句结论</a:t>
            </a:r>
          </a:p>
        </p:txBody>
      </p:sp>
      <p:sp>
        <p:nvSpPr>
          <p:cNvPr id="5" name="">
            <a:extLst xmlns:a="http://schemas.openxmlformats.org/drawingml/2006/main">
              <a:ext uri="{FF2B5EF4-FFF2-40B4-BE49-F238E27FC236}">
                <a16:creationId xmlns:a16="http://schemas.microsoft.com/office/drawing/2014/main" id="{21E8376A-5E5D-403B-96CB-03A85481E104}"/>
              </a:ext>
            </a:extLst>
          </p:cNvPr>
          <p:cNvSpPr>
            <a:spLocks xmlns:a="http://schemas.openxmlformats.org/drawingml/2006/main" noGrp="1"/>
          </p:cNvSpPr>
          <p:nvPr/>
        </p:nvSpPr>
        <p:spPr>
          <a:xfrm xmlns:a="http://schemas.openxmlformats.org/drawingml/2006/main">
            <a:off x="628650" y="13716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C756C"/>
                </a:solidFill>
                <a:latin typeface="Aptos"/>
                <a:ea typeface="Aptos"/>
                <a:cs typeface="Aptos"/>
              </a:defRPr>
            </a:pPr>
            <a:r>
              <a:rPr sz="1125" b="0">
                <a:solidFill>
                  <a:srgbClr val="5C756C"/>
                </a:solidFill>
                <a:latin typeface="Aptos"/>
                <a:ea typeface="Aptos"/>
                <a:cs typeface="Aptos"/>
              </a:rPr>
              <a:t>页面采用生态绿白风，单屏展示 6 个图表与 4 个核心指标。</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b2836d43ce94144"/>
          <a:stretch xmlns:a="http://schemas.openxmlformats.org/drawingml/2006/main"/>
        </p:blipFill>
        <p:spPr>
          <a:xfrm xmlns:a="http://schemas.openxmlformats.org/drawingml/2006/main">
            <a:off x="590550" y="1752600"/>
            <a:ext cx="6858000" cy="3857625"/>
          </a:xfrm>
          <a:prstGeom xmlns:a="http://schemas.openxmlformats.org/drawingml/2006/main" prst="roundRect">
            <a:avLst>
              <a:gd name="adj" fmla="val 2963"/>
            </a:avLst>
          </a:prstGeom>
        </p:spPr>
      </p:pic>
      <p:sp>
        <p:nvSpPr>
          <p:cNvPr id="7" name="">
            <a:extLst xmlns:a="http://schemas.openxmlformats.org/drawingml/2006/main">
              <a:ext uri="{FF2B5EF4-FFF2-40B4-BE49-F238E27FC236}">
                <a16:creationId xmlns:a16="http://schemas.microsoft.com/office/drawing/2014/main" id="{CE94EB10-83C6-4E69-884C-B8C1EF146EA9}"/>
              </a:ext>
            </a:extLst>
          </p:cNvPr>
          <p:cNvSpPr>
            <a:spLocks xmlns:a="http://schemas.openxmlformats.org/drawingml/2006/main" noGrp="1"/>
          </p:cNvSpPr>
          <p:nvPr/>
        </p:nvSpPr>
        <p:spPr>
          <a:xfrm xmlns:a="http://schemas.openxmlformats.org/drawingml/2006/main">
            <a:off x="7905750" y="1924050"/>
            <a:ext cx="34290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92567DFE-844E-4BCA-8EAE-2BFE0003F0E5}"/>
              </a:ext>
            </a:extLst>
          </p:cNvPr>
          <p:cNvSpPr>
            <a:spLocks xmlns:a="http://schemas.openxmlformats.org/drawingml/2006/main" noGrp="1"/>
          </p:cNvSpPr>
          <p:nvPr/>
        </p:nvSpPr>
        <p:spPr>
          <a:xfrm xmlns:a="http://schemas.openxmlformats.org/drawingml/2006/main">
            <a:off x="8115300" y="20574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F68"/>
                </a:solidFill>
                <a:latin typeface="Aptos"/>
                <a:ea typeface="Aptos"/>
                <a:cs typeface="Aptos"/>
              </a:defRPr>
            </a:pPr>
            <a:r>
              <a:rPr sz="1200" b="1">
                <a:solidFill>
                  <a:srgbClr val="0F8F68"/>
                </a:solidFill>
                <a:latin typeface="Aptos"/>
                <a:ea typeface="Aptos"/>
                <a:cs typeface="Aptos"/>
              </a:rPr>
              <a:t>结论 1</a:t>
            </a:r>
          </a:p>
        </p:txBody>
      </p:sp>
      <p:sp>
        <p:nvSpPr>
          <p:cNvPr id="9" name="">
            <a:extLst xmlns:a="http://schemas.openxmlformats.org/drawingml/2006/main">
              <a:ext uri="{FF2B5EF4-FFF2-40B4-BE49-F238E27FC236}">
                <a16:creationId xmlns:a16="http://schemas.microsoft.com/office/drawing/2014/main" id="{2B01FD36-D4C3-4B52-BBDB-97CEA7574B4A}"/>
              </a:ext>
            </a:extLst>
          </p:cNvPr>
          <p:cNvSpPr>
            <a:spLocks xmlns:a="http://schemas.openxmlformats.org/drawingml/2006/main" noGrp="1"/>
          </p:cNvSpPr>
          <p:nvPr/>
        </p:nvSpPr>
        <p:spPr>
          <a:xfrm xmlns:a="http://schemas.openxmlformats.org/drawingml/2006/main">
            <a:off x="8115300" y="23050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8352D"/>
                </a:solidFill>
                <a:latin typeface="Aptos"/>
                <a:ea typeface="Aptos"/>
                <a:cs typeface="Aptos"/>
              </a:defRPr>
            </a:pPr>
            <a:r>
              <a:rPr sz="1125" b="0">
                <a:solidFill>
                  <a:srgbClr val="18352D"/>
                </a:solidFill>
                <a:latin typeface="Aptos"/>
                <a:ea typeface="Aptos"/>
                <a:cs typeface="Aptos"/>
              </a:rPr>
              <a:t>和田地区为本周期AQI均值最高城市，平均AQI为146.3，需重点关注颗粒物与臭氧叠加影响。</a:t>
            </a:r>
          </a:p>
        </p:txBody>
      </p:sp>
      <p:sp>
        <p:nvSpPr>
          <p:cNvPr id="10" name="">
            <a:extLst xmlns:a="http://schemas.openxmlformats.org/drawingml/2006/main">
              <a:ext uri="{FF2B5EF4-FFF2-40B4-BE49-F238E27FC236}">
                <a16:creationId xmlns:a16="http://schemas.microsoft.com/office/drawing/2014/main" id="{4A03457B-4CEA-4700-9A41-19FF06051F31}"/>
              </a:ext>
            </a:extLst>
          </p:cNvPr>
          <p:cNvSpPr>
            <a:spLocks xmlns:a="http://schemas.openxmlformats.org/drawingml/2006/main" noGrp="1"/>
          </p:cNvSpPr>
          <p:nvPr/>
        </p:nvSpPr>
        <p:spPr>
          <a:xfrm xmlns:a="http://schemas.openxmlformats.org/drawingml/2006/main">
            <a:off x="7905750" y="3028950"/>
            <a:ext cx="34290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465212FA-F2D3-44DF-878C-254736D526FA}"/>
              </a:ext>
            </a:extLst>
          </p:cNvPr>
          <p:cNvSpPr>
            <a:spLocks xmlns:a="http://schemas.openxmlformats.org/drawingml/2006/main" noGrp="1"/>
          </p:cNvSpPr>
          <p:nvPr/>
        </p:nvSpPr>
        <p:spPr>
          <a:xfrm xmlns:a="http://schemas.openxmlformats.org/drawingml/2006/main">
            <a:off x="8115300" y="31623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F68"/>
                </a:solidFill>
                <a:latin typeface="Aptos"/>
                <a:ea typeface="Aptos"/>
                <a:cs typeface="Aptos"/>
              </a:defRPr>
            </a:pPr>
            <a:r>
              <a:rPr sz="1200" b="1">
                <a:solidFill>
                  <a:srgbClr val="0F8F68"/>
                </a:solidFill>
                <a:latin typeface="Aptos"/>
                <a:ea typeface="Aptos"/>
                <a:cs typeface="Aptos"/>
              </a:rPr>
              <a:t>结论 2</a:t>
            </a:r>
          </a:p>
        </p:txBody>
      </p:sp>
      <p:sp>
        <p:nvSpPr>
          <p:cNvPr id="12" name="">
            <a:extLst xmlns:a="http://schemas.openxmlformats.org/drawingml/2006/main">
              <a:ext uri="{FF2B5EF4-FFF2-40B4-BE49-F238E27FC236}">
                <a16:creationId xmlns:a16="http://schemas.microsoft.com/office/drawing/2014/main" id="{8CFDA925-52DB-422C-B757-9BA93BBD4E8F}"/>
              </a:ext>
            </a:extLst>
          </p:cNvPr>
          <p:cNvSpPr>
            <a:spLocks xmlns:a="http://schemas.openxmlformats.org/drawingml/2006/main" noGrp="1"/>
          </p:cNvSpPr>
          <p:nvPr/>
        </p:nvSpPr>
        <p:spPr>
          <a:xfrm xmlns:a="http://schemas.openxmlformats.org/drawingml/2006/main">
            <a:off x="8115300" y="34099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8352D"/>
                </a:solidFill>
                <a:latin typeface="Aptos"/>
                <a:ea typeface="Aptos"/>
                <a:cs typeface="Aptos"/>
              </a:defRPr>
            </a:pPr>
            <a:r>
              <a:rPr sz="1125" b="0">
                <a:solidFill>
                  <a:srgbClr val="18352D"/>
                </a:solidFill>
                <a:latin typeface="Aptos"/>
                <a:ea typeface="Aptos"/>
                <a:cs typeface="Aptos"/>
              </a:rPr>
              <a:t>甘孜藏族自治州空气质量表现最好，平均AQI为22.3，整体处于较低污染水平。</a:t>
            </a:r>
          </a:p>
        </p:txBody>
      </p:sp>
      <p:sp>
        <p:nvSpPr>
          <p:cNvPr id="13" name="">
            <a:extLst xmlns:a="http://schemas.openxmlformats.org/drawingml/2006/main">
              <a:ext uri="{FF2B5EF4-FFF2-40B4-BE49-F238E27FC236}">
                <a16:creationId xmlns:a16="http://schemas.microsoft.com/office/drawing/2014/main" id="{01141647-69FE-4700-8BD3-CDBC575B6015}"/>
              </a:ext>
            </a:extLst>
          </p:cNvPr>
          <p:cNvSpPr>
            <a:spLocks xmlns:a="http://schemas.openxmlformats.org/drawingml/2006/main" noGrp="1"/>
          </p:cNvSpPr>
          <p:nvPr/>
        </p:nvSpPr>
        <p:spPr>
          <a:xfrm xmlns:a="http://schemas.openxmlformats.org/drawingml/2006/main">
            <a:off x="7905750" y="4133850"/>
            <a:ext cx="3429000"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34454FFF-1594-461C-BEB6-06C45AF3CB01}"/>
              </a:ext>
            </a:extLst>
          </p:cNvPr>
          <p:cNvSpPr>
            <a:spLocks xmlns:a="http://schemas.openxmlformats.org/drawingml/2006/main" noGrp="1"/>
          </p:cNvSpPr>
          <p:nvPr/>
        </p:nvSpPr>
        <p:spPr>
          <a:xfrm xmlns:a="http://schemas.openxmlformats.org/drawingml/2006/main">
            <a:off x="8115300" y="426720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8F68"/>
                </a:solidFill>
                <a:latin typeface="Aptos"/>
                <a:ea typeface="Aptos"/>
                <a:cs typeface="Aptos"/>
              </a:defRPr>
            </a:pPr>
            <a:r>
              <a:rPr sz="1200" b="1">
                <a:solidFill>
                  <a:srgbClr val="0F8F68"/>
                </a:solidFill>
                <a:latin typeface="Aptos"/>
                <a:ea typeface="Aptos"/>
                <a:cs typeface="Aptos"/>
              </a:rPr>
              <a:t>结论 3</a:t>
            </a:r>
          </a:p>
        </p:txBody>
      </p:sp>
      <p:sp>
        <p:nvSpPr>
          <p:cNvPr id="15" name="">
            <a:extLst xmlns:a="http://schemas.openxmlformats.org/drawingml/2006/main">
              <a:ext uri="{FF2B5EF4-FFF2-40B4-BE49-F238E27FC236}">
                <a16:creationId xmlns:a16="http://schemas.microsoft.com/office/drawing/2014/main" id="{F3F6D5F5-E57D-472B-99DF-7FA8C23B0C94}"/>
              </a:ext>
            </a:extLst>
          </p:cNvPr>
          <p:cNvSpPr>
            <a:spLocks xmlns:a="http://schemas.openxmlformats.org/drawingml/2006/main" noGrp="1"/>
          </p:cNvSpPr>
          <p:nvPr/>
        </p:nvSpPr>
        <p:spPr>
          <a:xfrm xmlns:a="http://schemas.openxmlformats.org/drawingml/2006/main">
            <a:off x="8115300" y="4514850"/>
            <a:ext cx="2914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18352D"/>
                </a:solidFill>
                <a:latin typeface="Aptos"/>
                <a:ea typeface="Aptos"/>
                <a:cs typeface="Aptos"/>
              </a:defRPr>
            </a:pPr>
            <a:r>
              <a:rPr sz="1125" b="0">
                <a:solidFill>
                  <a:srgbClr val="18352D"/>
                </a:solidFill>
                <a:latin typeface="Aptos"/>
                <a:ea typeface="Aptos"/>
                <a:cs typeface="Aptos"/>
              </a:rPr>
              <a:t>全国平均AQI在7天内呈下降趋势，预测结果仅用于展示短期变化方向。</a:t>
            </a:r>
          </a:p>
        </p:txBody>
      </p:sp>
      <p:sp>
        <p:nvSpPr>
          <p:cNvPr id="16" name="">
            <a:extLst xmlns:a="http://schemas.openxmlformats.org/drawingml/2006/main">
              <a:ext uri="{FF2B5EF4-FFF2-40B4-BE49-F238E27FC236}">
                <a16:creationId xmlns:a16="http://schemas.microsoft.com/office/drawing/2014/main" id="{4A2F772C-90E0-4182-9F74-303B1897B0DD}"/>
              </a:ext>
            </a:extLst>
          </p:cNvPr>
          <p:cNvSpPr>
            <a:spLocks xmlns:a="http://schemas.openxmlformats.org/drawingml/2006/main" noGrp="1"/>
          </p:cNvSpPr>
          <p:nvPr/>
        </p:nvSpPr>
        <p:spPr>
          <a:xfrm xmlns:a="http://schemas.openxmlformats.org/drawingml/2006/main">
            <a:off x="609600" y="64960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C756C"/>
                </a:solidFill>
                <a:latin typeface="Aptos"/>
                <a:ea typeface="Aptos"/>
                <a:cs typeface="Aptos"/>
              </a:defRPr>
            </a:pPr>
            <a:r>
              <a:rPr sz="825" b="0">
                <a:solidFill>
                  <a:srgbClr val="5C756C"/>
                </a:solidFill>
                <a:latin typeface="Aptos"/>
                <a:ea typeface="Aptos"/>
                <a:cs typeface="Aptos"/>
              </a:rPr>
              <a:t>数据来源：quotsoft 中国空气质量历史数据；权威说明：生态环境部城市空气质量状况月报</a:t>
            </a:r>
          </a:p>
        </p:txBody>
      </p:sp>
      <p:sp>
        <p:nvSpPr>
          <p:cNvPr id="17" name="">
            <a:extLst xmlns:a="http://schemas.openxmlformats.org/drawingml/2006/main">
              <a:ext uri="{FF2B5EF4-FFF2-40B4-BE49-F238E27FC236}">
                <a16:creationId xmlns:a16="http://schemas.microsoft.com/office/drawing/2014/main" id="{1802974C-B52F-437C-AAF9-56C1FECAE0A6}"/>
              </a:ext>
            </a:extLst>
          </p:cNvPr>
          <p:cNvSpPr>
            <a:spLocks xmlns:a="http://schemas.openxmlformats.org/drawingml/2006/main" noGrp="1"/>
          </p:cNvSpPr>
          <p:nvPr/>
        </p:nvSpPr>
        <p:spPr>
          <a:xfrm xmlns:a="http://schemas.openxmlformats.org/drawingml/2006/main">
            <a:off x="11125200" y="6419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0F8F68"/>
                </a:solidFill>
                <a:latin typeface="Aptos Display"/>
                <a:ea typeface="Aptos Display"/>
                <a:cs typeface="Aptos Display"/>
              </a:defRPr>
            </a:pPr>
            <a:r>
              <a:rPr sz="1350" b="1">
                <a:solidFill>
                  <a:srgbClr val="0F8F68"/>
                </a:solidFill>
                <a:latin typeface="Aptos Display"/>
                <a:ea typeface="Aptos Display"/>
                <a:cs typeface="Aptos Display"/>
              </a:rPr>
              <a:t>03</a:t>
            </a:r>
          </a:p>
        </p:txBody>
      </p:sp>
    </p:spTree>
    <p:extLst>
      <p:ext uri="{BB962C8B-B14F-4D97-AF65-F5344CB8AC3E}">
        <p14:creationId xmlns:p14="http://schemas.microsoft.com/office/powerpoint/2010/main" val="1315080037"/>
      </p:ext>
    </p:extLst>
  </p:cSld>
</p:sld>
</file>

<file path=ppt/slides/slide4.xml><?xml version="1.0" encoding="utf-8"?>
<p:sld xmlns:p="http://schemas.openxmlformats.org/presentationml/2006/main">
  <p:cSld>
    <p:bg>
      <p:bgPr>
        <a:solidFill xmlns:a="http://schemas.openxmlformats.org/drawingml/2006/main">
          <a:srgbClr val="F4FB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9871072-8123-4E18-8374-CBB73FBDE332}"/>
              </a:ext>
            </a:extLst>
          </p:cNvPr>
          <p:cNvSpPr>
            <a:spLocks xmlns:a="http://schemas.openxmlformats.org/drawingml/2006/main" noGrp="1"/>
          </p:cNvSpPr>
          <p:nvPr/>
        </p:nvSpPr>
        <p:spPr>
          <a:xfrm xmlns:a="http://schemas.openxmlformats.org/drawingml/2006/main">
            <a:off x="-666750" y="-857250"/>
            <a:ext cx="2571750" cy="2571750"/>
          </a:xfrm>
          <a:prstGeom xmlns:a="http://schemas.openxmlformats.org/drawingml/2006/main" prst="ellipse">
            <a:avLst/>
          </a:prstGeom>
          <a:solidFill xmlns:a="http://schemas.openxmlformats.org/drawingml/2006/main">
            <a:srgbClr val="CDE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08F723-1A4C-4068-B0AC-32F030CC39EF}"/>
              </a:ext>
            </a:extLst>
          </p:cNvPr>
          <p:cNvSpPr>
            <a:spLocks xmlns:a="http://schemas.openxmlformats.org/drawingml/2006/main" noGrp="1"/>
          </p:cNvSpPr>
          <p:nvPr/>
        </p:nvSpPr>
        <p:spPr>
          <a:xfrm xmlns:a="http://schemas.openxmlformats.org/drawingml/2006/main">
            <a:off x="9810750" y="-762000"/>
            <a:ext cx="2857500" cy="2857500"/>
          </a:xfrm>
          <a:prstGeom xmlns:a="http://schemas.openxmlformats.org/drawingml/2006/main" prst="ellipse">
            <a:avLst/>
          </a:prstGeom>
          <a:solidFill xmlns:a="http://schemas.openxmlformats.org/drawingml/2006/main">
            <a:srgbClr val="F6E7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BDF4266-4D61-45ED-A045-90F32BA9FA50}"/>
              </a:ext>
            </a:extLst>
          </p:cNvPr>
          <p:cNvSpPr>
            <a:spLocks xmlns:a="http://schemas.openxmlformats.org/drawingml/2006/main" noGrp="1"/>
          </p:cNvSpPr>
          <p:nvPr/>
        </p:nvSpPr>
        <p:spPr>
          <a:xfrm xmlns:a="http://schemas.openxmlformats.org/drawingml/2006/main">
            <a:off x="609600" y="4572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8F68"/>
                </a:solidFill>
                <a:latin typeface="Aptos Display"/>
                <a:ea typeface="Aptos Display"/>
                <a:cs typeface="Aptos Display"/>
              </a:defRPr>
            </a:pPr>
            <a:r>
              <a:rPr sz="975" b="1">
                <a:solidFill>
                  <a:srgbClr val="0F8F68"/>
                </a:solidFill>
                <a:latin typeface="Aptos Display"/>
                <a:ea typeface="Aptos Display"/>
                <a:cs typeface="Aptos Display"/>
              </a:rPr>
              <a:t>PROCESS REVIEW</a:t>
            </a:r>
          </a:p>
        </p:txBody>
      </p:sp>
      <p:sp>
        <p:nvSpPr>
          <p:cNvPr id="4" name="">
            <a:extLst xmlns:a="http://schemas.openxmlformats.org/drawingml/2006/main">
              <a:ext uri="{FF2B5EF4-FFF2-40B4-BE49-F238E27FC236}">
                <a16:creationId xmlns:a16="http://schemas.microsoft.com/office/drawing/2014/main" id="{C837ABA9-3C41-4703-9141-0F0A107A4F12}"/>
              </a:ext>
            </a:extLst>
          </p:cNvPr>
          <p:cNvSpPr>
            <a:spLocks xmlns:a="http://schemas.openxmlformats.org/drawingml/2006/main" noGrp="1"/>
          </p:cNvSpPr>
          <p:nvPr/>
        </p:nvSpPr>
        <p:spPr>
          <a:xfrm xmlns:a="http://schemas.openxmlformats.org/drawingml/2006/main">
            <a:off x="609600" y="800100"/>
            <a:ext cx="838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F513F"/>
                </a:solidFill>
                <a:latin typeface="Aptos Display"/>
                <a:ea typeface="Aptos Display"/>
                <a:cs typeface="Aptos Display"/>
              </a:defRPr>
            </a:pPr>
            <a:r>
              <a:rPr sz="2850" b="1">
                <a:solidFill>
                  <a:srgbClr val="0F513F"/>
                </a:solidFill>
                <a:latin typeface="Aptos Display"/>
                <a:ea typeface="Aptos Display"/>
                <a:cs typeface="Aptos Display"/>
              </a:rPr>
              <a:t>完成过程中的问题、分析思考和心得</a:t>
            </a:r>
          </a:p>
        </p:txBody>
      </p:sp>
      <p:sp>
        <p:nvSpPr>
          <p:cNvPr id="5" name="">
            <a:extLst xmlns:a="http://schemas.openxmlformats.org/drawingml/2006/main">
              <a:ext uri="{FF2B5EF4-FFF2-40B4-BE49-F238E27FC236}">
                <a16:creationId xmlns:a16="http://schemas.microsoft.com/office/drawing/2014/main" id="{D9032116-3055-4F31-B8B7-E275A565EA9B}"/>
              </a:ext>
            </a:extLst>
          </p:cNvPr>
          <p:cNvSpPr>
            <a:spLocks xmlns:a="http://schemas.openxmlformats.org/drawingml/2006/main" noGrp="1"/>
          </p:cNvSpPr>
          <p:nvPr/>
        </p:nvSpPr>
        <p:spPr>
          <a:xfrm xmlns:a="http://schemas.openxmlformats.org/drawingml/2006/main">
            <a:off x="628650" y="13716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C756C"/>
                </a:solidFill>
                <a:latin typeface="Aptos"/>
                <a:ea typeface="Aptos"/>
                <a:cs typeface="Aptos"/>
              </a:defRPr>
            </a:pPr>
            <a:r>
              <a:rPr sz="1125" b="0">
                <a:solidFill>
                  <a:srgbClr val="5C756C"/>
                </a:solidFill>
                <a:latin typeface="Aptos"/>
                <a:ea typeface="Aptos"/>
                <a:cs typeface="Aptos"/>
              </a:rPr>
              <a:t>从数据质量、可视化选型、页面密度和算法说明四个方面控制作业质量。</a:t>
            </a:r>
          </a:p>
        </p:txBody>
      </p:sp>
      <p:sp>
        <p:nvSpPr>
          <p:cNvPr id="6" name="">
            <a:extLst xmlns:a="http://schemas.openxmlformats.org/drawingml/2006/main">
              <a:ext uri="{FF2B5EF4-FFF2-40B4-BE49-F238E27FC236}">
                <a16:creationId xmlns:a16="http://schemas.microsoft.com/office/drawing/2014/main" id="{D263B92D-4772-4F01-AE54-FCC186FB8546}"/>
              </a:ext>
            </a:extLst>
          </p:cNvPr>
          <p:cNvSpPr>
            <a:spLocks xmlns:a="http://schemas.openxmlformats.org/drawingml/2006/main" noGrp="1"/>
          </p:cNvSpPr>
          <p:nvPr/>
        </p:nvSpPr>
        <p:spPr>
          <a:xfrm xmlns:a="http://schemas.openxmlformats.org/drawingml/2006/main">
            <a:off x="723900" y="1866900"/>
            <a:ext cx="4857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3EA332C-85EF-4935-865A-B2420C8F677D}"/>
              </a:ext>
            </a:extLst>
          </p:cNvPr>
          <p:cNvSpPr>
            <a:spLocks xmlns:a="http://schemas.openxmlformats.org/drawingml/2006/main" noGrp="1"/>
          </p:cNvSpPr>
          <p:nvPr/>
        </p:nvSpPr>
        <p:spPr>
          <a:xfrm xmlns:a="http://schemas.openxmlformats.org/drawingml/2006/main">
            <a:off x="990600" y="21145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F513F"/>
                </a:solidFill>
                <a:latin typeface="Aptos"/>
                <a:ea typeface="Aptos"/>
                <a:cs typeface="Aptos"/>
              </a:defRPr>
            </a:pPr>
            <a:r>
              <a:rPr sz="1725" b="1">
                <a:solidFill>
                  <a:srgbClr val="0F513F"/>
                </a:solidFill>
                <a:latin typeface="Aptos"/>
                <a:ea typeface="Aptos"/>
                <a:cs typeface="Aptos"/>
              </a:rPr>
              <a:t>数据问题</a:t>
            </a:r>
          </a:p>
        </p:txBody>
      </p:sp>
      <p:sp>
        <p:nvSpPr>
          <p:cNvPr id="8" name="">
            <a:extLst xmlns:a="http://schemas.openxmlformats.org/drawingml/2006/main">
              <a:ext uri="{FF2B5EF4-FFF2-40B4-BE49-F238E27FC236}">
                <a16:creationId xmlns:a16="http://schemas.microsoft.com/office/drawing/2014/main" id="{F773B062-82C7-422F-94A6-0A994E869497}"/>
              </a:ext>
            </a:extLst>
          </p:cNvPr>
          <p:cNvSpPr>
            <a:spLocks xmlns:a="http://schemas.openxmlformats.org/drawingml/2006/main" noGrp="1"/>
          </p:cNvSpPr>
          <p:nvPr/>
        </p:nvSpPr>
        <p:spPr>
          <a:xfrm xmlns:a="http://schemas.openxmlformats.org/drawingml/2006/main">
            <a:off x="990600" y="2514600"/>
            <a:ext cx="419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C756C"/>
                </a:solidFill>
                <a:latin typeface="Aptos"/>
                <a:ea typeface="Aptos"/>
                <a:cs typeface="Aptos"/>
              </a:defRPr>
            </a:pPr>
            <a:r>
              <a:rPr sz="1350" b="0">
                <a:solidFill>
                  <a:srgbClr val="5C756C"/>
                </a:solidFill>
                <a:latin typeface="Aptos"/>
                <a:ea typeface="Aptos"/>
                <a:cs typeface="Aptos"/>
              </a:rPr>
              <a:t>部分日期或城市可能缺失，因此聚合时按可用小时均值计算，并固定周期便于复现。</a:t>
            </a:r>
          </a:p>
        </p:txBody>
      </p:sp>
      <p:sp>
        <p:nvSpPr>
          <p:cNvPr id="9" name="">
            <a:extLst xmlns:a="http://schemas.openxmlformats.org/drawingml/2006/main">
              <a:ext uri="{FF2B5EF4-FFF2-40B4-BE49-F238E27FC236}">
                <a16:creationId xmlns:a16="http://schemas.microsoft.com/office/drawing/2014/main" id="{44C8EFF9-5CF6-47F1-9069-1389EFC8C20A}"/>
              </a:ext>
            </a:extLst>
          </p:cNvPr>
          <p:cNvSpPr>
            <a:spLocks xmlns:a="http://schemas.openxmlformats.org/drawingml/2006/main" noGrp="1"/>
          </p:cNvSpPr>
          <p:nvPr/>
        </p:nvSpPr>
        <p:spPr>
          <a:xfrm xmlns:a="http://schemas.openxmlformats.org/drawingml/2006/main">
            <a:off x="6381750" y="1866900"/>
            <a:ext cx="4857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D04A3AD-7B54-4BFA-9703-0FA7D398E277}"/>
              </a:ext>
            </a:extLst>
          </p:cNvPr>
          <p:cNvSpPr>
            <a:spLocks xmlns:a="http://schemas.openxmlformats.org/drawingml/2006/main" noGrp="1"/>
          </p:cNvSpPr>
          <p:nvPr/>
        </p:nvSpPr>
        <p:spPr>
          <a:xfrm xmlns:a="http://schemas.openxmlformats.org/drawingml/2006/main">
            <a:off x="6648450" y="21145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F513F"/>
                </a:solidFill>
                <a:latin typeface="Aptos"/>
                <a:ea typeface="Aptos"/>
                <a:cs typeface="Aptos"/>
              </a:defRPr>
            </a:pPr>
            <a:r>
              <a:rPr sz="1725" b="1">
                <a:solidFill>
                  <a:srgbClr val="0F513F"/>
                </a:solidFill>
                <a:latin typeface="Aptos"/>
                <a:ea typeface="Aptos"/>
                <a:cs typeface="Aptos"/>
              </a:rPr>
              <a:t>图表问题</a:t>
            </a:r>
          </a:p>
        </p:txBody>
      </p:sp>
      <p:sp>
        <p:nvSpPr>
          <p:cNvPr id="11" name="">
            <a:extLst xmlns:a="http://schemas.openxmlformats.org/drawingml/2006/main">
              <a:ext uri="{FF2B5EF4-FFF2-40B4-BE49-F238E27FC236}">
                <a16:creationId xmlns:a16="http://schemas.microsoft.com/office/drawing/2014/main" id="{CCFFF186-BC7F-420C-A6FB-23D3F6158AB2}"/>
              </a:ext>
            </a:extLst>
          </p:cNvPr>
          <p:cNvSpPr>
            <a:spLocks xmlns:a="http://schemas.openxmlformats.org/drawingml/2006/main" noGrp="1"/>
          </p:cNvSpPr>
          <p:nvPr/>
        </p:nvSpPr>
        <p:spPr>
          <a:xfrm xmlns:a="http://schemas.openxmlformats.org/drawingml/2006/main">
            <a:off x="6648450" y="2514600"/>
            <a:ext cx="419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C756C"/>
                </a:solidFill>
                <a:latin typeface="Aptos"/>
                <a:ea typeface="Aptos"/>
                <a:cs typeface="Aptos"/>
              </a:defRPr>
            </a:pPr>
            <a:r>
              <a:rPr sz="1350" b="0">
                <a:solidFill>
                  <a:srgbClr val="5C756C"/>
                </a:solidFill>
                <a:latin typeface="Aptos"/>
                <a:ea typeface="Aptos"/>
                <a:cs typeface="Aptos"/>
              </a:rPr>
              <a:t>地图、排行、趋势、热力图、玫瑰图和等级分布互补，避免重复表达。</a:t>
            </a:r>
          </a:p>
        </p:txBody>
      </p:sp>
      <p:sp>
        <p:nvSpPr>
          <p:cNvPr id="12" name="">
            <a:extLst xmlns:a="http://schemas.openxmlformats.org/drawingml/2006/main">
              <a:ext uri="{FF2B5EF4-FFF2-40B4-BE49-F238E27FC236}">
                <a16:creationId xmlns:a16="http://schemas.microsoft.com/office/drawing/2014/main" id="{7C5FFAE0-5D8D-4BAE-BAF6-D6C02D88FE3C}"/>
              </a:ext>
            </a:extLst>
          </p:cNvPr>
          <p:cNvSpPr>
            <a:spLocks xmlns:a="http://schemas.openxmlformats.org/drawingml/2006/main" noGrp="1"/>
          </p:cNvSpPr>
          <p:nvPr/>
        </p:nvSpPr>
        <p:spPr>
          <a:xfrm xmlns:a="http://schemas.openxmlformats.org/drawingml/2006/main">
            <a:off x="723900" y="3886200"/>
            <a:ext cx="4857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FA0202CC-A2DD-4362-A77B-CB5007CB8C24}"/>
              </a:ext>
            </a:extLst>
          </p:cNvPr>
          <p:cNvSpPr>
            <a:spLocks xmlns:a="http://schemas.openxmlformats.org/drawingml/2006/main" noGrp="1"/>
          </p:cNvSpPr>
          <p:nvPr/>
        </p:nvSpPr>
        <p:spPr>
          <a:xfrm xmlns:a="http://schemas.openxmlformats.org/drawingml/2006/main">
            <a:off x="990600" y="41338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F513F"/>
                </a:solidFill>
                <a:latin typeface="Aptos"/>
                <a:ea typeface="Aptos"/>
                <a:cs typeface="Aptos"/>
              </a:defRPr>
            </a:pPr>
            <a:r>
              <a:rPr sz="1725" b="1">
                <a:solidFill>
                  <a:srgbClr val="0F513F"/>
                </a:solidFill>
                <a:latin typeface="Aptos"/>
                <a:ea typeface="Aptos"/>
                <a:cs typeface="Aptos"/>
              </a:rPr>
              <a:t>算法嵌入</a:t>
            </a:r>
          </a:p>
        </p:txBody>
      </p:sp>
      <p:sp>
        <p:nvSpPr>
          <p:cNvPr id="14" name="">
            <a:extLst xmlns:a="http://schemas.openxmlformats.org/drawingml/2006/main">
              <a:ext uri="{FF2B5EF4-FFF2-40B4-BE49-F238E27FC236}">
                <a16:creationId xmlns:a16="http://schemas.microsoft.com/office/drawing/2014/main" id="{BBF1FB4F-E729-4CF2-A89F-F2D9A132C079}"/>
              </a:ext>
            </a:extLst>
          </p:cNvPr>
          <p:cNvSpPr>
            <a:spLocks xmlns:a="http://schemas.openxmlformats.org/drawingml/2006/main" noGrp="1"/>
          </p:cNvSpPr>
          <p:nvPr/>
        </p:nvSpPr>
        <p:spPr>
          <a:xfrm xmlns:a="http://schemas.openxmlformats.org/drawingml/2006/main">
            <a:off x="990600" y="4533900"/>
            <a:ext cx="419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C756C"/>
                </a:solidFill>
                <a:latin typeface="Aptos"/>
                <a:ea typeface="Aptos"/>
                <a:cs typeface="Aptos"/>
              </a:defRPr>
            </a:pPr>
            <a:r>
              <a:rPr sz="1350" b="0">
                <a:solidFill>
                  <a:srgbClr val="5C756C"/>
                </a:solidFill>
                <a:latin typeface="Aptos"/>
                <a:ea typeface="Aptos"/>
                <a:cs typeface="Aptos"/>
              </a:rPr>
              <a:t>用 7 日全国平均 AQI 做线性预测，仅表达短期方向，不作为真实预报。</a:t>
            </a:r>
          </a:p>
        </p:txBody>
      </p:sp>
      <p:sp>
        <p:nvSpPr>
          <p:cNvPr id="15" name="">
            <a:extLst xmlns:a="http://schemas.openxmlformats.org/drawingml/2006/main">
              <a:ext uri="{FF2B5EF4-FFF2-40B4-BE49-F238E27FC236}">
                <a16:creationId xmlns:a16="http://schemas.microsoft.com/office/drawing/2014/main" id="{3816C382-2475-431A-8EBF-6DBF4CDF4BD6}"/>
              </a:ext>
            </a:extLst>
          </p:cNvPr>
          <p:cNvSpPr>
            <a:spLocks xmlns:a="http://schemas.openxmlformats.org/drawingml/2006/main" noGrp="1"/>
          </p:cNvSpPr>
          <p:nvPr/>
        </p:nvSpPr>
        <p:spPr>
          <a:xfrm xmlns:a="http://schemas.openxmlformats.org/drawingml/2006/main">
            <a:off x="6381750" y="3886200"/>
            <a:ext cx="4857750" cy="14287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C391F8CF-6F13-4F62-91D2-88200C932196}"/>
              </a:ext>
            </a:extLst>
          </p:cNvPr>
          <p:cNvSpPr>
            <a:spLocks xmlns:a="http://schemas.openxmlformats.org/drawingml/2006/main" noGrp="1"/>
          </p:cNvSpPr>
          <p:nvPr/>
        </p:nvSpPr>
        <p:spPr>
          <a:xfrm xmlns:a="http://schemas.openxmlformats.org/drawingml/2006/main">
            <a:off x="6648450" y="4133850"/>
            <a:ext cx="171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0F513F"/>
                </a:solidFill>
                <a:latin typeface="Aptos"/>
                <a:ea typeface="Aptos"/>
                <a:cs typeface="Aptos"/>
              </a:defRPr>
            </a:pPr>
            <a:r>
              <a:rPr sz="1725" b="1">
                <a:solidFill>
                  <a:srgbClr val="0F513F"/>
                </a:solidFill>
                <a:latin typeface="Aptos"/>
                <a:ea typeface="Aptos"/>
                <a:cs typeface="Aptos"/>
              </a:rPr>
              <a:t>心得</a:t>
            </a:r>
          </a:p>
        </p:txBody>
      </p:sp>
      <p:sp>
        <p:nvSpPr>
          <p:cNvPr id="17" name="">
            <a:extLst xmlns:a="http://schemas.openxmlformats.org/drawingml/2006/main">
              <a:ext uri="{FF2B5EF4-FFF2-40B4-BE49-F238E27FC236}">
                <a16:creationId xmlns:a16="http://schemas.microsoft.com/office/drawing/2014/main" id="{035EBFF9-648C-49F2-8345-13967836BD59}"/>
              </a:ext>
            </a:extLst>
          </p:cNvPr>
          <p:cNvSpPr>
            <a:spLocks xmlns:a="http://schemas.openxmlformats.org/drawingml/2006/main" noGrp="1"/>
          </p:cNvSpPr>
          <p:nvPr/>
        </p:nvSpPr>
        <p:spPr>
          <a:xfrm xmlns:a="http://schemas.openxmlformats.org/drawingml/2006/main">
            <a:off x="6648450" y="4533900"/>
            <a:ext cx="419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5C756C"/>
                </a:solidFill>
                <a:latin typeface="Aptos"/>
                <a:ea typeface="Aptos"/>
                <a:cs typeface="Aptos"/>
              </a:defRPr>
            </a:pPr>
            <a:r>
              <a:rPr sz="1350" b="0">
                <a:solidFill>
                  <a:srgbClr val="5C756C"/>
                </a:solidFill>
                <a:latin typeface="Aptos"/>
                <a:ea typeface="Aptos"/>
                <a:cs typeface="Aptos"/>
              </a:rPr>
              <a:t>可视化不是堆图，必须让地图定位、排行识别、趋势判断和结论输出形成闭环。</a:t>
            </a:r>
          </a:p>
        </p:txBody>
      </p:sp>
      <p:sp>
        <p:nvSpPr>
          <p:cNvPr id="18" name="">
            <a:extLst xmlns:a="http://schemas.openxmlformats.org/drawingml/2006/main">
              <a:ext uri="{FF2B5EF4-FFF2-40B4-BE49-F238E27FC236}">
                <a16:creationId xmlns:a16="http://schemas.microsoft.com/office/drawing/2014/main" id="{3A629D8E-92D3-4681-8F74-CA654290DF76}"/>
              </a:ext>
            </a:extLst>
          </p:cNvPr>
          <p:cNvSpPr>
            <a:spLocks xmlns:a="http://schemas.openxmlformats.org/drawingml/2006/main" noGrp="1"/>
          </p:cNvSpPr>
          <p:nvPr/>
        </p:nvSpPr>
        <p:spPr>
          <a:xfrm xmlns:a="http://schemas.openxmlformats.org/drawingml/2006/main">
            <a:off x="609600" y="64960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C756C"/>
                </a:solidFill>
                <a:latin typeface="Aptos"/>
                <a:ea typeface="Aptos"/>
                <a:cs typeface="Aptos"/>
              </a:defRPr>
            </a:pPr>
            <a:r>
              <a:rPr sz="825" b="0">
                <a:solidFill>
                  <a:srgbClr val="5C756C"/>
                </a:solidFill>
                <a:latin typeface="Aptos"/>
                <a:ea typeface="Aptos"/>
                <a:cs typeface="Aptos"/>
              </a:rPr>
              <a:t>数据来源：quotsoft 中国空气质量历史数据；权威说明：生态环境部城市空气质量状况月报</a:t>
            </a:r>
          </a:p>
        </p:txBody>
      </p:sp>
      <p:sp>
        <p:nvSpPr>
          <p:cNvPr id="19" name="">
            <a:extLst xmlns:a="http://schemas.openxmlformats.org/drawingml/2006/main">
              <a:ext uri="{FF2B5EF4-FFF2-40B4-BE49-F238E27FC236}">
                <a16:creationId xmlns:a16="http://schemas.microsoft.com/office/drawing/2014/main" id="{E9C22B8E-E562-404A-9593-53625C8F9625}"/>
              </a:ext>
            </a:extLst>
          </p:cNvPr>
          <p:cNvSpPr>
            <a:spLocks xmlns:a="http://schemas.openxmlformats.org/drawingml/2006/main" noGrp="1"/>
          </p:cNvSpPr>
          <p:nvPr/>
        </p:nvSpPr>
        <p:spPr>
          <a:xfrm xmlns:a="http://schemas.openxmlformats.org/drawingml/2006/main">
            <a:off x="11125200" y="6419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0F8F68"/>
                </a:solidFill>
                <a:latin typeface="Aptos Display"/>
                <a:ea typeface="Aptos Display"/>
                <a:cs typeface="Aptos Display"/>
              </a:defRPr>
            </a:pPr>
            <a:r>
              <a:rPr sz="1350" b="1">
                <a:solidFill>
                  <a:srgbClr val="0F8F68"/>
                </a:solidFill>
                <a:latin typeface="Aptos Display"/>
                <a:ea typeface="Aptos Display"/>
                <a:cs typeface="Aptos Display"/>
              </a:rPr>
              <a:t>04</a:t>
            </a:r>
          </a:p>
        </p:txBody>
      </p:sp>
    </p:spTree>
    <p:extLst>
      <p:ext uri="{BB962C8B-B14F-4D97-AF65-F5344CB8AC3E}">
        <p14:creationId xmlns:p14="http://schemas.microsoft.com/office/powerpoint/2010/main" val="1389657835"/>
      </p:ext>
    </p:extLst>
  </p:cSld>
</p:sld>
</file>

<file path=ppt/slides/slide5.xml><?xml version="1.0" encoding="utf-8"?>
<p:sld xmlns:p="http://schemas.openxmlformats.org/presentationml/2006/main">
  <p:cSld>
    <p:bg>
      <p:bgPr>
        <a:solidFill xmlns:a="http://schemas.openxmlformats.org/drawingml/2006/main">
          <a:srgbClr val="F4FBF3"/>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DC262207-02C6-4F32-88A0-46360A47EDFB}"/>
              </a:ext>
            </a:extLst>
          </p:cNvPr>
          <p:cNvSpPr>
            <a:spLocks xmlns:a="http://schemas.openxmlformats.org/drawingml/2006/main" noGrp="1"/>
          </p:cNvSpPr>
          <p:nvPr/>
        </p:nvSpPr>
        <p:spPr>
          <a:xfrm xmlns:a="http://schemas.openxmlformats.org/drawingml/2006/main">
            <a:off x="-666750" y="-857250"/>
            <a:ext cx="2571750" cy="2571750"/>
          </a:xfrm>
          <a:prstGeom xmlns:a="http://schemas.openxmlformats.org/drawingml/2006/main" prst="ellipse">
            <a:avLst/>
          </a:prstGeom>
          <a:solidFill xmlns:a="http://schemas.openxmlformats.org/drawingml/2006/main">
            <a:srgbClr val="CDEDD8"/>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B24789-7BCE-4437-842A-0F0140CFC36E}"/>
              </a:ext>
            </a:extLst>
          </p:cNvPr>
          <p:cNvSpPr>
            <a:spLocks xmlns:a="http://schemas.openxmlformats.org/drawingml/2006/main" noGrp="1"/>
          </p:cNvSpPr>
          <p:nvPr/>
        </p:nvSpPr>
        <p:spPr>
          <a:xfrm xmlns:a="http://schemas.openxmlformats.org/drawingml/2006/main">
            <a:off x="9810750" y="-762000"/>
            <a:ext cx="2857500" cy="2857500"/>
          </a:xfrm>
          <a:prstGeom xmlns:a="http://schemas.openxmlformats.org/drawingml/2006/main" prst="ellipse">
            <a:avLst/>
          </a:prstGeom>
          <a:solidFill xmlns:a="http://schemas.openxmlformats.org/drawingml/2006/main">
            <a:srgbClr val="F6E7B7"/>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208178B-7FE9-4CC8-9497-1065B3D3A2F4}"/>
              </a:ext>
            </a:extLst>
          </p:cNvPr>
          <p:cNvSpPr>
            <a:spLocks xmlns:a="http://schemas.openxmlformats.org/drawingml/2006/main" noGrp="1"/>
          </p:cNvSpPr>
          <p:nvPr/>
        </p:nvSpPr>
        <p:spPr>
          <a:xfrm xmlns:a="http://schemas.openxmlformats.org/drawingml/2006/main">
            <a:off x="609600" y="457200"/>
            <a:ext cx="666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0F8F68"/>
                </a:solidFill>
                <a:latin typeface="Aptos Display"/>
                <a:ea typeface="Aptos Display"/>
                <a:cs typeface="Aptos Display"/>
              </a:defRPr>
            </a:pPr>
            <a:r>
              <a:rPr sz="975" b="1">
                <a:solidFill>
                  <a:srgbClr val="0F8F68"/>
                </a:solidFill>
                <a:latin typeface="Aptos Display"/>
                <a:ea typeface="Aptos Display"/>
                <a:cs typeface="Aptos Display"/>
              </a:rPr>
              <a:t>AI INTERACTION</a:t>
            </a:r>
          </a:p>
        </p:txBody>
      </p:sp>
      <p:sp>
        <p:nvSpPr>
          <p:cNvPr id="4" name="">
            <a:extLst xmlns:a="http://schemas.openxmlformats.org/drawingml/2006/main">
              <a:ext uri="{FF2B5EF4-FFF2-40B4-BE49-F238E27FC236}">
                <a16:creationId xmlns:a16="http://schemas.microsoft.com/office/drawing/2014/main" id="{46A98EC4-47E6-40A6-B5D8-53D3F5BA0A54}"/>
              </a:ext>
            </a:extLst>
          </p:cNvPr>
          <p:cNvSpPr>
            <a:spLocks xmlns:a="http://schemas.openxmlformats.org/drawingml/2006/main" noGrp="1"/>
          </p:cNvSpPr>
          <p:nvPr/>
        </p:nvSpPr>
        <p:spPr>
          <a:xfrm xmlns:a="http://schemas.openxmlformats.org/drawingml/2006/main">
            <a:off x="609600" y="800100"/>
            <a:ext cx="8382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F513F"/>
                </a:solidFill>
                <a:latin typeface="Aptos Display"/>
                <a:ea typeface="Aptos Display"/>
                <a:cs typeface="Aptos Display"/>
              </a:defRPr>
            </a:pPr>
            <a:r>
              <a:rPr sz="2850" b="1">
                <a:solidFill>
                  <a:srgbClr val="0F513F"/>
                </a:solidFill>
                <a:latin typeface="Aptos Display"/>
                <a:ea typeface="Aptos Display"/>
                <a:cs typeface="Aptos Display"/>
              </a:rPr>
              <a:t>AI 交互记录与提问重点</a:t>
            </a:r>
          </a:p>
        </p:txBody>
      </p:sp>
      <p:sp>
        <p:nvSpPr>
          <p:cNvPr id="5" name="">
            <a:extLst xmlns:a="http://schemas.openxmlformats.org/drawingml/2006/main">
              <a:ext uri="{FF2B5EF4-FFF2-40B4-BE49-F238E27FC236}">
                <a16:creationId xmlns:a16="http://schemas.microsoft.com/office/drawing/2014/main" id="{A16BCD68-FF38-4377-890C-D00F36344E2B}"/>
              </a:ext>
            </a:extLst>
          </p:cNvPr>
          <p:cNvSpPr>
            <a:spLocks xmlns:a="http://schemas.openxmlformats.org/drawingml/2006/main" noGrp="1"/>
          </p:cNvSpPr>
          <p:nvPr/>
        </p:nvSpPr>
        <p:spPr>
          <a:xfrm xmlns:a="http://schemas.openxmlformats.org/drawingml/2006/main">
            <a:off x="628650" y="1371600"/>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0">
                <a:solidFill>
                  <a:srgbClr val="5C756C"/>
                </a:solidFill>
                <a:latin typeface="Aptos"/>
                <a:ea typeface="Aptos"/>
                <a:cs typeface="Aptos"/>
              </a:defRPr>
            </a:pPr>
            <a:r>
              <a:rPr sz="1125" b="0">
                <a:solidFill>
                  <a:srgbClr val="5C756C"/>
                </a:solidFill>
                <a:latin typeface="Aptos"/>
                <a:ea typeface="Aptos"/>
                <a:cs typeface="Aptos"/>
              </a:rPr>
              <a:t>核心交互超过 8 次，围绕主题、数据源、视觉、交付物、周期和实现验证逐步收敛。</a:t>
            </a:r>
          </a:p>
        </p:txBody>
      </p:sp>
      <p:sp>
        <p:nvSpPr>
          <p:cNvPr id="6" name="">
            <a:extLst xmlns:a="http://schemas.openxmlformats.org/drawingml/2006/main">
              <a:ext uri="{FF2B5EF4-FFF2-40B4-BE49-F238E27FC236}">
                <a16:creationId xmlns:a16="http://schemas.microsoft.com/office/drawing/2014/main" id="{0B70315D-9534-4A8D-BA01-1065A3E03707}"/>
              </a:ext>
            </a:extLst>
          </p:cNvPr>
          <p:cNvSpPr>
            <a:spLocks xmlns:a="http://schemas.openxmlformats.org/drawingml/2006/main" noGrp="1"/>
          </p:cNvSpPr>
          <p:nvPr/>
        </p:nvSpPr>
        <p:spPr>
          <a:xfrm xmlns:a="http://schemas.openxmlformats.org/drawingml/2006/main">
            <a:off x="666750" y="1790700"/>
            <a:ext cx="50482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BEF8E070-9C49-424A-87BE-D17186904003}"/>
              </a:ext>
            </a:extLst>
          </p:cNvPr>
          <p:cNvSpPr>
            <a:spLocks xmlns:a="http://schemas.openxmlformats.org/drawingml/2006/main" noGrp="1"/>
          </p:cNvSpPr>
          <p:nvPr/>
        </p:nvSpPr>
        <p:spPr>
          <a:xfrm xmlns:a="http://schemas.openxmlformats.org/drawingml/2006/main">
            <a:off x="2705100" y="2038350"/>
            <a:ext cx="2571750" cy="400050"/>
          </a:xfrm>
          <a:prstGeom xmlns:a="http://schemas.openxmlformats.org/drawingml/2006/main" prst="roundRect">
            <a:avLst>
              <a:gd name="adj" fmla="val 28571"/>
            </a:avLst>
          </a:prstGeom>
          <a:solidFill xmlns:a="http://schemas.openxmlformats.org/drawingml/2006/main">
            <a:srgbClr val="DCF7EA"/>
          </a:solidFill>
          <a:ln xmlns:a="http://schemas.openxmlformats.org/drawingml/2006/main" w="9525">
            <a:solidFill>
              <a:srgbClr val="93DAB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8" name="">
            <a:extLst xmlns:a="http://schemas.openxmlformats.org/drawingml/2006/main">
              <a:ext uri="{FF2B5EF4-FFF2-40B4-BE49-F238E27FC236}">
                <a16:creationId xmlns:a16="http://schemas.microsoft.com/office/drawing/2014/main" id="{03552D7D-DE3C-4866-B209-290A75F81EFF}"/>
              </a:ext>
            </a:extLst>
          </p:cNvPr>
          <p:cNvSpPr>
            <a:spLocks xmlns:a="http://schemas.openxmlformats.org/drawingml/2006/main" noGrp="1"/>
          </p:cNvSpPr>
          <p:nvPr/>
        </p:nvSpPr>
        <p:spPr>
          <a:xfrm xmlns:a="http://schemas.openxmlformats.org/drawingml/2006/main">
            <a:off x="2895600" y="212407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8352D"/>
                </a:solidFill>
                <a:latin typeface="Aptos"/>
                <a:ea typeface="Aptos"/>
                <a:cs typeface="Aptos"/>
              </a:defRPr>
            </a:pPr>
            <a:r>
              <a:rPr sz="975" b="0">
                <a:solidFill>
                  <a:srgbClr val="18352D"/>
                </a:solidFill>
                <a:latin typeface="Aptos"/>
                <a:ea typeface="Aptos"/>
                <a:cs typeface="Aptos"/>
              </a:rPr>
              <a:t>我：我打算做项目一</a:t>
            </a:r>
          </a:p>
        </p:txBody>
      </p:sp>
      <p:sp>
        <p:nvSpPr>
          <p:cNvPr id="9" name="">
            <a:extLst xmlns:a="http://schemas.openxmlformats.org/drawingml/2006/main">
              <a:ext uri="{FF2B5EF4-FFF2-40B4-BE49-F238E27FC236}">
                <a16:creationId xmlns:a16="http://schemas.microsoft.com/office/drawing/2014/main" id="{D864D836-2665-4DB5-B446-F92BDC91DF42}"/>
              </a:ext>
            </a:extLst>
          </p:cNvPr>
          <p:cNvSpPr>
            <a:spLocks xmlns:a="http://schemas.openxmlformats.org/drawingml/2006/main" noGrp="1"/>
          </p:cNvSpPr>
          <p:nvPr/>
        </p:nvSpPr>
        <p:spPr>
          <a:xfrm xmlns:a="http://schemas.openxmlformats.org/drawingml/2006/main">
            <a:off x="971550" y="2590800"/>
            <a:ext cx="2571750" cy="400050"/>
          </a:xfrm>
          <a:prstGeom xmlns:a="http://schemas.openxmlformats.org/drawingml/2006/main" prst="roundRect">
            <a:avLst>
              <a:gd name="adj" fmla="val 28571"/>
            </a:avLst>
          </a:prstGeom>
          <a:solidFill xmlns:a="http://schemas.openxmlformats.org/drawingml/2006/main">
            <a:srgbClr val="F2F6EF"/>
          </a:solidFill>
          <a:ln xmlns:a="http://schemas.openxmlformats.org/drawingml/2006/main" w="9525">
            <a:solidFill>
              <a:srgbClr val="CFDD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520C64BE-E86F-45D7-BB50-3ED8FD1EA9AB}"/>
              </a:ext>
            </a:extLst>
          </p:cNvPr>
          <p:cNvSpPr>
            <a:spLocks xmlns:a="http://schemas.openxmlformats.org/drawingml/2006/main" noGrp="1"/>
          </p:cNvSpPr>
          <p:nvPr/>
        </p:nvSpPr>
        <p:spPr>
          <a:xfrm xmlns:a="http://schemas.openxmlformats.org/drawingml/2006/main">
            <a:off x="1162050" y="26765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8352D"/>
                </a:solidFill>
                <a:latin typeface="Aptos"/>
                <a:ea typeface="Aptos"/>
                <a:cs typeface="Aptos"/>
              </a:defRPr>
            </a:pPr>
            <a:r>
              <a:rPr sz="975" b="0">
                <a:solidFill>
                  <a:srgbClr val="18352D"/>
                </a:solidFill>
                <a:latin typeface="Aptos"/>
                <a:ea typeface="Aptos"/>
                <a:cs typeface="Aptos"/>
              </a:rPr>
              <a:t>AI：建议聚焦全国空气质量，复用现有 React + Flask 大屏框架。</a:t>
            </a:r>
          </a:p>
        </p:txBody>
      </p:sp>
      <p:sp>
        <p:nvSpPr>
          <p:cNvPr id="11" name="">
            <a:extLst xmlns:a="http://schemas.openxmlformats.org/drawingml/2006/main">
              <a:ext uri="{FF2B5EF4-FFF2-40B4-BE49-F238E27FC236}">
                <a16:creationId xmlns:a16="http://schemas.microsoft.com/office/drawing/2014/main" id="{6CBED8B6-135D-4EDD-B662-CFC443864F49}"/>
              </a:ext>
            </a:extLst>
          </p:cNvPr>
          <p:cNvSpPr>
            <a:spLocks xmlns:a="http://schemas.openxmlformats.org/drawingml/2006/main" noGrp="1"/>
          </p:cNvSpPr>
          <p:nvPr/>
        </p:nvSpPr>
        <p:spPr>
          <a:xfrm xmlns:a="http://schemas.openxmlformats.org/drawingml/2006/main">
            <a:off x="2705100" y="3143250"/>
            <a:ext cx="2571750" cy="400050"/>
          </a:xfrm>
          <a:prstGeom xmlns:a="http://schemas.openxmlformats.org/drawingml/2006/main" prst="roundRect">
            <a:avLst>
              <a:gd name="adj" fmla="val 28571"/>
            </a:avLst>
          </a:prstGeom>
          <a:solidFill xmlns:a="http://schemas.openxmlformats.org/drawingml/2006/main">
            <a:srgbClr val="DCF7EA"/>
          </a:solidFill>
          <a:ln xmlns:a="http://schemas.openxmlformats.org/drawingml/2006/main" w="9525">
            <a:solidFill>
              <a:srgbClr val="93DAB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C2750B39-6AC9-47D5-9A57-4FC8642F6272}"/>
              </a:ext>
            </a:extLst>
          </p:cNvPr>
          <p:cNvSpPr>
            <a:spLocks xmlns:a="http://schemas.openxmlformats.org/drawingml/2006/main" noGrp="1"/>
          </p:cNvSpPr>
          <p:nvPr/>
        </p:nvSpPr>
        <p:spPr>
          <a:xfrm xmlns:a="http://schemas.openxmlformats.org/drawingml/2006/main">
            <a:off x="2895600" y="322897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8352D"/>
                </a:solidFill>
                <a:latin typeface="Aptos"/>
                <a:ea typeface="Aptos"/>
                <a:cs typeface="Aptos"/>
              </a:defRPr>
            </a:pPr>
            <a:r>
              <a:rPr sz="975" b="0">
                <a:solidFill>
                  <a:srgbClr val="18352D"/>
                </a:solidFill>
                <a:latin typeface="Aptos"/>
                <a:ea typeface="Aptos"/>
                <a:cs typeface="Aptos"/>
              </a:rPr>
              <a:t>我：用计划模式继续吧</a:t>
            </a:r>
          </a:p>
        </p:txBody>
      </p:sp>
      <p:sp>
        <p:nvSpPr>
          <p:cNvPr id="13" name="">
            <a:extLst xmlns:a="http://schemas.openxmlformats.org/drawingml/2006/main">
              <a:ext uri="{FF2B5EF4-FFF2-40B4-BE49-F238E27FC236}">
                <a16:creationId xmlns:a16="http://schemas.microsoft.com/office/drawing/2014/main" id="{3593D055-1FC5-448B-B57E-56FB93021566}"/>
              </a:ext>
            </a:extLst>
          </p:cNvPr>
          <p:cNvSpPr>
            <a:spLocks xmlns:a="http://schemas.openxmlformats.org/drawingml/2006/main" noGrp="1"/>
          </p:cNvSpPr>
          <p:nvPr/>
        </p:nvSpPr>
        <p:spPr>
          <a:xfrm xmlns:a="http://schemas.openxmlformats.org/drawingml/2006/main">
            <a:off x="971550" y="3695700"/>
            <a:ext cx="2571750" cy="400050"/>
          </a:xfrm>
          <a:prstGeom xmlns:a="http://schemas.openxmlformats.org/drawingml/2006/main" prst="roundRect">
            <a:avLst>
              <a:gd name="adj" fmla="val 28571"/>
            </a:avLst>
          </a:prstGeom>
          <a:solidFill xmlns:a="http://schemas.openxmlformats.org/drawingml/2006/main">
            <a:srgbClr val="F2F6EF"/>
          </a:solidFill>
          <a:ln xmlns:a="http://schemas.openxmlformats.org/drawingml/2006/main" w="9525">
            <a:solidFill>
              <a:srgbClr val="CFDD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12FFF0D4-12BD-46BB-8A1D-F8E33256AE3F}"/>
              </a:ext>
            </a:extLst>
          </p:cNvPr>
          <p:cNvSpPr>
            <a:spLocks xmlns:a="http://schemas.openxmlformats.org/drawingml/2006/main" noGrp="1"/>
          </p:cNvSpPr>
          <p:nvPr/>
        </p:nvSpPr>
        <p:spPr>
          <a:xfrm xmlns:a="http://schemas.openxmlformats.org/drawingml/2006/main">
            <a:off x="1162050" y="37814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8352D"/>
                </a:solidFill>
                <a:latin typeface="Aptos"/>
                <a:ea typeface="Aptos"/>
                <a:cs typeface="Aptos"/>
              </a:defRPr>
            </a:pPr>
            <a:r>
              <a:rPr sz="975" b="0">
                <a:solidFill>
                  <a:srgbClr val="18352D"/>
                </a:solidFill>
                <a:latin typeface="Aptos"/>
                <a:ea typeface="Aptos"/>
                <a:cs typeface="Aptos"/>
              </a:rPr>
              <a:t>AI：确认单页大屏、历史 CSV、生态绿白风、网页+PPT+代码交付。</a:t>
            </a:r>
          </a:p>
        </p:txBody>
      </p:sp>
      <p:sp>
        <p:nvSpPr>
          <p:cNvPr id="15" name="">
            <a:extLst xmlns:a="http://schemas.openxmlformats.org/drawingml/2006/main">
              <a:ext uri="{FF2B5EF4-FFF2-40B4-BE49-F238E27FC236}">
                <a16:creationId xmlns:a16="http://schemas.microsoft.com/office/drawing/2014/main" id="{A4C57F4B-D7C6-4328-B807-349A8A7F0F6B}"/>
              </a:ext>
            </a:extLst>
          </p:cNvPr>
          <p:cNvSpPr>
            <a:spLocks xmlns:a="http://schemas.openxmlformats.org/drawingml/2006/main" noGrp="1"/>
          </p:cNvSpPr>
          <p:nvPr/>
        </p:nvSpPr>
        <p:spPr>
          <a:xfrm xmlns:a="http://schemas.openxmlformats.org/drawingml/2006/main">
            <a:off x="2705100" y="4248150"/>
            <a:ext cx="2571750" cy="400050"/>
          </a:xfrm>
          <a:prstGeom xmlns:a="http://schemas.openxmlformats.org/drawingml/2006/main" prst="roundRect">
            <a:avLst>
              <a:gd name="adj" fmla="val 28571"/>
            </a:avLst>
          </a:prstGeom>
          <a:solidFill xmlns:a="http://schemas.openxmlformats.org/drawingml/2006/main">
            <a:srgbClr val="DCF7EA"/>
          </a:solidFill>
          <a:ln xmlns:a="http://schemas.openxmlformats.org/drawingml/2006/main" w="9525">
            <a:solidFill>
              <a:srgbClr val="93DAB6"/>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6" name="">
            <a:extLst xmlns:a="http://schemas.openxmlformats.org/drawingml/2006/main">
              <a:ext uri="{FF2B5EF4-FFF2-40B4-BE49-F238E27FC236}">
                <a16:creationId xmlns:a16="http://schemas.microsoft.com/office/drawing/2014/main" id="{608A565E-E23A-4349-839A-472435131B44}"/>
              </a:ext>
            </a:extLst>
          </p:cNvPr>
          <p:cNvSpPr>
            <a:spLocks xmlns:a="http://schemas.openxmlformats.org/drawingml/2006/main" noGrp="1"/>
          </p:cNvSpPr>
          <p:nvPr/>
        </p:nvSpPr>
        <p:spPr>
          <a:xfrm xmlns:a="http://schemas.openxmlformats.org/drawingml/2006/main">
            <a:off x="2895600" y="433387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8352D"/>
                </a:solidFill>
                <a:latin typeface="Aptos"/>
                <a:ea typeface="Aptos"/>
                <a:cs typeface="Aptos"/>
              </a:defRPr>
            </a:pPr>
            <a:r>
              <a:rPr sz="975" b="0">
                <a:solidFill>
                  <a:srgbClr val="18352D"/>
                </a:solidFill>
                <a:latin typeface="Aptos"/>
                <a:ea typeface="Aptos"/>
                <a:cs typeface="Aptos"/>
              </a:rPr>
              <a:t>我：PPT增加分组，其他人分轻松任务。</a:t>
            </a:r>
          </a:p>
        </p:txBody>
      </p:sp>
      <p:sp>
        <p:nvSpPr>
          <p:cNvPr id="17" name="">
            <a:extLst xmlns:a="http://schemas.openxmlformats.org/drawingml/2006/main">
              <a:ext uri="{FF2B5EF4-FFF2-40B4-BE49-F238E27FC236}">
                <a16:creationId xmlns:a16="http://schemas.microsoft.com/office/drawing/2014/main" id="{673E8AB6-3064-4CA5-AFC7-C2B8A1ECA783}"/>
              </a:ext>
            </a:extLst>
          </p:cNvPr>
          <p:cNvSpPr>
            <a:spLocks xmlns:a="http://schemas.openxmlformats.org/drawingml/2006/main" noGrp="1"/>
          </p:cNvSpPr>
          <p:nvPr/>
        </p:nvSpPr>
        <p:spPr>
          <a:xfrm xmlns:a="http://schemas.openxmlformats.org/drawingml/2006/main">
            <a:off x="971550" y="4800600"/>
            <a:ext cx="2571750" cy="400050"/>
          </a:xfrm>
          <a:prstGeom xmlns:a="http://schemas.openxmlformats.org/drawingml/2006/main" prst="roundRect">
            <a:avLst>
              <a:gd name="adj" fmla="val 28571"/>
            </a:avLst>
          </a:prstGeom>
          <a:solidFill xmlns:a="http://schemas.openxmlformats.org/drawingml/2006/main">
            <a:srgbClr val="F2F6EF"/>
          </a:solidFill>
          <a:ln xmlns:a="http://schemas.openxmlformats.org/drawingml/2006/main" w="9525">
            <a:solidFill>
              <a:srgbClr val="CFDDCF"/>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5AA3FA37-7E95-4F1F-83E6-4A39D8DE201D}"/>
              </a:ext>
            </a:extLst>
          </p:cNvPr>
          <p:cNvSpPr>
            <a:spLocks xmlns:a="http://schemas.openxmlformats.org/drawingml/2006/main" noGrp="1"/>
          </p:cNvSpPr>
          <p:nvPr/>
        </p:nvSpPr>
        <p:spPr>
          <a:xfrm xmlns:a="http://schemas.openxmlformats.org/drawingml/2006/main">
            <a:off x="1162050" y="4886325"/>
            <a:ext cx="2209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18352D"/>
                </a:solidFill>
                <a:latin typeface="Aptos"/>
                <a:ea typeface="Aptos"/>
                <a:cs typeface="Aptos"/>
              </a:defRPr>
            </a:pPr>
            <a:r>
              <a:rPr sz="975" b="0">
                <a:solidFill>
                  <a:srgbClr val="18352D"/>
                </a:solidFill>
                <a:latin typeface="Aptos"/>
                <a:ea typeface="Aptos"/>
                <a:cs typeface="Aptos"/>
              </a:rPr>
              <a:t>AI：封面加入第5组分工：核心开发、资料、截图、测试记录。</a:t>
            </a:r>
          </a:p>
        </p:txBody>
      </p:sp>
      <p:sp>
        <p:nvSpPr>
          <p:cNvPr id="19" name="">
            <a:extLst xmlns:a="http://schemas.openxmlformats.org/drawingml/2006/main">
              <a:ext uri="{FF2B5EF4-FFF2-40B4-BE49-F238E27FC236}">
                <a16:creationId xmlns:a16="http://schemas.microsoft.com/office/drawing/2014/main" id="{FE1D4D17-DB17-4EF5-90CB-F3A3E0AD37FE}"/>
              </a:ext>
            </a:extLst>
          </p:cNvPr>
          <p:cNvSpPr>
            <a:spLocks xmlns:a="http://schemas.openxmlformats.org/drawingml/2006/main" noGrp="1"/>
          </p:cNvSpPr>
          <p:nvPr/>
        </p:nvSpPr>
        <p:spPr>
          <a:xfrm xmlns:a="http://schemas.openxmlformats.org/drawingml/2006/main">
            <a:off x="6381750" y="1790700"/>
            <a:ext cx="4762500" cy="3905250"/>
          </a:xfrm>
          <a:prstGeom xmlns:a="http://schemas.openxmlformats.org/drawingml/2006/main" prst="roundRect">
            <a:avLst>
              <a:gd name="adj" fmla="val 2927"/>
            </a:avLst>
          </a:prstGeom>
          <a:solidFill xmlns:a="http://schemas.openxmlformats.org/drawingml/2006/main">
            <a:srgbClr val="E7F5E8"/>
          </a:solidFill>
          <a:ln xmlns:a="http://schemas.openxmlformats.org/drawingml/2006/main" w="9525">
            <a:solidFill>
              <a:srgbClr val="BBD7C9"/>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5C0E26A3-3711-4FDB-B85A-719888488743}"/>
              </a:ext>
            </a:extLst>
          </p:cNvPr>
          <p:cNvSpPr>
            <a:spLocks xmlns:a="http://schemas.openxmlformats.org/drawingml/2006/main" noGrp="1"/>
          </p:cNvSpPr>
          <p:nvPr/>
        </p:nvSpPr>
        <p:spPr>
          <a:xfrm xmlns:a="http://schemas.openxmlformats.org/drawingml/2006/main">
            <a:off x="6724650" y="2133600"/>
            <a:ext cx="190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F513F"/>
                </a:solidFill>
                <a:latin typeface="Aptos"/>
                <a:ea typeface="Aptos"/>
                <a:cs typeface="Aptos"/>
              </a:defRPr>
            </a:pPr>
            <a:r>
              <a:rPr sz="1950" b="1">
                <a:solidFill>
                  <a:srgbClr val="0F513F"/>
                </a:solidFill>
                <a:latin typeface="Aptos"/>
                <a:ea typeface="Aptos"/>
                <a:cs typeface="Aptos"/>
              </a:rPr>
              <a:t>提问重点</a:t>
            </a:r>
          </a:p>
        </p:txBody>
      </p:sp>
      <p:sp>
        <p:nvSpPr>
          <p:cNvPr id="21" name="">
            <a:extLst xmlns:a="http://schemas.openxmlformats.org/drawingml/2006/main">
              <a:ext uri="{FF2B5EF4-FFF2-40B4-BE49-F238E27FC236}">
                <a16:creationId xmlns:a16="http://schemas.microsoft.com/office/drawing/2014/main" id="{9880251D-48BF-4857-B9AE-DE7BA14394C4}"/>
              </a:ext>
            </a:extLst>
          </p:cNvPr>
          <p:cNvSpPr>
            <a:spLocks xmlns:a="http://schemas.openxmlformats.org/drawingml/2006/main" noGrp="1"/>
          </p:cNvSpPr>
          <p:nvPr/>
        </p:nvSpPr>
        <p:spPr>
          <a:xfrm xmlns:a="http://schemas.openxmlformats.org/drawingml/2006/main">
            <a:off x="6762750" y="2781300"/>
            <a:ext cx="95250" cy="95250"/>
          </a:xfrm>
          <a:prstGeom xmlns:a="http://schemas.openxmlformats.org/drawingml/2006/main" prst="ellipse">
            <a:avLst/>
          </a:prstGeom>
          <a:solidFill xmlns:a="http://schemas.openxmlformats.org/drawingml/2006/main">
            <a:srgbClr val="0F8F68"/>
          </a:solidFill>
          <a:ln xmlns:a="http://schemas.openxmlformats.org/drawingml/2006/main" w="0">
            <a:solidFill>
              <a:srgbClr val="0F8F68"/>
            </a:solidFill>
            <a:prstDash val="solid"/>
          </a:ln>
        </p:spPr>
      </p:sp>
      <p:sp>
        <p:nvSpPr>
          <p:cNvPr id="22" name="">
            <a:extLst xmlns:a="http://schemas.openxmlformats.org/drawingml/2006/main">
              <a:ext uri="{FF2B5EF4-FFF2-40B4-BE49-F238E27FC236}">
                <a16:creationId xmlns:a16="http://schemas.microsoft.com/office/drawing/2014/main" id="{B2C3DE8F-19A9-483A-B212-FA08041F3D14}"/>
              </a:ext>
            </a:extLst>
          </p:cNvPr>
          <p:cNvSpPr>
            <a:spLocks xmlns:a="http://schemas.openxmlformats.org/drawingml/2006/main" noGrp="1"/>
          </p:cNvSpPr>
          <p:nvPr/>
        </p:nvSpPr>
        <p:spPr>
          <a:xfrm xmlns:a="http://schemas.openxmlformats.org/drawingml/2006/main">
            <a:off x="6991350" y="2705100"/>
            <a:ext cx="3543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8352D"/>
                </a:solidFill>
                <a:latin typeface="Aptos"/>
                <a:ea typeface="Aptos"/>
                <a:cs typeface="Aptos"/>
              </a:defRPr>
            </a:pPr>
            <a:r>
              <a:rPr sz="1500" b="0">
                <a:solidFill>
                  <a:srgbClr val="18352D"/>
                </a:solidFill>
                <a:latin typeface="Aptos"/>
                <a:ea typeface="Aptos"/>
                <a:cs typeface="Aptos"/>
              </a:rPr>
              <a:t>需求分析：选题、作品形态、交付范围</a:t>
            </a:r>
          </a:p>
        </p:txBody>
      </p:sp>
      <p:sp>
        <p:nvSpPr>
          <p:cNvPr id="23" name="">
            <a:extLst xmlns:a="http://schemas.openxmlformats.org/drawingml/2006/main">
              <a:ext uri="{FF2B5EF4-FFF2-40B4-BE49-F238E27FC236}">
                <a16:creationId xmlns:a16="http://schemas.microsoft.com/office/drawing/2014/main" id="{3F6AB437-0E30-4E34-944B-B26BD1C42B5A}"/>
              </a:ext>
            </a:extLst>
          </p:cNvPr>
          <p:cNvSpPr>
            <a:spLocks xmlns:a="http://schemas.openxmlformats.org/drawingml/2006/main" noGrp="1"/>
          </p:cNvSpPr>
          <p:nvPr/>
        </p:nvSpPr>
        <p:spPr>
          <a:xfrm xmlns:a="http://schemas.openxmlformats.org/drawingml/2006/main">
            <a:off x="6762750" y="3333750"/>
            <a:ext cx="95250" cy="95250"/>
          </a:xfrm>
          <a:prstGeom xmlns:a="http://schemas.openxmlformats.org/drawingml/2006/main" prst="ellipse">
            <a:avLst/>
          </a:prstGeom>
          <a:solidFill xmlns:a="http://schemas.openxmlformats.org/drawingml/2006/main">
            <a:srgbClr val="0F8F68"/>
          </a:solidFill>
          <a:ln xmlns:a="http://schemas.openxmlformats.org/drawingml/2006/main" w="0">
            <a:solidFill>
              <a:srgbClr val="0F8F68"/>
            </a:solidFill>
            <a:prstDash val="solid"/>
          </a:ln>
        </p:spPr>
      </p:sp>
      <p:sp>
        <p:nvSpPr>
          <p:cNvPr id="24" name="">
            <a:extLst xmlns:a="http://schemas.openxmlformats.org/drawingml/2006/main">
              <a:ext uri="{FF2B5EF4-FFF2-40B4-BE49-F238E27FC236}">
                <a16:creationId xmlns:a16="http://schemas.microsoft.com/office/drawing/2014/main" id="{90F4EBE7-787B-48FA-A34D-7F9E916D50F4}"/>
              </a:ext>
            </a:extLst>
          </p:cNvPr>
          <p:cNvSpPr>
            <a:spLocks xmlns:a="http://schemas.openxmlformats.org/drawingml/2006/main" noGrp="1"/>
          </p:cNvSpPr>
          <p:nvPr/>
        </p:nvSpPr>
        <p:spPr>
          <a:xfrm xmlns:a="http://schemas.openxmlformats.org/drawingml/2006/main">
            <a:off x="6991350" y="3257550"/>
            <a:ext cx="3543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8352D"/>
                </a:solidFill>
                <a:latin typeface="Aptos"/>
                <a:ea typeface="Aptos"/>
                <a:cs typeface="Aptos"/>
              </a:defRPr>
            </a:pPr>
            <a:r>
              <a:rPr sz="1500" b="0">
                <a:solidFill>
                  <a:srgbClr val="18352D"/>
                </a:solidFill>
                <a:latin typeface="Aptos"/>
                <a:ea typeface="Aptos"/>
                <a:cs typeface="Aptos"/>
              </a:rPr>
              <a:t>数据采集：requests、pandas、固定周期</a:t>
            </a:r>
          </a:p>
        </p:txBody>
      </p:sp>
      <p:sp>
        <p:nvSpPr>
          <p:cNvPr id="25" name="">
            <a:extLst xmlns:a="http://schemas.openxmlformats.org/drawingml/2006/main">
              <a:ext uri="{FF2B5EF4-FFF2-40B4-BE49-F238E27FC236}">
                <a16:creationId xmlns:a16="http://schemas.microsoft.com/office/drawing/2014/main" id="{5E8B7DF7-3E98-4BFE-AA76-919A9B674730}"/>
              </a:ext>
            </a:extLst>
          </p:cNvPr>
          <p:cNvSpPr>
            <a:spLocks xmlns:a="http://schemas.openxmlformats.org/drawingml/2006/main" noGrp="1"/>
          </p:cNvSpPr>
          <p:nvPr/>
        </p:nvSpPr>
        <p:spPr>
          <a:xfrm xmlns:a="http://schemas.openxmlformats.org/drawingml/2006/main">
            <a:off x="6762750" y="3886200"/>
            <a:ext cx="95250" cy="95250"/>
          </a:xfrm>
          <a:prstGeom xmlns:a="http://schemas.openxmlformats.org/drawingml/2006/main" prst="ellipse">
            <a:avLst/>
          </a:prstGeom>
          <a:solidFill xmlns:a="http://schemas.openxmlformats.org/drawingml/2006/main">
            <a:srgbClr val="0F8F68"/>
          </a:solidFill>
          <a:ln xmlns:a="http://schemas.openxmlformats.org/drawingml/2006/main" w="0">
            <a:solidFill>
              <a:srgbClr val="0F8F68"/>
            </a:solidFill>
            <a:prstDash val="solid"/>
          </a:ln>
        </p:spPr>
      </p:sp>
      <p:sp>
        <p:nvSpPr>
          <p:cNvPr id="26" name="">
            <a:extLst xmlns:a="http://schemas.openxmlformats.org/drawingml/2006/main">
              <a:ext uri="{FF2B5EF4-FFF2-40B4-BE49-F238E27FC236}">
                <a16:creationId xmlns:a16="http://schemas.microsoft.com/office/drawing/2014/main" id="{87E1F6B2-9709-4C6C-9299-8C5EC1C752B0}"/>
              </a:ext>
            </a:extLst>
          </p:cNvPr>
          <p:cNvSpPr>
            <a:spLocks xmlns:a="http://schemas.openxmlformats.org/drawingml/2006/main" noGrp="1"/>
          </p:cNvSpPr>
          <p:nvPr/>
        </p:nvSpPr>
        <p:spPr>
          <a:xfrm xmlns:a="http://schemas.openxmlformats.org/drawingml/2006/main">
            <a:off x="6991350" y="3810000"/>
            <a:ext cx="3543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8352D"/>
                </a:solidFill>
                <a:latin typeface="Aptos"/>
                <a:ea typeface="Aptos"/>
                <a:cs typeface="Aptos"/>
              </a:defRPr>
            </a:pPr>
            <a:r>
              <a:rPr sz="1500" b="0">
                <a:solidFill>
                  <a:srgbClr val="18352D"/>
                </a:solidFill>
                <a:latin typeface="Aptos"/>
                <a:ea typeface="Aptos"/>
                <a:cs typeface="Aptos"/>
              </a:rPr>
              <a:t>开发流程：Flask API、React/ECharts 大屏</a:t>
            </a:r>
          </a:p>
        </p:txBody>
      </p:sp>
      <p:sp>
        <p:nvSpPr>
          <p:cNvPr id="27" name="">
            <a:extLst xmlns:a="http://schemas.openxmlformats.org/drawingml/2006/main">
              <a:ext uri="{FF2B5EF4-FFF2-40B4-BE49-F238E27FC236}">
                <a16:creationId xmlns:a16="http://schemas.microsoft.com/office/drawing/2014/main" id="{3A8BFD4C-601D-46D2-83D0-0141EEE66C73}"/>
              </a:ext>
            </a:extLst>
          </p:cNvPr>
          <p:cNvSpPr>
            <a:spLocks xmlns:a="http://schemas.openxmlformats.org/drawingml/2006/main" noGrp="1"/>
          </p:cNvSpPr>
          <p:nvPr/>
        </p:nvSpPr>
        <p:spPr>
          <a:xfrm xmlns:a="http://schemas.openxmlformats.org/drawingml/2006/main">
            <a:off x="6762750" y="4438650"/>
            <a:ext cx="95250" cy="95250"/>
          </a:xfrm>
          <a:prstGeom xmlns:a="http://schemas.openxmlformats.org/drawingml/2006/main" prst="ellipse">
            <a:avLst/>
          </a:prstGeom>
          <a:solidFill xmlns:a="http://schemas.openxmlformats.org/drawingml/2006/main">
            <a:srgbClr val="E39B31"/>
          </a:solidFill>
          <a:ln xmlns:a="http://schemas.openxmlformats.org/drawingml/2006/main" w="0">
            <a:solidFill>
              <a:srgbClr val="E39B31"/>
            </a:solidFill>
            <a:prstDash val="solid"/>
          </a:ln>
        </p:spPr>
      </p:sp>
      <p:sp>
        <p:nvSpPr>
          <p:cNvPr id="28" name="">
            <a:extLst xmlns:a="http://schemas.openxmlformats.org/drawingml/2006/main">
              <a:ext uri="{FF2B5EF4-FFF2-40B4-BE49-F238E27FC236}">
                <a16:creationId xmlns:a16="http://schemas.microsoft.com/office/drawing/2014/main" id="{AF981F32-E856-4372-9C4C-F2A52A11580D}"/>
              </a:ext>
            </a:extLst>
          </p:cNvPr>
          <p:cNvSpPr>
            <a:spLocks xmlns:a="http://schemas.openxmlformats.org/drawingml/2006/main" noGrp="1"/>
          </p:cNvSpPr>
          <p:nvPr/>
        </p:nvSpPr>
        <p:spPr>
          <a:xfrm xmlns:a="http://schemas.openxmlformats.org/drawingml/2006/main">
            <a:off x="6991350" y="4362450"/>
            <a:ext cx="3543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18352D"/>
                </a:solidFill>
                <a:latin typeface="Aptos"/>
                <a:ea typeface="Aptos"/>
                <a:cs typeface="Aptos"/>
              </a:defRPr>
            </a:pPr>
            <a:r>
              <a:rPr sz="1500" b="0">
                <a:solidFill>
                  <a:srgbClr val="18352D"/>
                </a:solidFill>
                <a:latin typeface="Aptos"/>
                <a:ea typeface="Aptos"/>
                <a:cs typeface="Aptos"/>
              </a:rPr>
              <a:t>质量验证：单元测试、构建、lint、浏览器截图</a:t>
            </a:r>
          </a:p>
        </p:txBody>
      </p:sp>
      <p:sp>
        <p:nvSpPr>
          <p:cNvPr id="29" name="">
            <a:extLst xmlns:a="http://schemas.openxmlformats.org/drawingml/2006/main">
              <a:ext uri="{FF2B5EF4-FFF2-40B4-BE49-F238E27FC236}">
                <a16:creationId xmlns:a16="http://schemas.microsoft.com/office/drawing/2014/main" id="{C368983E-AA20-4233-B7EC-9DE605E3464B}"/>
              </a:ext>
            </a:extLst>
          </p:cNvPr>
          <p:cNvSpPr>
            <a:spLocks xmlns:a="http://schemas.openxmlformats.org/drawingml/2006/main" noGrp="1"/>
          </p:cNvSpPr>
          <p:nvPr/>
        </p:nvSpPr>
        <p:spPr>
          <a:xfrm xmlns:a="http://schemas.openxmlformats.org/drawingml/2006/main">
            <a:off x="609600" y="6496050"/>
            <a:ext cx="876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0">
                <a:solidFill>
                  <a:srgbClr val="5C756C"/>
                </a:solidFill>
                <a:latin typeface="Aptos"/>
                <a:ea typeface="Aptos"/>
                <a:cs typeface="Aptos"/>
              </a:defRPr>
            </a:pPr>
            <a:r>
              <a:rPr sz="825" b="0">
                <a:solidFill>
                  <a:srgbClr val="5C756C"/>
                </a:solidFill>
                <a:latin typeface="Aptos"/>
                <a:ea typeface="Aptos"/>
                <a:cs typeface="Aptos"/>
              </a:rPr>
              <a:t>AI交互内容来自本次项目沟通过程，页面以可编辑形状复刻截图式记录。</a:t>
            </a:r>
          </a:p>
        </p:txBody>
      </p:sp>
      <p:sp>
        <p:nvSpPr>
          <p:cNvPr id="30" name="">
            <a:extLst xmlns:a="http://schemas.openxmlformats.org/drawingml/2006/main">
              <a:ext uri="{FF2B5EF4-FFF2-40B4-BE49-F238E27FC236}">
                <a16:creationId xmlns:a16="http://schemas.microsoft.com/office/drawing/2014/main" id="{3210134C-284E-42F8-9800-92075D3D7BD7}"/>
              </a:ext>
            </a:extLst>
          </p:cNvPr>
          <p:cNvSpPr>
            <a:spLocks xmlns:a="http://schemas.openxmlformats.org/drawingml/2006/main" noGrp="1"/>
          </p:cNvSpPr>
          <p:nvPr/>
        </p:nvSpPr>
        <p:spPr>
          <a:xfrm xmlns:a="http://schemas.openxmlformats.org/drawingml/2006/main">
            <a:off x="11125200" y="6419850"/>
            <a:ext cx="514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0F8F68"/>
                </a:solidFill>
                <a:latin typeface="Aptos Display"/>
                <a:ea typeface="Aptos Display"/>
                <a:cs typeface="Aptos Display"/>
              </a:defRPr>
            </a:pPr>
            <a:r>
              <a:rPr sz="1350" b="1">
                <a:solidFill>
                  <a:srgbClr val="0F8F68"/>
                </a:solidFill>
                <a:latin typeface="Aptos Display"/>
                <a:ea typeface="Aptos Display"/>
                <a:cs typeface="Aptos Display"/>
              </a:rPr>
              <a:t>05</a:t>
            </a:r>
          </a:p>
        </p:txBody>
      </p:sp>
    </p:spTree>
    <p:extLst>
      <p:ext uri="{BB962C8B-B14F-4D97-AF65-F5344CB8AC3E}">
        <p14:creationId xmlns:p14="http://schemas.microsoft.com/office/powerpoint/2010/main" val="19374650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2026-06-16T03:42:03.6750000Z</dcterms:created>
  <dcterms:modified xsi:type="dcterms:W3CDTF">2026-06-16T03:42:03.6750000Z</dcterms:modified>
</coreProperties>
</file>